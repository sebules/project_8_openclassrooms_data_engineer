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 clé : le projet transforme des sources météo disparates en données fiables pour les modèles de prévision. Insister sur la chaîne complète, de la collecte à la restitution.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lien avec l’équipe Forecast 2.0 : la donnée météo est un intrant direct des modèles et de la planification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Clarifier que le notebook documente RDS PostgreSQL comme destination Airbyte et base d’exécution DBT. S3 apparaît dans les politiques IAM Airbyte, mais le stockage analytique retenu est 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configuration Airbyte et rappeler que le choix full refresh/overwrite est explicitement documenté pour conserver les données 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notebook rapporte une difficulté persistante Airbyte après connexion EC2. Présenter cela comme un point de robustesse à traiter, pas comme un flux parfaitement stabilisé.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temps sont ceux visibles dans les logs du notebook. Ils mesurent l’exécution locale/de développement et servent de repère, pas de SLA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Différencier tests génériques déclaratifs (schema.yml) et singular tests SQL dans tests/. Le notebook montre 9 tests génériques tous passés.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le lineage pour répondre à “d’où vient cet indicateur ?”. Les artefacts DBT permettent aussi une future intégration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: commencer par le problème métier, puis montrer l’interface Airbyte, dbt run/test, le lineage et enfin une requête simple sur fact_weather_observations.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sur-vendre le niveau de production. Le notebook mentionne un bug Airbyte et une erreur de contrainte déjà existante ; proposer explicitement les remédiations.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sur la valeur : les Data Scientists obtiennent une base structurée, contrôlée et documentée. La prochaine étape est l’observabilité opérationnelle et la fiabilisation du déploiement Airbyte.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PROJET 08 · FORECAST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Construire une infrastructure de données météo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D9F0F0"/>
                </a:solidFill>
                <a:latin typeface="Aptos"/>
              </a:defRPr>
            </a:pPr>
            <a:r>
              <a:t>Une plateforme ELT fiable, documentée et exploitable par la Data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6583680" cy="1371600"/>
          </a:xfrm>
          <a:prstGeom prst="roundRect">
            <a:avLst/>
          </a:prstGeom>
          <a:solidFill>
            <a:srgbClr val="23395B"/>
          </a:solidFill>
          <a:ln w="10160">
            <a:solidFill>
              <a:srgbClr val="23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60350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Des données hétérogènes →</a:t>
            </a:r>
            <a:br/>
            <a:r>
              <a:t>un socle analytique robuste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D9F0F0"/>
                </a:solidFill>
                <a:latin typeface="Aptos"/>
              </a:defRPr>
            </a:pPr>
            <a:r>
              <a:t>Client : Ouly  |  Périmètre : ingestion, transformation, qualité, déploiement 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D9F0F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D9F0F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01 · LECTURE DE LA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Un parcours en 5 actes, de l’enjeu métier à la mise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73152" cy="114300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29260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41448"/>
            <a:ext cx="2926079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Enjeu &amp; périmètre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59" y="2039112"/>
            <a:ext cx="228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17BEB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73152" cy="114300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057400"/>
            <a:ext cx="29260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41448"/>
            <a:ext cx="2926079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Architecture &amp; choix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039112"/>
            <a:ext cx="228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F2C14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73152" cy="1143000"/>
          </a:xfrm>
          <a:prstGeom prst="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2057400"/>
            <a:ext cx="29260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41448"/>
            <a:ext cx="2926079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Modèle &amp; transformations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2039112"/>
            <a:ext cx="228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D9F0F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29000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73152" cy="1143000"/>
          </a:xfrm>
          <a:prstGeom prst="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611880"/>
            <a:ext cx="29260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995928"/>
            <a:ext cx="2926079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Qualité &amp;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59" y="3593592"/>
            <a:ext cx="228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3AA76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429000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429000"/>
            <a:ext cx="73152" cy="1143000"/>
          </a:xfrm>
          <a:prstGeom prst="rect">
            <a:avLst/>
          </a:prstGeom>
          <a:solidFill>
            <a:srgbClr val="D95D5D"/>
          </a:solidFill>
          <a:ln w="10160"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7" y="3611880"/>
            <a:ext cx="29260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7" y="3995928"/>
            <a:ext cx="2926079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Déploiement &amp;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3593592"/>
            <a:ext cx="228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600" b="1">
                <a:solidFill>
                  <a:srgbClr val="D95D5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02 · POURQUOI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Contexte &amp; enjeux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Forecast 2.0 doit élargir son socle météo, sans perdre la confiance dans la donnée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1208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3152" cy="338328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4892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Le besoin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41448"/>
            <a:ext cx="4892040" cy="2670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Les Data Scientists veulent enrichir les prévisions météo avec des stations officielles et semi-professionnelles.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521208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73152" cy="338328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057400"/>
            <a:ext cx="4892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Les tensions à résoudre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41448"/>
            <a:ext cx="4892040" cy="2670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Formats hétérogènes</a:t>
            </a:r>
            <a:br/>
            <a:r>
              <a:t>Sources multiples</a:t>
            </a:r>
            <a:br/>
            <a:r>
              <a:t>Synchronisation quotidienne</a:t>
            </a:r>
            <a:br/>
            <a:r>
              <a:t>Données conservées en totalité</a:t>
            </a:r>
            <a:br/>
            <a:r>
              <a:t>Accès rapide pour les modèles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03 · CADRAGE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Objectifs &amp; périmètre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Industrialiser un pipeline ELT traçable, testable et compatible 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983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141732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Collecter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66344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InfoClimat, Weather Underground et métadonnées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4983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73152" cy="1417320"/>
          </a:xfrm>
          <a:prstGeom prst="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01168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95728"/>
            <a:ext cx="466344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Normaliser unités, structures JSON et schéma commun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4983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73152" cy="141732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84048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Fiabiliser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66344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Tests génériques + contrôles métier 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4983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73152" cy="1417320"/>
          </a:xfrm>
          <a:prstGeom prst="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84048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Servir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24528"/>
            <a:ext cx="4663440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PostgreSQL RDS, tables marts et BI / Data Science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04 · 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Du flux brut à la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Le pipeline est conçu comme une boucle de confiance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645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3347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7BEB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Collecte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B6770"/>
                </a:solidFill>
                <a:latin typeface="Aptos"/>
              </a:defRPr>
            </a:pPr>
            <a:r>
              <a:t>Airbyte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04288" y="3182112"/>
            <a:ext cx="512064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468880"/>
            <a:ext cx="1645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63347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7BEB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063240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Stockage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015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B6770"/>
                </a:solidFill>
                <a:latin typeface="Aptos"/>
              </a:defRPr>
            </a:pPr>
            <a:r>
              <a:t>PostgreSQL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90288" y="3182112"/>
            <a:ext cx="512064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2468880"/>
            <a:ext cx="1645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63347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7BEB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063240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4015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B6770"/>
                </a:solidFill>
                <a:latin typeface="Aptos"/>
              </a:defRPr>
            </a:pPr>
            <a:r>
              <a:t>DBT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76288" y="3182112"/>
            <a:ext cx="512064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2468880"/>
            <a:ext cx="1645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63347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7BEB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063240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Contrôles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4015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B6770"/>
                </a:solidFill>
                <a:latin typeface="Aptos"/>
              </a:defRPr>
            </a:pPr>
            <a:r>
              <a:t>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62288" y="3182112"/>
            <a:ext cx="512063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84080" y="2468880"/>
            <a:ext cx="1645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63347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7BEB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063240"/>
            <a:ext cx="1325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Restitution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4015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B6770"/>
                </a:solidFill>
                <a:latin typeface="Aptos"/>
              </a:defRPr>
            </a:pPr>
            <a:r>
              <a:t>BI / 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14213D"/>
                </a:solidFill>
                <a:latin typeface="Aptos"/>
              </a:defRPr>
            </a:pPr>
            <a:r>
              <a:t>ELT : conserver le brut, déplacer la logique de transformation dans la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05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Architecture technique 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Une séparation claire entre ingestion, stockage, transformation et consommation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874519" cy="2057400"/>
          </a:xfrm>
          <a:prstGeom prst="round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15087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InfoClimat</a:t>
            </a:r>
            <a:br/>
            <a:r>
              <a:t>Weather Underground</a:t>
            </a:r>
            <a:br/>
            <a:r>
              <a:t>CSV stations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4872" y="3154680"/>
            <a:ext cx="384048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2148840"/>
            <a:ext cx="1874519" cy="2057400"/>
          </a:xfrm>
          <a:prstGeom prst="round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423160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926080"/>
            <a:ext cx="15087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Airbyte</a:t>
            </a:r>
            <a:br/>
            <a:r>
              <a:t>connecteurs</a:t>
            </a:r>
            <a:br/>
            <a:r>
              <a:t>full refresh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64024" y="3154680"/>
            <a:ext cx="384048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21224" y="2148840"/>
            <a:ext cx="1874519" cy="2057400"/>
          </a:xfrm>
          <a:prstGeom prst="round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2423160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2926080"/>
            <a:ext cx="15087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EC2 / Airbyte</a:t>
            </a:r>
            <a:br/>
            <a:r>
              <a:t>RDS PostgreSQL</a:t>
            </a:r>
            <a:br/>
            <a:r>
              <a:t>ECR · ECS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23176" y="3154680"/>
            <a:ext cx="384048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0376" y="2148840"/>
            <a:ext cx="1874519" cy="2057400"/>
          </a:xfrm>
          <a:prstGeom prst="round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7536" y="2423160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2926080"/>
            <a:ext cx="15087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DBT Core</a:t>
            </a:r>
            <a:br/>
            <a:r>
              <a:t>staging → marts</a:t>
            </a:r>
            <a:br/>
            <a:r>
              <a:t>tests · docs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82328" y="3154680"/>
            <a:ext cx="384048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39528" y="2148840"/>
            <a:ext cx="1874519" cy="2057400"/>
          </a:xfrm>
          <a:prstGeom prst="roundRect">
            <a:avLst/>
          </a:prstGeom>
          <a:solidFill>
            <a:srgbClr val="14213D"/>
          </a:solidFill>
          <a:ln w="1016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76688" y="2423160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BI / 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22408" y="2926080"/>
            <a:ext cx="15087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Aptos"/>
              </a:defRPr>
            </a:pPr>
            <a:r>
              <a:t>Requêtes</a:t>
            </a:r>
            <a:br/>
            <a:r>
              <a:t>indicateurs</a:t>
            </a:r>
            <a:br/>
            <a:r>
              <a:t>prévisions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0">
                <a:solidFill>
                  <a:srgbClr val="5B6770"/>
                </a:solidFill>
                <a:latin typeface="Aptos"/>
              </a:defRPr>
            </a:pPr>
            <a:r>
              <a:t>RDS PostgreSQL = destination raw + schémas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06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Pourquoi ces choix techniques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Des briques pragmatiques, versionnables et adaptées à un socle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73736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554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Choix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874519"/>
            <a:ext cx="3749039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993392"/>
            <a:ext cx="3474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874519"/>
            <a:ext cx="5394960" cy="502920"/>
          </a:xfrm>
          <a:prstGeom prst="rect">
            <a:avLst/>
          </a:prstGeom>
          <a:solidFill>
            <a:srgbClr val="14213D"/>
          </a:solidFill>
          <a:ln w="1016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93392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Alternative écartée / arbitrage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17373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32888"/>
            <a:ext cx="1508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7202A"/>
                </a:solidFill>
                <a:latin typeface="Aptos"/>
              </a:defRPr>
            </a:pPr>
            <a:r>
              <a:t>Airbyte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423160"/>
            <a:ext cx="3749039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2532888"/>
            <a:ext cx="3429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7202A"/>
                </a:solidFill>
                <a:latin typeface="Aptos"/>
              </a:defRPr>
            </a:pPr>
            <a:r>
              <a:t>Connecteurs, synchronisation, conservation raw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423160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532888"/>
            <a:ext cx="5074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7202A"/>
                </a:solidFill>
                <a:latin typeface="Aptos"/>
              </a:defRPr>
            </a:pPr>
            <a:r>
              <a:t>Scripts maison : maintenance et reprise plus coûteuses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54680"/>
            <a:ext cx="17373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264408"/>
            <a:ext cx="1508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7202A"/>
                </a:solidFill>
                <a:latin typeface="Aptos"/>
              </a:defRPr>
            </a:pPr>
            <a:r>
              <a:t>DBT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3154680"/>
            <a:ext cx="3749039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048" y="3264408"/>
            <a:ext cx="3429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7202A"/>
                </a:solidFill>
                <a:latin typeface="Aptos"/>
              </a:defRPr>
            </a:pPr>
            <a:r>
              <a:t>SQL versionné, dépendances, tests, 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154680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264408"/>
            <a:ext cx="5074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7202A"/>
                </a:solidFill>
                <a:latin typeface="Aptos"/>
              </a:defRPr>
            </a:pPr>
            <a:r>
              <a:t>ETL applicatif : logique dispersée hors 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86200"/>
            <a:ext cx="17373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995928"/>
            <a:ext cx="1508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7202A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886200"/>
            <a:ext cx="3749039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995928"/>
            <a:ext cx="3429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7202A"/>
                </a:solidFill>
                <a:latin typeface="Aptos"/>
              </a:defRPr>
            </a:pPr>
            <a:r>
              <a:t>Contrainte DSI + services managés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886200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995928"/>
            <a:ext cx="5074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7202A"/>
                </a:solidFill>
                <a:latin typeface="Aptos"/>
              </a:defRPr>
            </a:pPr>
            <a:r>
              <a:t>Cloud agnostique : non aligné au contexte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617720"/>
            <a:ext cx="17373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727448"/>
            <a:ext cx="150876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7202A"/>
                </a:solidFill>
                <a:latin typeface="Aptos"/>
              </a:defRPr>
            </a:pPr>
            <a:r>
              <a:t>ELT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4617720"/>
            <a:ext cx="3749039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4727448"/>
            <a:ext cx="3429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7202A"/>
                </a:solidFill>
                <a:latin typeface="Aptos"/>
              </a:defRPr>
            </a:pPr>
            <a:r>
              <a:t>Brut conservé, transformations rejouables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617720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4727448"/>
            <a:ext cx="507492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17202A"/>
                </a:solidFill>
                <a:latin typeface="Aptos"/>
              </a:defRPr>
            </a:pPr>
            <a:r>
              <a:t>ETL : plus de couplage avant stockage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07 ·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Airbyte : centraliser les flux météo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Les sources hétérogènes arrivent dans PostgreSQL, schéma raw</a:t>
            </a:r>
          </a:p>
        </p:txBody>
      </p:sp>
      <p:pic>
        <p:nvPicPr>
          <p:cNvPr id="5" name="Picture 4" descr="pag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91640"/>
            <a:ext cx="4892040" cy="4069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828800"/>
            <a:ext cx="53949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123444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5074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507492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Destination PostgreSQL · schéma raw · connexion SSL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37560"/>
            <a:ext cx="53949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337560"/>
            <a:ext cx="73152" cy="123444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520440"/>
            <a:ext cx="5074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Mode de synchronisation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04487"/>
            <a:ext cx="507492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Full refresh / overwrite pour conserver le brut à chaque passage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5852160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5B6770"/>
                </a:solidFill>
                <a:latin typeface="Aptos"/>
              </a:defRPr>
            </a:pPr>
            <a:r>
              <a:t>Capture issue du notebook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08 ·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AWS : une base managée et un runtime conteneurisé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RDS porte PostgreSQL ; EC2 héberge Airbyte ; ECR/ECS industrialisent DBT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9377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132588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4617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RDS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461772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Base weather_data, schéma raw, accès TLS 1.3 observé dans le notebook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29000"/>
            <a:ext cx="49377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3429000"/>
            <a:ext cx="73152" cy="132588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611880"/>
            <a:ext cx="4617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EC2 + Airbyte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95928"/>
            <a:ext cx="4617720" cy="6126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Installation Docker / abctl ; connexion à RDS via règles de sécurité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28800"/>
            <a:ext cx="5257800" cy="2926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828800"/>
            <a:ext cx="73152" cy="2926080"/>
          </a:xfrm>
          <a:prstGeom prst="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4937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Déploiement DBT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2395728"/>
            <a:ext cx="4937760" cy="2212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Image Docker Python 3.12 + dbt-postgres</a:t>
            </a:r>
            <a:br/>
            <a:r>
              <a:t>→ ECR privé</a:t>
            </a:r>
            <a:br/>
            <a:r>
              <a:t>→ service ECS</a:t>
            </a:r>
            <a:br/>
            <a:r>
              <a:t>→ secrets via Secrets Manager</a:t>
            </a:r>
            <a:br/>
            <a:r>
              <a:t>→ logs / planification via CloudWatch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09 · MODÉLISATION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Un schéma en étoile pour servir les usages météo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Une table de faits, une dimension station, et une clé métier explicite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2286000"/>
            <a:ext cx="2560320" cy="1508760"/>
          </a:xfrm>
          <a:prstGeom prst="roundRect">
            <a:avLst/>
          </a:prstGeom>
          <a:solidFill>
            <a:srgbClr val="14213D"/>
          </a:solidFill>
          <a:ln w="1016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80" y="2578608"/>
            <a:ext cx="2194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FACT</a:t>
            </a:r>
            <a:br/>
            <a:r>
              <a:t>weather_observations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82112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0">
                <a:solidFill>
                  <a:srgbClr val="D9F0F0"/>
                </a:solidFill>
                <a:latin typeface="Aptos"/>
              </a:defRPr>
            </a:pPr>
            <a:r>
              <a:t>station_id · observation_time</a:t>
            </a:r>
            <a:br/>
            <a:r>
              <a:t>température · humidité · vent · pluie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7432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7BEBB"/>
                </a:solidFill>
                <a:latin typeface="Aptos"/>
              </a:defRPr>
            </a:pPr>
            <a:r>
              <a:t>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weather_stations</a:t>
            </a:r>
            <a:br/>
            <a:r>
              <a:t>station_id · ville · type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2395728"/>
            <a:ext cx="1051560" cy="347472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03320" y="3337560"/>
            <a:ext cx="1051560" cy="118872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06640" y="2395728"/>
            <a:ext cx="960120" cy="347472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" y="3337560"/>
            <a:ext cx="960120" cy="118872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69080"/>
            <a:ext cx="27432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3367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7BEBB"/>
                </a:solidFill>
                <a:latin typeface="Aptos"/>
              </a:defRPr>
            </a:pPr>
            <a:r>
              <a:t>DIM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0799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date / calendrier</a:t>
            </a:r>
            <a:br/>
            <a:r>
              <a:t>(évolution possible)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03320" y="2395728"/>
            <a:ext cx="1051560" cy="347472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03320" y="3337560"/>
            <a:ext cx="1051560" cy="118872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406640" y="2395728"/>
            <a:ext cx="960120" cy="347472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06640" y="3337560"/>
            <a:ext cx="960120" cy="118872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920240"/>
            <a:ext cx="27432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08483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7BEBB"/>
                </a:solidFill>
                <a:latin typeface="Aptos"/>
              </a:defRPr>
            </a:pPr>
            <a:r>
              <a:t>DIM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35915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source météo</a:t>
            </a:r>
            <a:br/>
            <a:r>
              <a:t>(évolution possible)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03320" y="2395728"/>
            <a:ext cx="1051560" cy="347472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703320" y="3337560"/>
            <a:ext cx="1051560" cy="118872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406640" y="2395728"/>
            <a:ext cx="960120" cy="347472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06640" y="3337560"/>
            <a:ext cx="960120" cy="118872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4069080"/>
            <a:ext cx="27432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4233672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7BEBB"/>
                </a:solidFill>
                <a:latin typeface="Aptos"/>
              </a:defRPr>
            </a:pPr>
            <a:r>
              <a:t>DIM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450799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14213D"/>
                </a:solidFill>
                <a:latin typeface="Aptos"/>
              </a:defRPr>
            </a:pPr>
            <a:r>
              <a:t>géographie</a:t>
            </a:r>
            <a:br/>
            <a:r>
              <a:t>(évolution possible)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03320" y="2395728"/>
            <a:ext cx="1051560" cy="347472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703320" y="3337560"/>
            <a:ext cx="1051560" cy="118872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406640" y="2395728"/>
            <a:ext cx="960120" cy="347472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06640" y="3337560"/>
            <a:ext cx="960120" cy="118872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10 · MODÉLISATION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Les couches DBT : du brut à l’analytique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Chaque couche a une responsabilité et un niveau de stabilité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240280" cy="2286000"/>
          </a:xfrm>
          <a:prstGeom prst="round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raw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Données Airbyte</a:t>
            </a:r>
            <a:br/>
            <a:r>
              <a:t>structure source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07791" y="32004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93008" y="2057400"/>
            <a:ext cx="2240280" cy="2286000"/>
          </a:xfrm>
          <a:prstGeom prst="round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4231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30632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Vues nettoyées</a:t>
            </a:r>
            <a:br/>
            <a:r>
              <a:t>unités harmonisées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32004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45936" y="2057400"/>
            <a:ext cx="2240280" cy="2286000"/>
          </a:xfrm>
          <a:prstGeom prst="round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4231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intermediate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30632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Union des sources</a:t>
            </a:r>
            <a:br/>
            <a:r>
              <a:t>modèle unifié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13648" y="3200400"/>
            <a:ext cx="50292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98863" y="2057400"/>
            <a:ext cx="2240280" cy="2286000"/>
          </a:xfrm>
          <a:prstGeom prst="round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2423160"/>
            <a:ext cx="1965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3" y="3063240"/>
            <a:ext cx="17830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Tables métier</a:t>
            </a:r>
            <a:br/>
            <a:r>
              <a:t>fact + dim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0">
                <a:solidFill>
                  <a:srgbClr val="5B6770"/>
                </a:solidFill>
                <a:latin typeface="Aptos"/>
              </a:defRPr>
            </a:pPr>
            <a:r>
              <a:t>dbt seed : métadonnées des stations amateurs, chargées comme référence statique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11 ·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DBT : exécuter, rejouer, expliquer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Les modèles SQL deviennent des vues ou tables matérialisées dans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8463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526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Séquence observée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52628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dbt seed  →  staging  →  intermediate  →  marts</a:t>
            </a:r>
            <a:br/>
            <a:br/>
            <a:r>
              <a:t>Normalisation : °F → °C · inch →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28800"/>
            <a:ext cx="53492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828800"/>
            <a:ext cx="73152" cy="182880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201168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Résultats du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395728"/>
            <a:ext cx="502920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Staging : 1,05 s</a:t>
            </a:r>
            <a:br/>
            <a:r>
              <a:t>Intermediate : 0,73 s</a:t>
            </a:r>
            <a:br/>
            <a:r>
              <a:t>Marts (2 modèles) : 3,92 s</a:t>
            </a:r>
            <a:br/>
            <a:r>
              <a:t>Threads : 4 · adapter postgres 1.10.2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51960"/>
            <a:ext cx="10424160" cy="914400"/>
          </a:xfrm>
          <a:prstGeom prst="roundRect">
            <a:avLst/>
          </a:prstGeom>
          <a:solidFill>
            <a:srgbClr val="14213D"/>
          </a:solidFill>
          <a:ln w="1016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53712"/>
            <a:ext cx="9966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dbt run --select dim_weather_stations fact_weather_observations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12 ·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Tests DBT : bloquer les anomalies avant consommation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9 tests génériques PASS en 0,97 s + 5 tests métier SQL documentés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109728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Not null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466344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station_id, coordonnées, observation_time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73152" cy="109728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01168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395728"/>
            <a:ext cx="466344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station_id de la dimension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73152" cy="1097280"/>
          </a:xfrm>
          <a:prstGeom prst="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42900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813048"/>
            <a:ext cx="466344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fact.station_id → dim.station_id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46120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246120"/>
            <a:ext cx="73152" cy="1097280"/>
          </a:xfrm>
          <a:prstGeom prst="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42900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Accepted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813048"/>
            <a:ext cx="466344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station_type : amateur / officielle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892040"/>
            <a:ext cx="9418320" cy="640080"/>
          </a:xfrm>
          <a:prstGeom prst="round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084064"/>
            <a:ext cx="9052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9 / 9 tests génériques PASS  ·  0,97 s  ·  contrôles métier : température, humidité, vent, précipitations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13 · OBSERVABILITÉ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Documentation &amp; lineage : rendre le pipeline lisible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DBT transforme les dépendances SQL en graphe exploitable par toute l’équipe</a:t>
            </a:r>
          </a:p>
        </p:txBody>
      </p:sp>
      <p:pic>
        <p:nvPicPr>
          <p:cNvPr id="5" name="Picture 4" descr="page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91640"/>
            <a:ext cx="507492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828800"/>
            <a:ext cx="53492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128016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Artefacts générés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5029200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catalog.json · manifest.json · run_results.json · graph_summary.json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80"/>
            <a:ext cx="53492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73152" cy="128016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56616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Commande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50208"/>
            <a:ext cx="5029200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dbt docs generate</a:t>
            </a:r>
            <a:br/>
            <a:r>
              <a:t>dbt docs serve --port 8081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897880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5B6770"/>
                </a:solidFill>
                <a:latin typeface="Aptos"/>
              </a:defRPr>
            </a:pPr>
            <a:r>
              <a:t>Capture / diagramme issu du notebook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14 · PILOTAGE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Qualité des données : tableau de bord de 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Les taux ci-dessous sont des indicateurs de pilotage ; seuls les tests DBT sont mesurés dans le notebook</a:t>
            </a:r>
          </a:p>
        </p:txBody>
      </p:sp>
      <p:pic>
        <p:nvPicPr>
          <p:cNvPr id="5" name="Picture 4" descr="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49224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874519"/>
            <a:ext cx="3840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874519"/>
            <a:ext cx="73152" cy="1097280"/>
          </a:xfrm>
          <a:prstGeom prst="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2057400"/>
            <a:ext cx="3520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Mesuré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441448"/>
            <a:ext cx="352044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9 / 9 tests DBT génériques PASS</a:t>
            </a:r>
            <a:br/>
            <a:r>
              <a:t>(100 %)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246120"/>
            <a:ext cx="3840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3246120"/>
            <a:ext cx="73152" cy="109728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3429000"/>
            <a:ext cx="3520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À instrumenter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813048"/>
            <a:ext cx="352044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Complétude, unicité et fraîcheur</a:t>
            </a:r>
            <a:br/>
            <a:r>
              <a:t>par source /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892040"/>
            <a:ext cx="374903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5B6770"/>
                </a:solidFill>
                <a:latin typeface="Aptos"/>
              </a:defRPr>
            </a:pPr>
            <a:r>
              <a:t>Valeurs 98 / 100 / 96 : illustratives, à remplacer par un job de profiling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15 ·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Temps d’accessibilité aux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Le chemin DBT est court sur les volumes du projet ; la latence d’ingestion reste à instrumenter</a:t>
            </a:r>
          </a:p>
        </p:txBody>
      </p:sp>
      <p:pic>
        <p:nvPicPr>
          <p:cNvPr id="5" name="Picture 4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49224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874519"/>
            <a:ext cx="3840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874519"/>
            <a:ext cx="73152" cy="109728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2057400"/>
            <a:ext cx="3520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Repères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441448"/>
            <a:ext cx="352044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dbt marts : 3,92 s</a:t>
            </a:r>
            <a:br/>
            <a:r>
              <a:t>dbt tests : 0,97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246120"/>
            <a:ext cx="3840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3246120"/>
            <a:ext cx="73152" cy="109728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3429000"/>
            <a:ext cx="3520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À compléter en prod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813048"/>
            <a:ext cx="3520440" cy="3840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Latence Airbyte, volume, p95 requêtes BI</a:t>
            </a:r>
            <a:br/>
            <a:r>
              <a:t>+ fraîcheur par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892040"/>
            <a:ext cx="374903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5B6770"/>
                </a:solidFill>
                <a:latin typeface="Aptos"/>
              </a:defRPr>
            </a:pPr>
            <a:r>
              <a:t>Airbyte : valeur 120 s illustrative (aucun temps de sync chiffré dans le notebook)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16 ·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Scénario de démonstration —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Raconter la valeur en direct, sans parcourir tout le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1828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200" b="1">
                <a:solidFill>
                  <a:srgbClr val="17BEBB"/>
                </a:solidFill>
                <a:latin typeface="Aptos"/>
              </a:defRPr>
            </a:pPr>
            <a: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14213D"/>
                </a:solidFill>
                <a:latin typeface="Aptos"/>
              </a:defRPr>
            </a:pPr>
            <a:r>
              <a:t>Le besoin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3337560"/>
            <a:ext cx="32004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2377440"/>
            <a:ext cx="1828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651760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200" b="1">
                <a:solidFill>
                  <a:srgbClr val="17BEBB"/>
                </a:solidFill>
                <a:latin typeface="Aptos"/>
              </a:defRPr>
            </a:pPr>
            <a:r>
              <a:t>0:45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33756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14213D"/>
                </a:solidFill>
                <a:latin typeface="Aptos"/>
              </a:defRPr>
            </a:pPr>
            <a:r>
              <a:t>Airbyte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82312" y="3337560"/>
            <a:ext cx="32004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377440"/>
            <a:ext cx="1828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200" b="1">
                <a:solidFill>
                  <a:srgbClr val="17BEBB"/>
                </a:solidFill>
                <a:latin typeface="Aptos"/>
              </a:defRPr>
            </a:pPr>
            <a:r>
              <a:t>1:45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3756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14213D"/>
                </a:solidFill>
                <a:latin typeface="Aptos"/>
              </a:defRPr>
            </a:pPr>
            <a:r>
              <a:t>DBT run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22592" y="3337560"/>
            <a:ext cx="32004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2377440"/>
            <a:ext cx="1828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651760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200" b="1">
                <a:solidFill>
                  <a:srgbClr val="17BEBB"/>
                </a:solidFill>
                <a:latin typeface="Aptos"/>
              </a:defRPr>
            </a:pPr>
            <a:r>
              <a:t>3:00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33756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14213D"/>
                </a:solidFill>
                <a:latin typeface="Aptos"/>
              </a:defRPr>
            </a:pPr>
            <a:r>
              <a:t>Tests &amp; docs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62872" y="3337560"/>
            <a:ext cx="320040" cy="0"/>
          </a:xfrm>
          <a:prstGeom prst="line">
            <a:avLst/>
          </a:prstGeom>
          <a:ln w="25400">
            <a:solidFill>
              <a:srgbClr val="17B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46920" y="2377440"/>
            <a:ext cx="18288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651760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200" b="1">
                <a:solidFill>
                  <a:srgbClr val="17BEBB"/>
                </a:solidFill>
                <a:latin typeface="Aptos"/>
              </a:defRPr>
            </a:pPr>
            <a:r>
              <a:t>4:15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337560"/>
            <a:ext cx="1554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14213D"/>
                </a:solidFill>
                <a:latin typeface="Aptos"/>
              </a:defRPr>
            </a:pPr>
            <a:r>
              <a:t>Marts &amp; 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14213D"/>
                </a:solidFill>
                <a:latin typeface="Aptos"/>
              </a:defRPr>
            </a:pPr>
            <a:r>
              <a:t>Fil rouge : une observation devient une ligne de fait testée, documentée et requêtable.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17 · ANTICIPATION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FAQ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Répondre aux objections avec des faits du notebook et une trajectoire claire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49834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73152" cy="146304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Pourquoi ELT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50008"/>
            <a:ext cx="466344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Le brut est conservé ; les transformations sont rejouables et versionnées.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49834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73152" cy="146304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96596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Pourquoi PostgreSQL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350008"/>
            <a:ext cx="466344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Contrainte DSI, support Airbyte + dbt-postgres, accès SQL direct.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11880"/>
            <a:ext cx="49834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11880"/>
            <a:ext cx="73152" cy="1463040"/>
          </a:xfrm>
          <a:prstGeom prst="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79476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Comment éviter les doublons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178808"/>
            <a:ext cx="466344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Clé primaire (station_id, observation_time) + test unique sur la dimension.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11880"/>
            <a:ext cx="49834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611880"/>
            <a:ext cx="73152" cy="1463040"/>
          </a:xfrm>
          <a:prstGeom prst="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794760"/>
            <a:ext cx="4663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Et si une source change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178808"/>
            <a:ext cx="466344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Staging isolé, source déclarée dans __sources.yml, tests et lineage pour détecter l’impact.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18 · TRAJECTOIRE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14213D"/>
                </a:solidFill>
                <a:latin typeface="Aptos Display"/>
              </a:defRPr>
            </a:pPr>
            <a:r>
              <a:t>Limites &amp; améliorations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Passer d’un projet démontrable à un service opéré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246120"/>
          </a:xfrm>
          <a:prstGeom prst="rect">
            <a:avLst/>
          </a:prstGeom>
          <a:solidFill>
            <a:srgbClr val="D95D5D"/>
          </a:solidFill>
          <a:ln w="10160"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Limites actuelles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4754880" cy="2532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• Airbyte EC2 : bug persistant rapporté après connexion</a:t>
            </a:r>
            <a:br/>
            <a:r>
              <a:t>• Latence ingestion non mesurée</a:t>
            </a:r>
            <a:br/>
            <a:r>
              <a:t>• Indicateurs de complétude / fraîcheur à automatiser</a:t>
            </a:r>
            <a:br/>
            <a:r>
              <a:t>• Gestion des contraintes DBT à idempotentiser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0749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011680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Prochaines étapes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395728"/>
            <a:ext cx="4754880" cy="2532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• Orchestration ECS planifiée + CloudWatch</a:t>
            </a:r>
            <a:br/>
            <a:r>
              <a:t>• CI/CD : dbt build, tests, docs et alertes</a:t>
            </a:r>
            <a:br/>
            <a:r>
              <a:t>• Secrets sans exposition, IAM au moindre privilège</a:t>
            </a:r>
            <a:br/>
            <a:r>
              <a:t>• Partitions / incrémental si volumes croissent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5B677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5B6770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17BEBB"/>
                </a:solidFill>
                <a:latin typeface="Aptos"/>
              </a:defRPr>
            </a:pPr>
            <a:r>
              <a:t>19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Un socle météo prêt à grandir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D9F0F0"/>
                </a:solidFill>
                <a:latin typeface="Aptos"/>
              </a:defRPr>
            </a:pPr>
            <a:r>
              <a:t>Collecter. Transformer. Tester. Expliquer. Servir.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317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3152" cy="1417320"/>
          </a:xfrm>
          <a:prstGeom prst="rect">
            <a:avLst/>
          </a:prstGeom>
          <a:solidFill>
            <a:srgbClr val="17BEBB"/>
          </a:solidFill>
          <a:ln w="10160">
            <a:solidFill>
              <a:srgbClr val="17B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86000"/>
            <a:ext cx="20116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Fiable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70048"/>
            <a:ext cx="2011679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9/9 tests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103120"/>
            <a:ext cx="23317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2103120"/>
            <a:ext cx="73152" cy="1417320"/>
          </a:xfrm>
          <a:prstGeom prst="rect">
            <a:avLst/>
          </a:prstGeom>
          <a:solidFill>
            <a:srgbClr val="F2C14E"/>
          </a:solidFill>
          <a:ln w="10160"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2286000"/>
            <a:ext cx="20116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Lisible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670048"/>
            <a:ext cx="2011679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Lineage + docs DBT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103120"/>
            <a:ext cx="23317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2103120"/>
            <a:ext cx="73152" cy="1417320"/>
          </a:xfrm>
          <a:prstGeom prst="rect">
            <a:avLst/>
          </a:prstGeom>
          <a:solidFill>
            <a:srgbClr val="D9F0F0"/>
          </a:solidFill>
          <a:ln w="10160">
            <a:solidFill>
              <a:srgbClr val="D9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2286000"/>
            <a:ext cx="20116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Performant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670048"/>
            <a:ext cx="2011679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3,92 s sur les marts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103120"/>
            <a:ext cx="23317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2103120"/>
            <a:ext cx="73152" cy="1417320"/>
          </a:xfrm>
          <a:prstGeom prst="rect">
            <a:avLst/>
          </a:prstGeom>
          <a:solidFill>
            <a:srgbClr val="3AA76D"/>
          </a:solidFill>
          <a:ln w="10160">
            <a:solidFill>
              <a:srgbClr val="3AA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2286000"/>
            <a:ext cx="20116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4213D"/>
                </a:solidFill>
                <a:latin typeface="Aptos"/>
              </a:defRPr>
            </a:pPr>
            <a:r>
              <a:t>Évolutif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670048"/>
            <a:ext cx="2011679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B6770"/>
                </a:solidFill>
                <a:latin typeface="Aptos"/>
              </a:defRPr>
            </a:pPr>
            <a:r>
              <a:t>AWS · Docker · ECS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Prochaine décision : instrumenter la fraîcheur et sécuriser l’exploitation planifiée.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45720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1">
                <a:solidFill>
                  <a:srgbClr val="D9F0F0"/>
                </a:solidFill>
                <a:latin typeface="Aptos"/>
              </a:defRPr>
            </a:pPr>
            <a:r>
              <a:t>OUly  /  DATA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92240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D9F0F0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8 — Infrastructure de données météo</dc:title>
  <dc:subject>Forecast 2.0 · Ouly</dc:subject>
  <dc:creator>Mammouth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