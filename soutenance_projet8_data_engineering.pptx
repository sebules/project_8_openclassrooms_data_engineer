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SOUTENANCE ·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Fiabiliser la météo pour Forecast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400800" cy="7315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400" b="1">
                <a:solidFill>
                  <a:srgbClr val="DDF6FA"/>
                </a:solidFill>
                <a:latin typeface="Aptos"/>
              </a:defRPr>
            </a:pPr>
            <a:r>
              <a:t>Une chaîne ELT documentée, testée et prête à industrialiser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4572000" cy="7315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Client fictif : Ouly</a:t>
            </a:r>
            <a:br/>
            <a:r>
              <a:t>GreenAndCoop · Hauts-de-France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274320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800" b="1">
                <a:solidFill>
                  <a:srgbClr val="16C1D4"/>
                </a:solidFill>
                <a:latin typeface="Aptos"/>
              </a:defRPr>
            </a:pPr>
            <a:r>
              <a:t>DATA</a:t>
            </a:r>
            <a:br/>
            <a:r>
              <a:t>→ WEATHER</a:t>
            </a:r>
            <a:br/>
            <a:r>
              <a:t>→ DÉCISIONS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9FB3C8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01 ·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Le besoin métier : mieux prévoir la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0B1F33"/>
                </a:solidFill>
                <a:latin typeface="Aptos"/>
              </a:defRPr>
            </a:pPr>
            <a:r>
              <a:t>• Enrichir Forecast 2.0 avec des relevés semi-professionnels.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0B1F33"/>
                </a:solidFill>
                <a:latin typeface="Aptos"/>
              </a:defRPr>
            </a:pPr>
            <a:r>
              <a:t>• Couvrir les zones moins bien décrites par les stations officielles.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79776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0B1F33"/>
                </a:solidFill>
                <a:latin typeface="Aptos"/>
              </a:defRPr>
            </a:pPr>
            <a:r>
              <a:t>• Mettre à disposition des données fiables chaque jour.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058400" cy="1554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900" b="1">
                <a:solidFill>
                  <a:srgbClr val="0B1F33"/>
                </a:solidFill>
                <a:latin typeface="Aptos"/>
              </a:defRPr>
            </a:pPr>
            <a:r>
              <a:t>ÉQUILIBRER : production ↔ consommation</a:t>
            </a:r>
            <a:br/>
            <a:r>
              <a:t>OPTIMISER : solaire &amp; éolien intermittents</a:t>
            </a:r>
            <a:br/>
            <a:r>
              <a:t>MAÎTRISER : achats d’urgence et coûts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02 · 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De la source brute à la donnée de confiance</a:t>
            </a:r>
          </a:p>
        </p:txBody>
      </p:sp>
      <p:pic>
        <p:nvPicPr>
          <p:cNvPr id="4" name="Picture 3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1">
                <a:solidFill>
                  <a:srgbClr val="0B1F33"/>
                </a:solidFill>
                <a:latin typeface="Aptos"/>
              </a:defRPr>
            </a:pPr>
            <a:r>
              <a:t>Conserver le raw, transformer dans PostgreSQL, publier uniquement des modèles testés.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03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Stack technique : des choix pragmatiques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1148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600" b="0">
                <a:solidFill>
                  <a:srgbClr val="0B1F33"/>
                </a:solidFill>
                <a:latin typeface="Aptos"/>
              </a:defRPr>
            </a:pPr>
            <a:r>
              <a:t>OUTIL              RÔLE                         ALTERNATIVE ÉCARTÉE       JUSTIFICATION</a:t>
            </a:r>
            <a:br/>
            <a:br/>
            <a:r>
              <a:t>Airbyte             Ingestion multi-formats      Scripts maison             connecteurs + sync</a:t>
            </a:r>
            <a:br/>
            <a:r>
              <a:t>PostgreSQL / RDS    Stockage analytique          warehouse propriétaire       DSI AWS, SQL</a:t>
            </a:r>
            <a:br/>
            <a:r>
              <a:t>DBT Core            ELT, tests, docs, lineage    ETL applicatif              versionnable</a:t>
            </a:r>
            <a:br/>
            <a:r>
              <a:t>Docker / EC2        Déploiement                  manuel                     reproductible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04 ·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Des formats hétérogènes, un contrat analytique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2918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800" b="0">
                <a:solidFill>
                  <a:srgbClr val="0B1F33"/>
                </a:solidFill>
                <a:latin typeface="Aptos"/>
              </a:defRPr>
            </a:pPr>
            <a:r>
              <a:t>WEATHER UNDERGROUND · ICHTEGEM BE</a:t>
            </a:r>
            <a:br/>
            <a:r>
              <a:t>Excel · station amateur · fréquences variables</a:t>
            </a:r>
            <a:br/>
            <a:br/>
            <a:r>
              <a:t>WEATHER UNDERGROUND · LA MADELEINE FR</a:t>
            </a:r>
            <a:br/>
            <a:r>
              <a:t>Excel · station amateur · unités impériales</a:t>
            </a:r>
            <a:br/>
            <a:br/>
            <a:r>
              <a:t>INFOCLIMAT</a:t>
            </a:r>
            <a:br/>
            <a:r>
              <a:t>JSON · stations officielles · structure imbriquée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ptos"/>
              </a:defRPr>
            </a:pPr>
            <a:r>
              <a:t>Volumétrie exacte non fournie ; fréquences annoncées : 10, 15 ou 30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05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Architecture cible AWS : simple, sécurisée, évolutive</a:t>
            </a:r>
          </a:p>
        </p:txBody>
      </p:sp>
      <p:pic>
        <p:nvPicPr>
          <p:cNvPr id="4" name="Picture 3" descr="architecture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06 · 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Un modèle en étoile pour les usages analytiques</a:t>
            </a:r>
          </a:p>
        </p:txBody>
      </p:sp>
      <p:pic>
        <p:nvPicPr>
          <p:cNvPr id="4" name="Picture 3" descr="schema_architectur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234440"/>
            <a:ext cx="64922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07 · RÉFÉRENCE FOURNIE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Schéma d’architecture de la base de données</a:t>
            </a:r>
          </a:p>
        </p:txBody>
      </p:sp>
      <p:pic>
        <p:nvPicPr>
          <p:cNvPr id="4" name="Picture 3" descr="schema_architectur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234440"/>
            <a:ext cx="64922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08 ·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DBT : séparer le nettoyage de la restitution</a:t>
            </a:r>
          </a:p>
        </p:txBody>
      </p:sp>
      <p:pic>
        <p:nvPicPr>
          <p:cNvPr id="4" name="Picture 3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029200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400" b="0">
                <a:solidFill>
                  <a:srgbClr val="0B1F33"/>
                </a:solidFill>
                <a:latin typeface="Aptos"/>
              </a:defRPr>
            </a:pPr>
            <a:r>
              <a:t>• stg_* : typage, parsing JSON, conversions d’unités.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96128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400" b="0">
                <a:solidFill>
                  <a:srgbClr val="0B1F33"/>
                </a:solidFill>
                <a:latin typeface="Aptos"/>
              </a:defRPr>
            </a:pPr>
            <a:r>
              <a:t>• int_* : union des observations des 3 réseaux.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63056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400" b="0">
                <a:solidFill>
                  <a:srgbClr val="0B1F33"/>
                </a:solidFill>
                <a:latin typeface="Aptos"/>
              </a:defRPr>
            </a:pPr>
            <a:r>
              <a:t>• dim_* / fact_* : tables finales, contraintes et index.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09 ·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Lineage : rendre chaque colonne explicable</a:t>
            </a:r>
          </a:p>
        </p:txBody>
      </p:sp>
      <p:pic>
        <p:nvPicPr>
          <p:cNvPr id="4" name="Picture 3" descr="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600" b="1">
                <a:solidFill>
                  <a:srgbClr val="0B1F33"/>
                </a:solidFill>
                <a:latin typeface="Aptos"/>
              </a:defRPr>
            </a:pPr>
            <a:r>
              <a:t>CAPTURE À INSÉRER : interface dbt docs / graphe de lineage réel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10 ·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Tester ce qui peut casser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0B1F33"/>
                </a:solidFill>
                <a:latin typeface="Aptos"/>
              </a:defRPr>
            </a:pPr>
            <a:r>
              <a:t>• Generic : not_null, unique, accepted_values,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0B1F33"/>
                </a:solidFill>
                <a:latin typeface="Aptos"/>
              </a:defRPr>
            </a:pPr>
            <a:r>
              <a:t>• Singular : précipitation, température, humidité, 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79776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0B1F33"/>
                </a:solidFill>
                <a:latin typeface="Aptos"/>
              </a:defRPr>
            </a:pPr>
            <a:r>
              <a:t>• PostgreSQL : PK/FK, latitude/longitude, station_type.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46704"/>
            <a:ext cx="10058400" cy="411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700" b="0">
                <a:solidFill>
                  <a:srgbClr val="0B1F33"/>
                </a:solidFill>
                <a:latin typeface="Aptos"/>
              </a:defRPr>
            </a:pPr>
            <a:r>
              <a:t>• Freshness : à ajouter pour garantir la disponibilité quotidienne.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058400" cy="9144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900" b="1">
                <a:solidFill>
                  <a:srgbClr val="0B1F33"/>
                </a:solidFill>
                <a:latin typeface="Aptos"/>
              </a:defRPr>
            </a:pPr>
            <a:r>
              <a:t>Résultat observé : 9 tests dbt exécutés · 9 PASS · 0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11 · INDICATEURS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Reporting qualité : une base saine avant restitution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4747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100" b="1">
                <a:solidFill>
                  <a:srgbClr val="0B1F33"/>
                </a:solidFill>
                <a:latin typeface="Aptos"/>
              </a:defRPr>
            </a:pPr>
            <a:r>
              <a:t>100 % des 9 tests documentés passent dans la sortie dbt test.</a:t>
            </a:r>
            <a:br/>
            <a:br/>
            <a:r>
              <a:t>Contrôles : complétude · unicité · référentiels · intégrité</a:t>
            </a:r>
            <a:br/>
            <a:br/>
            <a:r>
              <a:t>Complétude globale et volumétrie : non mesurées dans le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12 ·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Temps d’accessibilité : mesurer avant d’optimiser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4747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100" b="1">
                <a:solidFill>
                  <a:srgbClr val="0B1F33"/>
                </a:solidFill>
                <a:latin typeface="Aptos"/>
              </a:defRPr>
            </a:pPr>
            <a:r>
              <a:t>Mesures visibles dans le notebook — pas de benchmark avant / après.</a:t>
            </a:r>
            <a:br/>
            <a:br/>
            <a:r>
              <a:t>STAGING : 1,05 s · CREATE VIEW</a:t>
            </a:r>
            <a:br/>
            <a:r>
              <a:t>INTERMEDIATE : 0,73 s · CREATE VIEW</a:t>
            </a:r>
            <a:br/>
            <a:r>
              <a:t>SEED : 1,52 s · INSERT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500" b="0">
                <a:solidFill>
                  <a:srgbClr val="627D98"/>
                </a:solidFill>
                <a:latin typeface="Aptos"/>
              </a:defRPr>
            </a:pPr>
            <a:r>
              <a:t>À instrumenter : durée Airbyte · run dbt complet · freshness · latence mart.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13 ·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Airbyte : preuve de synchronisation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3840480"/>
          </a:xfrm>
          <a:prstGeom prst="roundRect">
            <a:avLst/>
          </a:prstGeom>
          <a:solidFill>
            <a:srgbClr val="F4F7FA"/>
          </a:solidFill>
          <a:ln>
            <a:solidFill>
              <a:srgbClr val="16C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9784080" cy="5486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ptos"/>
              </a:defRPr>
            </a:pPr>
            <a:r>
              <a:t>Insérer capture d’écran : Airbyte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13 ·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DBT Docs : preuve de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3840480"/>
          </a:xfrm>
          <a:prstGeom prst="roundRect">
            <a:avLst/>
          </a:prstGeom>
          <a:solidFill>
            <a:srgbClr val="F4F7FA"/>
          </a:solidFill>
          <a:ln>
            <a:solidFill>
              <a:srgbClr val="16C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9784080" cy="5486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ptos"/>
              </a:defRPr>
            </a:pPr>
            <a:r>
              <a:t>Insérer capture d’écran : DBT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13 ·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AWS : preuve de déploiement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3840480"/>
          </a:xfrm>
          <a:prstGeom prst="roundRect">
            <a:avLst/>
          </a:prstGeom>
          <a:solidFill>
            <a:srgbClr val="F4F7FA"/>
          </a:solidFill>
          <a:ln>
            <a:solidFill>
              <a:srgbClr val="16C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9784080" cy="5486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ptos"/>
              </a:defRPr>
            </a:pPr>
            <a:r>
              <a:t>Insérer capture d’écran : console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14 ·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Démonstration minutée : 5 minutes pour convaincre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000" b="1">
                <a:solidFill>
                  <a:srgbClr val="0B1F33"/>
                </a:solidFill>
                <a:latin typeface="Aptos"/>
              </a:defRPr>
            </a:pPr>
            <a:r>
              <a:t>0:00–0:45 Contexte &amp; architecture</a:t>
            </a:r>
            <a:br/>
            <a:r>
              <a:t>0:45–2:00 dbt run</a:t>
            </a:r>
            <a:br/>
            <a:r>
              <a:t>2:00–3:15 dbt test</a:t>
            </a:r>
            <a:br/>
            <a:r>
              <a:t>3:15–4:30 dbt docs generate / serve</a:t>
            </a:r>
            <a:br/>
            <a:r>
              <a:t>4:30–5:00 Requête métier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15 · PASSAGE À L’ÉCHELLE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Sécurité, coûts et industrialisation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900" b="0">
                <a:solidFill>
                  <a:srgbClr val="0B1F33"/>
                </a:solidFill>
                <a:latin typeface="Aptos"/>
              </a:defRPr>
            </a:pPr>
            <a:r>
              <a:t>SÉCURITÉ : Secrets Manager · IAM moindre privilège · SSL RDS</a:t>
            </a:r>
            <a:br/>
            <a:br/>
            <a:r>
              <a:t>COÛTS : offre gratuite prototype · sizing · arrêt EC2 · monitoring</a:t>
            </a:r>
            <a:br/>
            <a:br/>
            <a:r>
              <a:t>INDUSTRIALISATION : orchestration planifiée · CI/CD : dbt build + tests +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16 · TRAJECTOIRE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0B1F33"/>
                </a:solidFill>
                <a:latin typeface="Aptos"/>
              </a:defRPr>
            </a:pPr>
            <a:r>
              <a:t>Limites connues et prochaines améliorations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023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000" b="0">
                <a:solidFill>
                  <a:srgbClr val="0B1F33"/>
                </a:solidFill>
                <a:latin typeface="Aptos"/>
              </a:defRPr>
            </a:pPr>
            <a:r>
              <a:t>AUJOURD’HUI : pas de volumétrie chiffrée ni freshness exécutée.</a:t>
            </a:r>
            <a:br/>
            <a:br/>
            <a:r>
              <a:t>DEMAIN : alerting, observabilité, run quotidien, benchmark.</a:t>
            </a:r>
            <a:br/>
            <a:br/>
            <a:r>
              <a:t>PLUS LOIN : incrémental, historisation, contrat de schéma.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829AB1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17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Une donnée météo prête à inspirer la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6400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700" b="1">
                <a:solidFill>
                  <a:srgbClr val="16C1D4"/>
                </a:solidFill>
                <a:latin typeface="Aptos"/>
              </a:defRPr>
            </a:pPr>
            <a:r>
              <a:t>Collecter · transformer · tester · expliquer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6400800" cy="1097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Le pipeline protège le raw,</a:t>
            </a:r>
            <a:br/>
            <a:r>
              <a:t>standardise les observations et sécurise les marts.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103120"/>
            <a:ext cx="2743200" cy="9144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800" b="0">
                <a:solidFill>
                  <a:srgbClr val="9FB3C8"/>
                </a:solidFill>
                <a:latin typeface="Aptos"/>
              </a:defRPr>
            </a:pPr>
            <a:r>
              <a:t>PROJET 8 · DATA ENGINEERING · OULY / FORECAST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defRPr sz="1000" b="1">
                <a:solidFill>
                  <a:srgbClr val="16C1D4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