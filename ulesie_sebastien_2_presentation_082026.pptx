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7"/>
  </p:notesMasterIdLst>
  <p:handoutMasterIdLst>
    <p:handoutMasterId r:id="rId18"/>
  </p:handoutMasterIdLst>
  <p:sldIdLst>
    <p:sldId id="257" r:id="rId2"/>
    <p:sldId id="261" r:id="rId3"/>
    <p:sldId id="259" r:id="rId4"/>
    <p:sldId id="260" r:id="rId5"/>
    <p:sldId id="344" r:id="rId6"/>
    <p:sldId id="345" r:id="rId7"/>
    <p:sldId id="346" r:id="rId8"/>
    <p:sldId id="347" r:id="rId9"/>
    <p:sldId id="348" r:id="rId10"/>
    <p:sldId id="349" r:id="rId11"/>
    <p:sldId id="350" r:id="rId12"/>
    <p:sldId id="332" r:id="rId13"/>
    <p:sldId id="338" r:id="rId14"/>
    <p:sldId id="343" r:id="rId15"/>
    <p:sldId id="299" r:id="rId16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ébastien Ulésie" initials="SU" lastIdx="1" clrIdx="0">
    <p:extLst>
      <p:ext uri="{19B8F6BF-5375-455C-9EA6-DF929625EA0E}">
        <p15:presenceInfo xmlns:p15="http://schemas.microsoft.com/office/powerpoint/2012/main" userId="341bc60b6eabda3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580C"/>
    <a:srgbClr val="7C3AED"/>
    <a:srgbClr val="1A586F"/>
    <a:srgbClr val="FFDF79"/>
    <a:srgbClr val="BAE18F"/>
    <a:srgbClr val="FFFF66"/>
    <a:srgbClr val="F6A2F8"/>
    <a:srgbClr val="FFFFCC"/>
    <a:srgbClr val="FF9900"/>
    <a:srgbClr val="EE96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0612ED-5876-4919-BCC8-600F5B229E71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ACF00B4C-E6D7-4CF7-AFA6-22ECB4A54A6A}">
      <dgm:prSet phldrT="[Texte]" phldr="0"/>
      <dgm:spPr/>
      <dgm:t>
        <a:bodyPr/>
        <a:lstStyle/>
        <a:p>
          <a:r>
            <a:rPr lang="fr-FR" dirty="0"/>
            <a:t>1- Contexte &amp; Objectif</a:t>
          </a:r>
        </a:p>
      </dgm:t>
    </dgm:pt>
    <dgm:pt modelId="{FDD0A571-75BF-47A0-B20D-C0A8085AC3A7}" type="parTrans" cxnId="{9B4DC1D0-0933-42AD-B402-BAE36805541F}">
      <dgm:prSet/>
      <dgm:spPr/>
      <dgm:t>
        <a:bodyPr/>
        <a:lstStyle/>
        <a:p>
          <a:endParaRPr lang="fr-FR"/>
        </a:p>
      </dgm:t>
    </dgm:pt>
    <dgm:pt modelId="{F49AE16D-0DC3-4DA7-9732-CC9EE6A681A0}" type="sibTrans" cxnId="{9B4DC1D0-0933-42AD-B402-BAE36805541F}">
      <dgm:prSet/>
      <dgm:spPr/>
      <dgm:t>
        <a:bodyPr/>
        <a:lstStyle/>
        <a:p>
          <a:endParaRPr lang="fr-FR"/>
        </a:p>
      </dgm:t>
    </dgm:pt>
    <dgm:pt modelId="{09562225-7FCE-4E93-8C05-403975C5475D}">
      <dgm:prSet phldrT="[Texte]" phldr="0"/>
      <dgm:spPr/>
      <dgm:t>
        <a:bodyPr/>
        <a:lstStyle/>
        <a:p>
          <a:r>
            <a:rPr lang="fr-FR" dirty="0"/>
            <a:t>4- Les requêtes et leurs résultats</a:t>
          </a:r>
        </a:p>
      </dgm:t>
    </dgm:pt>
    <dgm:pt modelId="{0781F10D-ED0A-48FE-B536-0CE0EEFECEC3}" type="parTrans" cxnId="{F64BF8E3-3C7F-43B9-85CA-B98717DDCE52}">
      <dgm:prSet/>
      <dgm:spPr/>
      <dgm:t>
        <a:bodyPr/>
        <a:lstStyle/>
        <a:p>
          <a:endParaRPr lang="fr-FR"/>
        </a:p>
      </dgm:t>
    </dgm:pt>
    <dgm:pt modelId="{A16D4EFB-D346-4379-AC60-BC2431B43AE4}" type="sibTrans" cxnId="{F64BF8E3-3C7F-43B9-85CA-B98717DDCE52}">
      <dgm:prSet/>
      <dgm:spPr/>
      <dgm:t>
        <a:bodyPr/>
        <a:lstStyle/>
        <a:p>
          <a:endParaRPr lang="fr-FR"/>
        </a:p>
      </dgm:t>
    </dgm:pt>
    <dgm:pt modelId="{91C5EE06-7918-4F4E-ABC8-78B22D3546A2}">
      <dgm:prSet phldrT="[Texte]" phldr="0"/>
      <dgm:spPr/>
      <dgm:t>
        <a:bodyPr/>
        <a:lstStyle/>
        <a:p>
          <a:r>
            <a:rPr lang="fr-FR" dirty="0"/>
            <a:t>3- Compréhension des données</a:t>
          </a:r>
        </a:p>
      </dgm:t>
    </dgm:pt>
    <dgm:pt modelId="{F8E08B12-C3B4-44EB-8CAC-1ED61F0F2D2E}" type="parTrans" cxnId="{BA2CB65B-D598-4090-8A83-B9D804C83F04}">
      <dgm:prSet/>
      <dgm:spPr/>
      <dgm:t>
        <a:bodyPr/>
        <a:lstStyle/>
        <a:p>
          <a:endParaRPr lang="fr-FR"/>
        </a:p>
      </dgm:t>
    </dgm:pt>
    <dgm:pt modelId="{E6385450-D9A5-4D9C-B992-73589E40A9D7}" type="sibTrans" cxnId="{BA2CB65B-D598-4090-8A83-B9D804C83F04}">
      <dgm:prSet/>
      <dgm:spPr/>
      <dgm:t>
        <a:bodyPr/>
        <a:lstStyle/>
        <a:p>
          <a:endParaRPr lang="fr-FR"/>
        </a:p>
      </dgm:t>
    </dgm:pt>
    <dgm:pt modelId="{137669DF-45F8-40AE-925B-B1ADA604DE22}">
      <dgm:prSet phldrT="[Texte]" phldr="0"/>
      <dgm:spPr/>
      <dgm:t>
        <a:bodyPr/>
        <a:lstStyle/>
        <a:p>
          <a:r>
            <a:rPr lang="fr-FR" b="0" dirty="0"/>
            <a:t>2- Importation des données</a:t>
          </a:r>
        </a:p>
      </dgm:t>
    </dgm:pt>
    <dgm:pt modelId="{6B54155B-5F84-497A-BFEF-EA323E20BA10}" type="parTrans" cxnId="{8D0E12F4-8B86-4A1B-98D0-2FAA70F1362B}">
      <dgm:prSet/>
      <dgm:spPr/>
      <dgm:t>
        <a:bodyPr/>
        <a:lstStyle/>
        <a:p>
          <a:endParaRPr lang="fr-FR"/>
        </a:p>
      </dgm:t>
    </dgm:pt>
    <dgm:pt modelId="{2F249443-FEF1-43B6-A7E1-9A73B0A25AE0}" type="sibTrans" cxnId="{8D0E12F4-8B86-4A1B-98D0-2FAA70F1362B}">
      <dgm:prSet/>
      <dgm:spPr/>
      <dgm:t>
        <a:bodyPr/>
        <a:lstStyle/>
        <a:p>
          <a:endParaRPr lang="fr-FR"/>
        </a:p>
      </dgm:t>
    </dgm:pt>
    <dgm:pt modelId="{10F4FD06-E452-44ED-A921-58727BCB960A}">
      <dgm:prSet phldrT="[Texte]" phldr="0"/>
      <dgm:spPr/>
      <dgm:t>
        <a:bodyPr/>
        <a:lstStyle/>
        <a:p>
          <a:r>
            <a:rPr lang="fr-FR" dirty="0"/>
            <a:t>5- Connexion MongoDB à </a:t>
          </a:r>
          <a:r>
            <a:rPr lang="fr-FR" dirty="0" err="1"/>
            <a:t>PowerBI</a:t>
          </a:r>
          <a:endParaRPr lang="fr-FR" dirty="0"/>
        </a:p>
      </dgm:t>
    </dgm:pt>
    <dgm:pt modelId="{B7E01A7A-0B52-49F1-9D84-3CDC11E7F5E7}" type="parTrans" cxnId="{8B050C56-35A9-489A-B54E-3E969E6E5C65}">
      <dgm:prSet/>
      <dgm:spPr/>
      <dgm:t>
        <a:bodyPr/>
        <a:lstStyle/>
        <a:p>
          <a:endParaRPr lang="fr-FR"/>
        </a:p>
      </dgm:t>
    </dgm:pt>
    <dgm:pt modelId="{BF084CD2-773F-4397-B5DA-1C0C0BAF6D87}" type="sibTrans" cxnId="{8B050C56-35A9-489A-B54E-3E969E6E5C65}">
      <dgm:prSet/>
      <dgm:spPr/>
      <dgm:t>
        <a:bodyPr/>
        <a:lstStyle/>
        <a:p>
          <a:endParaRPr lang="fr-FR"/>
        </a:p>
      </dgm:t>
    </dgm:pt>
    <dgm:pt modelId="{C5B30B90-4036-464E-A28E-383F3D5B746F}">
      <dgm:prSet phldrT="[Texte]" phldr="0"/>
      <dgm:spPr/>
      <dgm:t>
        <a:bodyPr/>
        <a:lstStyle/>
        <a:p>
          <a:r>
            <a:rPr lang="fr-FR" dirty="0"/>
            <a:t>6- Intégration données de Lyon</a:t>
          </a:r>
        </a:p>
      </dgm:t>
    </dgm:pt>
    <dgm:pt modelId="{1F871E0C-41C6-460A-8D72-F79549FEE94E}" type="parTrans" cxnId="{60AB59C1-93C6-4A83-820B-AF25EED12C2A}">
      <dgm:prSet/>
      <dgm:spPr/>
      <dgm:t>
        <a:bodyPr/>
        <a:lstStyle/>
        <a:p>
          <a:endParaRPr lang="fr-FR"/>
        </a:p>
      </dgm:t>
    </dgm:pt>
    <dgm:pt modelId="{B8E65884-E0EE-41D7-9E11-32E3A03763CD}" type="sibTrans" cxnId="{60AB59C1-93C6-4A83-820B-AF25EED12C2A}">
      <dgm:prSet/>
      <dgm:spPr/>
      <dgm:t>
        <a:bodyPr/>
        <a:lstStyle/>
        <a:p>
          <a:endParaRPr lang="fr-FR"/>
        </a:p>
      </dgm:t>
    </dgm:pt>
    <dgm:pt modelId="{7B991E51-EA9F-4EA3-999C-494E52148DFB}">
      <dgm:prSet phldrT="[Texte]" phldr="0"/>
      <dgm:spPr/>
      <dgm:t>
        <a:bodyPr/>
        <a:lstStyle/>
        <a:p>
          <a:r>
            <a:rPr lang="fr-FR" dirty="0"/>
            <a:t>7- Réplication des données</a:t>
          </a:r>
        </a:p>
      </dgm:t>
    </dgm:pt>
    <dgm:pt modelId="{89EBD24B-A965-4033-A3A8-D26BBD8F9C55}" type="parTrans" cxnId="{ACBF787A-C137-4F23-B827-1003E2B82B44}">
      <dgm:prSet/>
      <dgm:spPr/>
      <dgm:t>
        <a:bodyPr/>
        <a:lstStyle/>
        <a:p>
          <a:endParaRPr lang="fr-FR"/>
        </a:p>
      </dgm:t>
    </dgm:pt>
    <dgm:pt modelId="{51CD5044-32D5-4267-9452-9F02006ACD1D}" type="sibTrans" cxnId="{ACBF787A-C137-4F23-B827-1003E2B82B44}">
      <dgm:prSet/>
      <dgm:spPr/>
      <dgm:t>
        <a:bodyPr/>
        <a:lstStyle/>
        <a:p>
          <a:endParaRPr lang="fr-FR"/>
        </a:p>
      </dgm:t>
    </dgm:pt>
    <dgm:pt modelId="{BB40B4F6-4EB6-4EBF-9E1B-B9D404846270}">
      <dgm:prSet phldrT="[Texte]" phldr="0"/>
      <dgm:spPr/>
      <dgm:t>
        <a:bodyPr/>
        <a:lstStyle/>
        <a:p>
          <a:r>
            <a:rPr lang="fr-FR"/>
            <a:t>8- Duplication des données</a:t>
          </a:r>
          <a:endParaRPr lang="fr-FR" dirty="0"/>
        </a:p>
      </dgm:t>
    </dgm:pt>
    <dgm:pt modelId="{907C754D-DDD4-4E71-AFE2-02BB244F0F38}" type="parTrans" cxnId="{8A736A9F-65F0-4A55-9A3F-CCF416234F97}">
      <dgm:prSet/>
      <dgm:spPr/>
      <dgm:t>
        <a:bodyPr/>
        <a:lstStyle/>
        <a:p>
          <a:endParaRPr lang="fr-FR"/>
        </a:p>
      </dgm:t>
    </dgm:pt>
    <dgm:pt modelId="{FAB9DC6E-0691-4B3E-84B9-DFFF68013930}" type="sibTrans" cxnId="{8A736A9F-65F0-4A55-9A3F-CCF416234F97}">
      <dgm:prSet/>
      <dgm:spPr/>
      <dgm:t>
        <a:bodyPr/>
        <a:lstStyle/>
        <a:p>
          <a:endParaRPr lang="fr-FR"/>
        </a:p>
      </dgm:t>
    </dgm:pt>
    <dgm:pt modelId="{BB89F849-78B2-43DF-933A-2353D297DD5D}" type="pres">
      <dgm:prSet presAssocID="{2A0612ED-5876-4919-BCC8-600F5B229E71}" presName="linear" presStyleCnt="0">
        <dgm:presLayoutVars>
          <dgm:animLvl val="lvl"/>
          <dgm:resizeHandles val="exact"/>
        </dgm:presLayoutVars>
      </dgm:prSet>
      <dgm:spPr/>
    </dgm:pt>
    <dgm:pt modelId="{BB92269C-473B-4581-93AF-AD006B94C36C}" type="pres">
      <dgm:prSet presAssocID="{ACF00B4C-E6D7-4CF7-AFA6-22ECB4A54A6A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4B66C130-72C2-4DC4-9911-87CBCB4195E5}" type="pres">
      <dgm:prSet presAssocID="{F49AE16D-0DC3-4DA7-9732-CC9EE6A681A0}" presName="spacer" presStyleCnt="0"/>
      <dgm:spPr/>
    </dgm:pt>
    <dgm:pt modelId="{90650EEF-1F9D-463E-A867-D4AB9F2E38B6}" type="pres">
      <dgm:prSet presAssocID="{137669DF-45F8-40AE-925B-B1ADA604DE22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B6F1EB67-BED4-4BFF-8AB0-2EA5A3B31FFE}" type="pres">
      <dgm:prSet presAssocID="{2F249443-FEF1-43B6-A7E1-9A73B0A25AE0}" presName="spacer" presStyleCnt="0"/>
      <dgm:spPr/>
    </dgm:pt>
    <dgm:pt modelId="{C0F2F60F-49A7-486C-BA84-7742A146D8C7}" type="pres">
      <dgm:prSet presAssocID="{91C5EE06-7918-4F4E-ABC8-78B22D3546A2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0D1D8BE0-65D2-40B4-9127-53B188EBFA7A}" type="pres">
      <dgm:prSet presAssocID="{E6385450-D9A5-4D9C-B992-73589E40A9D7}" presName="spacer" presStyleCnt="0"/>
      <dgm:spPr/>
    </dgm:pt>
    <dgm:pt modelId="{188E501D-B60D-4714-8E70-1CD5D6D0CD0B}" type="pres">
      <dgm:prSet presAssocID="{09562225-7FCE-4E93-8C05-403975C5475D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01202958-3686-43FE-B599-602B95F887BF}" type="pres">
      <dgm:prSet presAssocID="{A16D4EFB-D346-4379-AC60-BC2431B43AE4}" presName="spacer" presStyleCnt="0"/>
      <dgm:spPr/>
    </dgm:pt>
    <dgm:pt modelId="{DF10A574-F3D9-4FC2-A6EE-E7E8311CF638}" type="pres">
      <dgm:prSet presAssocID="{10F4FD06-E452-44ED-A921-58727BCB960A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F15F21A4-6B6A-46CD-A116-A9F8B39033B5}" type="pres">
      <dgm:prSet presAssocID="{BF084CD2-773F-4397-B5DA-1C0C0BAF6D87}" presName="spacer" presStyleCnt="0"/>
      <dgm:spPr/>
    </dgm:pt>
    <dgm:pt modelId="{9F5EF941-1609-4E21-A343-705F89535533}" type="pres">
      <dgm:prSet presAssocID="{C5B30B90-4036-464E-A28E-383F3D5B746F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4314F175-4D44-4C42-9CA6-E436348A0F9A}" type="pres">
      <dgm:prSet presAssocID="{B8E65884-E0EE-41D7-9E11-32E3A03763CD}" presName="spacer" presStyleCnt="0"/>
      <dgm:spPr/>
    </dgm:pt>
    <dgm:pt modelId="{F241338E-DAFB-437E-BAC6-556E992CF66B}" type="pres">
      <dgm:prSet presAssocID="{7B991E51-EA9F-4EA3-999C-494E52148DFB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99D02E02-2418-40A3-B359-C1BC5D14D341}" type="pres">
      <dgm:prSet presAssocID="{51CD5044-32D5-4267-9452-9F02006ACD1D}" presName="spacer" presStyleCnt="0"/>
      <dgm:spPr/>
    </dgm:pt>
    <dgm:pt modelId="{1FDD8F32-99D9-4BBE-AF0A-DA191E5D1B76}" type="pres">
      <dgm:prSet presAssocID="{BB40B4F6-4EB6-4EBF-9E1B-B9D404846270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72D84625-8B4D-4B3B-B34F-C7465EF419B4}" type="presOf" srcId="{09562225-7FCE-4E93-8C05-403975C5475D}" destId="{188E501D-B60D-4714-8E70-1CD5D6D0CD0B}" srcOrd="0" destOrd="0" presId="urn:microsoft.com/office/officeart/2005/8/layout/vList2"/>
    <dgm:cxn modelId="{CF650333-ECB8-4CAD-90C5-194AFE26462D}" type="presOf" srcId="{C5B30B90-4036-464E-A28E-383F3D5B746F}" destId="{9F5EF941-1609-4E21-A343-705F89535533}" srcOrd="0" destOrd="0" presId="urn:microsoft.com/office/officeart/2005/8/layout/vList2"/>
    <dgm:cxn modelId="{BA2CB65B-D598-4090-8A83-B9D804C83F04}" srcId="{2A0612ED-5876-4919-BCC8-600F5B229E71}" destId="{91C5EE06-7918-4F4E-ABC8-78B22D3546A2}" srcOrd="2" destOrd="0" parTransId="{F8E08B12-C3B4-44EB-8CAC-1ED61F0F2D2E}" sibTransId="{E6385450-D9A5-4D9C-B992-73589E40A9D7}"/>
    <dgm:cxn modelId="{B440795D-9897-4394-885B-8552AAFE099C}" type="presOf" srcId="{BB40B4F6-4EB6-4EBF-9E1B-B9D404846270}" destId="{1FDD8F32-99D9-4BBE-AF0A-DA191E5D1B76}" srcOrd="0" destOrd="0" presId="urn:microsoft.com/office/officeart/2005/8/layout/vList2"/>
    <dgm:cxn modelId="{8B050C56-35A9-489A-B54E-3E969E6E5C65}" srcId="{2A0612ED-5876-4919-BCC8-600F5B229E71}" destId="{10F4FD06-E452-44ED-A921-58727BCB960A}" srcOrd="4" destOrd="0" parTransId="{B7E01A7A-0B52-49F1-9D84-3CDC11E7F5E7}" sibTransId="{BF084CD2-773F-4397-B5DA-1C0C0BAF6D87}"/>
    <dgm:cxn modelId="{22157357-0815-4091-B96F-71DED9F79FC1}" type="presOf" srcId="{7B991E51-EA9F-4EA3-999C-494E52148DFB}" destId="{F241338E-DAFB-437E-BAC6-556E992CF66B}" srcOrd="0" destOrd="0" presId="urn:microsoft.com/office/officeart/2005/8/layout/vList2"/>
    <dgm:cxn modelId="{BB8CFB59-ECE7-4CBC-9556-8A3CF9727DDA}" type="presOf" srcId="{ACF00B4C-E6D7-4CF7-AFA6-22ECB4A54A6A}" destId="{BB92269C-473B-4581-93AF-AD006B94C36C}" srcOrd="0" destOrd="0" presId="urn:microsoft.com/office/officeart/2005/8/layout/vList2"/>
    <dgm:cxn modelId="{ACBF787A-C137-4F23-B827-1003E2B82B44}" srcId="{2A0612ED-5876-4919-BCC8-600F5B229E71}" destId="{7B991E51-EA9F-4EA3-999C-494E52148DFB}" srcOrd="6" destOrd="0" parTransId="{89EBD24B-A965-4033-A3A8-D26BBD8F9C55}" sibTransId="{51CD5044-32D5-4267-9452-9F02006ACD1D}"/>
    <dgm:cxn modelId="{8A736A9F-65F0-4A55-9A3F-CCF416234F97}" srcId="{2A0612ED-5876-4919-BCC8-600F5B229E71}" destId="{BB40B4F6-4EB6-4EBF-9E1B-B9D404846270}" srcOrd="7" destOrd="0" parTransId="{907C754D-DDD4-4E71-AFE2-02BB244F0F38}" sibTransId="{FAB9DC6E-0691-4B3E-84B9-DFFF68013930}"/>
    <dgm:cxn modelId="{9D92CEA4-472E-4B56-8712-594017CD6C24}" type="presOf" srcId="{10F4FD06-E452-44ED-A921-58727BCB960A}" destId="{DF10A574-F3D9-4FC2-A6EE-E7E8311CF638}" srcOrd="0" destOrd="0" presId="urn:microsoft.com/office/officeart/2005/8/layout/vList2"/>
    <dgm:cxn modelId="{1FA19BB3-7E11-45B8-93CE-4B2E16B76669}" type="presOf" srcId="{2A0612ED-5876-4919-BCC8-600F5B229E71}" destId="{BB89F849-78B2-43DF-933A-2353D297DD5D}" srcOrd="0" destOrd="0" presId="urn:microsoft.com/office/officeart/2005/8/layout/vList2"/>
    <dgm:cxn modelId="{60AB59C1-93C6-4A83-820B-AF25EED12C2A}" srcId="{2A0612ED-5876-4919-BCC8-600F5B229E71}" destId="{C5B30B90-4036-464E-A28E-383F3D5B746F}" srcOrd="5" destOrd="0" parTransId="{1F871E0C-41C6-460A-8D72-F79549FEE94E}" sibTransId="{B8E65884-E0EE-41D7-9E11-32E3A03763CD}"/>
    <dgm:cxn modelId="{1AF982C7-C8EE-4870-AABC-FB5147AC9A32}" type="presOf" srcId="{137669DF-45F8-40AE-925B-B1ADA604DE22}" destId="{90650EEF-1F9D-463E-A867-D4AB9F2E38B6}" srcOrd="0" destOrd="0" presId="urn:microsoft.com/office/officeart/2005/8/layout/vList2"/>
    <dgm:cxn modelId="{9B4DC1D0-0933-42AD-B402-BAE36805541F}" srcId="{2A0612ED-5876-4919-BCC8-600F5B229E71}" destId="{ACF00B4C-E6D7-4CF7-AFA6-22ECB4A54A6A}" srcOrd="0" destOrd="0" parTransId="{FDD0A571-75BF-47A0-B20D-C0A8085AC3A7}" sibTransId="{F49AE16D-0DC3-4DA7-9732-CC9EE6A681A0}"/>
    <dgm:cxn modelId="{F64BF8E3-3C7F-43B9-85CA-B98717DDCE52}" srcId="{2A0612ED-5876-4919-BCC8-600F5B229E71}" destId="{09562225-7FCE-4E93-8C05-403975C5475D}" srcOrd="3" destOrd="0" parTransId="{0781F10D-ED0A-48FE-B536-0CE0EEFECEC3}" sibTransId="{A16D4EFB-D346-4379-AC60-BC2431B43AE4}"/>
    <dgm:cxn modelId="{8D0E12F4-8B86-4A1B-98D0-2FAA70F1362B}" srcId="{2A0612ED-5876-4919-BCC8-600F5B229E71}" destId="{137669DF-45F8-40AE-925B-B1ADA604DE22}" srcOrd="1" destOrd="0" parTransId="{6B54155B-5F84-497A-BFEF-EA323E20BA10}" sibTransId="{2F249443-FEF1-43B6-A7E1-9A73B0A25AE0}"/>
    <dgm:cxn modelId="{4E34AAF5-1699-46BD-92E5-02366CEB6C2B}" type="presOf" srcId="{91C5EE06-7918-4F4E-ABC8-78B22D3546A2}" destId="{C0F2F60F-49A7-486C-BA84-7742A146D8C7}" srcOrd="0" destOrd="0" presId="urn:microsoft.com/office/officeart/2005/8/layout/vList2"/>
    <dgm:cxn modelId="{32BC9673-159F-477D-812B-1E5F3FE83DAD}" type="presParOf" srcId="{BB89F849-78B2-43DF-933A-2353D297DD5D}" destId="{BB92269C-473B-4581-93AF-AD006B94C36C}" srcOrd="0" destOrd="0" presId="urn:microsoft.com/office/officeart/2005/8/layout/vList2"/>
    <dgm:cxn modelId="{A28352EE-237E-4724-8018-9BD872C31A3B}" type="presParOf" srcId="{BB89F849-78B2-43DF-933A-2353D297DD5D}" destId="{4B66C130-72C2-4DC4-9911-87CBCB4195E5}" srcOrd="1" destOrd="0" presId="urn:microsoft.com/office/officeart/2005/8/layout/vList2"/>
    <dgm:cxn modelId="{5CB68A64-ED28-4F71-8174-2BD319D43FD1}" type="presParOf" srcId="{BB89F849-78B2-43DF-933A-2353D297DD5D}" destId="{90650EEF-1F9D-463E-A867-D4AB9F2E38B6}" srcOrd="2" destOrd="0" presId="urn:microsoft.com/office/officeart/2005/8/layout/vList2"/>
    <dgm:cxn modelId="{663B79CA-AF34-42CE-ABD1-1397810ACF3B}" type="presParOf" srcId="{BB89F849-78B2-43DF-933A-2353D297DD5D}" destId="{B6F1EB67-BED4-4BFF-8AB0-2EA5A3B31FFE}" srcOrd="3" destOrd="0" presId="urn:microsoft.com/office/officeart/2005/8/layout/vList2"/>
    <dgm:cxn modelId="{42CC9DDE-BC30-4FD8-8FDD-4AFDD000929E}" type="presParOf" srcId="{BB89F849-78B2-43DF-933A-2353D297DD5D}" destId="{C0F2F60F-49A7-486C-BA84-7742A146D8C7}" srcOrd="4" destOrd="0" presId="urn:microsoft.com/office/officeart/2005/8/layout/vList2"/>
    <dgm:cxn modelId="{9BFAF73C-FF3F-4500-8FD0-55592E017415}" type="presParOf" srcId="{BB89F849-78B2-43DF-933A-2353D297DD5D}" destId="{0D1D8BE0-65D2-40B4-9127-53B188EBFA7A}" srcOrd="5" destOrd="0" presId="urn:microsoft.com/office/officeart/2005/8/layout/vList2"/>
    <dgm:cxn modelId="{722F17F9-025F-4A00-8C4F-4AD0DED9C8D9}" type="presParOf" srcId="{BB89F849-78B2-43DF-933A-2353D297DD5D}" destId="{188E501D-B60D-4714-8E70-1CD5D6D0CD0B}" srcOrd="6" destOrd="0" presId="urn:microsoft.com/office/officeart/2005/8/layout/vList2"/>
    <dgm:cxn modelId="{7E3B1C48-B0EC-471B-84F4-F66A169FC015}" type="presParOf" srcId="{BB89F849-78B2-43DF-933A-2353D297DD5D}" destId="{01202958-3686-43FE-B599-602B95F887BF}" srcOrd="7" destOrd="0" presId="urn:microsoft.com/office/officeart/2005/8/layout/vList2"/>
    <dgm:cxn modelId="{A86046FE-DA09-46BB-9435-870181EB0DD1}" type="presParOf" srcId="{BB89F849-78B2-43DF-933A-2353D297DD5D}" destId="{DF10A574-F3D9-4FC2-A6EE-E7E8311CF638}" srcOrd="8" destOrd="0" presId="urn:microsoft.com/office/officeart/2005/8/layout/vList2"/>
    <dgm:cxn modelId="{F47D4C76-5BF7-4F2A-B8B6-B7FFF8D39703}" type="presParOf" srcId="{BB89F849-78B2-43DF-933A-2353D297DD5D}" destId="{F15F21A4-6B6A-46CD-A116-A9F8B39033B5}" srcOrd="9" destOrd="0" presId="urn:microsoft.com/office/officeart/2005/8/layout/vList2"/>
    <dgm:cxn modelId="{4144A78D-BD0B-4E3C-8DC6-310FF6CA2D80}" type="presParOf" srcId="{BB89F849-78B2-43DF-933A-2353D297DD5D}" destId="{9F5EF941-1609-4E21-A343-705F89535533}" srcOrd="10" destOrd="0" presId="urn:microsoft.com/office/officeart/2005/8/layout/vList2"/>
    <dgm:cxn modelId="{37A54790-8C4C-4815-83F9-6AA82C644739}" type="presParOf" srcId="{BB89F849-78B2-43DF-933A-2353D297DD5D}" destId="{4314F175-4D44-4C42-9CA6-E436348A0F9A}" srcOrd="11" destOrd="0" presId="urn:microsoft.com/office/officeart/2005/8/layout/vList2"/>
    <dgm:cxn modelId="{83F96F77-1304-406F-B044-FDA6F253D8EA}" type="presParOf" srcId="{BB89F849-78B2-43DF-933A-2353D297DD5D}" destId="{F241338E-DAFB-437E-BAC6-556E992CF66B}" srcOrd="12" destOrd="0" presId="urn:microsoft.com/office/officeart/2005/8/layout/vList2"/>
    <dgm:cxn modelId="{89070E65-CB06-46BC-8828-A6A194CFD53B}" type="presParOf" srcId="{BB89F849-78B2-43DF-933A-2353D297DD5D}" destId="{99D02E02-2418-40A3-B359-C1BC5D14D341}" srcOrd="13" destOrd="0" presId="urn:microsoft.com/office/officeart/2005/8/layout/vList2"/>
    <dgm:cxn modelId="{0EA99179-2EB5-4B06-AD79-2011946C006C}" type="presParOf" srcId="{BB89F849-78B2-43DF-933A-2353D297DD5D}" destId="{1FDD8F32-99D9-4BBE-AF0A-DA191E5D1B76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D05CF17-EFD1-4CB7-B633-3BFB5E6F1D40}" type="doc">
      <dgm:prSet loTypeId="urn:microsoft.com/office/officeart/2008/layout/AlternatingHexagons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637B7BD1-6FE4-4F79-B085-330B55BDE317}">
      <dgm:prSet phldrT="[Texte]"/>
      <dgm:spPr/>
      <dgm:t>
        <a:bodyPr/>
        <a:lstStyle/>
        <a:p>
          <a:pPr algn="ctr"/>
          <a:r>
            <a:rPr lang="fr-FR" b="1" dirty="0"/>
            <a:t>CONTEXTE</a:t>
          </a:r>
        </a:p>
      </dgm:t>
    </dgm:pt>
    <dgm:pt modelId="{58F8FECE-2B90-4CC8-994A-71D18C28288E}" type="parTrans" cxnId="{DE039029-7054-4681-8A74-F981C9FC437A}">
      <dgm:prSet/>
      <dgm:spPr/>
      <dgm:t>
        <a:bodyPr/>
        <a:lstStyle/>
        <a:p>
          <a:endParaRPr lang="fr-FR"/>
        </a:p>
      </dgm:t>
    </dgm:pt>
    <dgm:pt modelId="{BAAAB516-174F-4396-83ED-099C68A09F32}" type="sibTrans" cxnId="{DE039029-7054-4681-8A74-F981C9FC437A}">
      <dgm:prSet/>
      <dgm:spPr>
        <a:solidFill>
          <a:srgbClr val="FFC000"/>
        </a:solidFill>
      </dgm:spPr>
      <dgm:t>
        <a:bodyPr/>
        <a:lstStyle/>
        <a:p>
          <a:endParaRPr lang="fr-FR"/>
        </a:p>
      </dgm:t>
    </dgm:pt>
    <dgm:pt modelId="{AC29BA73-9A8E-4DD8-9338-B4E11418CE49}">
      <dgm:prSet phldrT="[Texte]" phldr="0"/>
      <dgm:spPr>
        <a:solidFill>
          <a:srgbClr val="00B050"/>
        </a:solidFill>
      </dgm:spPr>
      <dgm:t>
        <a:bodyPr/>
        <a:lstStyle/>
        <a:p>
          <a:pPr algn="ctr"/>
          <a:r>
            <a:rPr lang="fr-FR" b="1" dirty="0"/>
            <a:t>OBJECTIF</a:t>
          </a:r>
        </a:p>
      </dgm:t>
    </dgm:pt>
    <dgm:pt modelId="{0A28FCE7-3469-46D1-A8A0-DD116B553255}" type="parTrans" cxnId="{49E9F931-B205-4748-BCDB-FF1BB41F94FE}">
      <dgm:prSet/>
      <dgm:spPr/>
      <dgm:t>
        <a:bodyPr/>
        <a:lstStyle/>
        <a:p>
          <a:endParaRPr lang="fr-FR"/>
        </a:p>
      </dgm:t>
    </dgm:pt>
    <dgm:pt modelId="{536F5F02-EADD-4809-AD98-9B2EB9A00C9A}" type="sibTrans" cxnId="{49E9F931-B205-4748-BCDB-FF1BB41F94FE}">
      <dgm:prSet/>
      <dgm:spPr>
        <a:solidFill>
          <a:srgbClr val="FF9900"/>
        </a:solidFill>
      </dgm:spPr>
      <dgm:t>
        <a:bodyPr/>
        <a:lstStyle/>
        <a:p>
          <a:endParaRPr lang="fr-FR"/>
        </a:p>
      </dgm:t>
    </dgm:pt>
    <dgm:pt modelId="{DDD1A813-A5E6-4960-B20A-DEC5A896AAA8}">
      <dgm:prSet phldrT="[Texte]" custT="1"/>
      <dgm:spPr/>
      <dgm:t>
        <a:bodyPr/>
        <a:lstStyle/>
        <a:p>
          <a:pPr algn="l"/>
          <a:r>
            <a:rPr lang="fr-FR" sz="1600" b="1" kern="1200" dirty="0"/>
            <a:t>L’entreprise </a:t>
          </a:r>
          <a:r>
            <a:rPr lang="fr-FR" sz="1600" b="1" kern="1200" dirty="0" err="1"/>
            <a:t>GreenCoop</a:t>
          </a:r>
          <a:r>
            <a:rPr lang="fr-FR" sz="1600" b="1" kern="1200" dirty="0"/>
            <a:t> est un fournisseur coopératif français d’électricité d’origine renouvelable dans les Hauts-de-France. </a:t>
          </a:r>
          <a:r>
            <a:rPr lang="fr-FR" sz="1600" b="1" i="0" kern="1200" dirty="0"/>
            <a:t>Les Data Scientists veulent enrichir leurs modèles de prévisions météo avec des données de stations officielles et semi-professionnelles.</a:t>
          </a:r>
          <a:endParaRPr lang="fr-FR" sz="1600" b="1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Franklin Gothic Book" panose="020B0502020104020203"/>
            <a:ea typeface="+mn-ea"/>
            <a:cs typeface="+mn-cs"/>
          </a:endParaRPr>
        </a:p>
      </dgm:t>
    </dgm:pt>
    <dgm:pt modelId="{78552606-3A5A-44B2-A4F5-0D90125EC683}" type="parTrans" cxnId="{BE3AAC36-17EF-4FEF-B583-A73D20B3390A}">
      <dgm:prSet/>
      <dgm:spPr/>
      <dgm:t>
        <a:bodyPr/>
        <a:lstStyle/>
        <a:p>
          <a:endParaRPr lang="fr-FR"/>
        </a:p>
      </dgm:t>
    </dgm:pt>
    <dgm:pt modelId="{76993FA3-4444-4186-8121-5D37EFD900AC}" type="sibTrans" cxnId="{BE3AAC36-17EF-4FEF-B583-A73D20B3390A}">
      <dgm:prSet/>
      <dgm:spPr/>
      <dgm:t>
        <a:bodyPr/>
        <a:lstStyle/>
        <a:p>
          <a:endParaRPr lang="fr-FR"/>
        </a:p>
      </dgm:t>
    </dgm:pt>
    <dgm:pt modelId="{CFF3B573-BAC6-426A-BDAA-76B161A76E5A}">
      <dgm:prSet phldrT="[Texte]" phldr="0"/>
      <dgm:spPr/>
      <dgm:t>
        <a:bodyPr/>
        <a:lstStyle/>
        <a:p>
          <a:pPr algn="l"/>
          <a:r>
            <a:rPr lang="fr-FR" b="1" i="0" dirty="0"/>
            <a:t>Ingérer des formats hétérogènes</a:t>
          </a:r>
          <a:br>
            <a:rPr lang="fr-FR" b="1" i="0" dirty="0"/>
          </a:br>
          <a:r>
            <a:rPr lang="fr-FR" b="1" i="0" dirty="0"/>
            <a:t>Conserver les données brutes</a:t>
          </a:r>
          <a:br>
            <a:rPr lang="fr-FR" b="1" i="0" dirty="0"/>
          </a:br>
          <a:r>
            <a:rPr lang="fr-FR" b="1" i="0" dirty="0"/>
            <a:t>Transformer dans PostgreSQL avec DBT</a:t>
          </a:r>
          <a:br>
            <a:rPr lang="fr-FR" b="1" i="0" dirty="0"/>
          </a:br>
          <a:r>
            <a:rPr lang="fr-FR" b="1" i="0" dirty="0"/>
            <a:t>Tester et documenter</a:t>
          </a:r>
          <a:br>
            <a:rPr lang="fr-FR" b="1" i="0" dirty="0"/>
          </a:br>
          <a:r>
            <a:rPr lang="fr-FR" b="1" i="0" dirty="0"/>
            <a:t>Rendre les données accessibles au ML</a:t>
          </a:r>
          <a:endParaRPr lang="fr-FR" b="1" dirty="0"/>
        </a:p>
      </dgm:t>
    </dgm:pt>
    <dgm:pt modelId="{F9B79AD1-50FF-414D-81B9-1B2CD8ABBD6E}" type="parTrans" cxnId="{E2D4328E-E76D-400A-B9C5-C1B03247293D}">
      <dgm:prSet/>
      <dgm:spPr/>
      <dgm:t>
        <a:bodyPr/>
        <a:lstStyle/>
        <a:p>
          <a:endParaRPr lang="fr-FR"/>
        </a:p>
      </dgm:t>
    </dgm:pt>
    <dgm:pt modelId="{7CCFC6D4-D5BB-46DE-B5DF-430E1A748403}" type="sibTrans" cxnId="{E2D4328E-E76D-400A-B9C5-C1B03247293D}">
      <dgm:prSet/>
      <dgm:spPr/>
      <dgm:t>
        <a:bodyPr/>
        <a:lstStyle/>
        <a:p>
          <a:endParaRPr lang="fr-FR"/>
        </a:p>
      </dgm:t>
    </dgm:pt>
    <dgm:pt modelId="{70E376D1-A4CD-42B5-93F4-3F937F8760F9}" type="pres">
      <dgm:prSet presAssocID="{8D05CF17-EFD1-4CB7-B633-3BFB5E6F1D40}" presName="Name0" presStyleCnt="0">
        <dgm:presLayoutVars>
          <dgm:chMax/>
          <dgm:chPref/>
          <dgm:dir/>
          <dgm:animLvl val="lvl"/>
        </dgm:presLayoutVars>
      </dgm:prSet>
      <dgm:spPr/>
    </dgm:pt>
    <dgm:pt modelId="{DAB1C598-7380-4205-A199-304DB9D9AA18}" type="pres">
      <dgm:prSet presAssocID="{637B7BD1-6FE4-4F79-B085-330B55BDE317}" presName="composite" presStyleCnt="0"/>
      <dgm:spPr/>
    </dgm:pt>
    <dgm:pt modelId="{56A13A4E-84D7-4D91-BEDB-90F24C5C496A}" type="pres">
      <dgm:prSet presAssocID="{637B7BD1-6FE4-4F79-B085-330B55BDE317}" presName="Parent1" presStyleLbl="node1" presStyleIdx="0" presStyleCnt="4">
        <dgm:presLayoutVars>
          <dgm:chMax val="1"/>
          <dgm:chPref val="1"/>
          <dgm:bulletEnabled val="1"/>
        </dgm:presLayoutVars>
      </dgm:prSet>
      <dgm:spPr/>
    </dgm:pt>
    <dgm:pt modelId="{9B056C53-7419-4F9C-91E4-BA19F0141D87}" type="pres">
      <dgm:prSet presAssocID="{637B7BD1-6FE4-4F79-B085-330B55BDE317}" presName="Childtext1" presStyleLbl="revTx" presStyleIdx="0" presStyleCnt="2">
        <dgm:presLayoutVars>
          <dgm:chMax val="0"/>
          <dgm:chPref val="0"/>
          <dgm:bulletEnabled val="1"/>
        </dgm:presLayoutVars>
      </dgm:prSet>
      <dgm:spPr/>
    </dgm:pt>
    <dgm:pt modelId="{6F53C1AC-6895-430E-BA0D-360B017D4D9E}" type="pres">
      <dgm:prSet presAssocID="{637B7BD1-6FE4-4F79-B085-330B55BDE317}" presName="BalanceSpacing" presStyleCnt="0"/>
      <dgm:spPr/>
    </dgm:pt>
    <dgm:pt modelId="{EDA89EB7-457B-4BA5-82D3-E999EDF663ED}" type="pres">
      <dgm:prSet presAssocID="{637B7BD1-6FE4-4F79-B085-330B55BDE317}" presName="BalanceSpacing1" presStyleCnt="0"/>
      <dgm:spPr/>
    </dgm:pt>
    <dgm:pt modelId="{6999D6AC-DDB9-4FD7-AFBB-DD7E27F8F5BE}" type="pres">
      <dgm:prSet presAssocID="{BAAAB516-174F-4396-83ED-099C68A09F32}" presName="Accent1Text" presStyleLbl="node1" presStyleIdx="1" presStyleCnt="4"/>
      <dgm:spPr/>
    </dgm:pt>
    <dgm:pt modelId="{12C40042-6A22-4C0C-8624-51D90A259334}" type="pres">
      <dgm:prSet presAssocID="{BAAAB516-174F-4396-83ED-099C68A09F32}" presName="spaceBetweenRectangles" presStyleCnt="0"/>
      <dgm:spPr/>
    </dgm:pt>
    <dgm:pt modelId="{E18AD5E0-511D-4DD1-9F6C-A3FEB4015259}" type="pres">
      <dgm:prSet presAssocID="{AC29BA73-9A8E-4DD8-9338-B4E11418CE49}" presName="composite" presStyleCnt="0"/>
      <dgm:spPr/>
    </dgm:pt>
    <dgm:pt modelId="{DC18BF4A-2A0F-46C3-B95A-6DD9B50BD378}" type="pres">
      <dgm:prSet presAssocID="{AC29BA73-9A8E-4DD8-9338-B4E11418CE49}" presName="Parent1" presStyleLbl="node1" presStyleIdx="2" presStyleCnt="4">
        <dgm:presLayoutVars>
          <dgm:chMax val="1"/>
          <dgm:chPref val="1"/>
          <dgm:bulletEnabled val="1"/>
        </dgm:presLayoutVars>
      </dgm:prSet>
      <dgm:spPr/>
    </dgm:pt>
    <dgm:pt modelId="{1248949E-B79E-4EED-9628-C52D6386C977}" type="pres">
      <dgm:prSet presAssocID="{AC29BA73-9A8E-4DD8-9338-B4E11418CE49}" presName="Childtext1" presStyleLbl="revTx" presStyleIdx="1" presStyleCnt="2">
        <dgm:presLayoutVars>
          <dgm:chMax val="0"/>
          <dgm:chPref val="0"/>
          <dgm:bulletEnabled val="1"/>
        </dgm:presLayoutVars>
      </dgm:prSet>
      <dgm:spPr/>
    </dgm:pt>
    <dgm:pt modelId="{04B8B441-F20F-4D86-A38D-6BFFF682C23B}" type="pres">
      <dgm:prSet presAssocID="{AC29BA73-9A8E-4DD8-9338-B4E11418CE49}" presName="BalanceSpacing" presStyleCnt="0"/>
      <dgm:spPr/>
    </dgm:pt>
    <dgm:pt modelId="{DFF4F660-0F2C-47B9-9BDF-2EA18224B174}" type="pres">
      <dgm:prSet presAssocID="{AC29BA73-9A8E-4DD8-9338-B4E11418CE49}" presName="BalanceSpacing1" presStyleCnt="0"/>
      <dgm:spPr/>
    </dgm:pt>
    <dgm:pt modelId="{50931873-200F-47FE-9D6F-FC2A93EFCE66}" type="pres">
      <dgm:prSet presAssocID="{536F5F02-EADD-4809-AD98-9B2EB9A00C9A}" presName="Accent1Text" presStyleLbl="node1" presStyleIdx="3" presStyleCnt="4"/>
      <dgm:spPr/>
    </dgm:pt>
  </dgm:ptLst>
  <dgm:cxnLst>
    <dgm:cxn modelId="{DC623A0E-398D-42CD-B596-7E8E6292A830}" type="presOf" srcId="{DDD1A813-A5E6-4960-B20A-DEC5A896AAA8}" destId="{9B056C53-7419-4F9C-91E4-BA19F0141D87}" srcOrd="0" destOrd="0" presId="urn:microsoft.com/office/officeart/2008/layout/AlternatingHexagons"/>
    <dgm:cxn modelId="{DE039029-7054-4681-8A74-F981C9FC437A}" srcId="{8D05CF17-EFD1-4CB7-B633-3BFB5E6F1D40}" destId="{637B7BD1-6FE4-4F79-B085-330B55BDE317}" srcOrd="0" destOrd="0" parTransId="{58F8FECE-2B90-4CC8-994A-71D18C28288E}" sibTransId="{BAAAB516-174F-4396-83ED-099C68A09F32}"/>
    <dgm:cxn modelId="{49E9F931-B205-4748-BCDB-FF1BB41F94FE}" srcId="{8D05CF17-EFD1-4CB7-B633-3BFB5E6F1D40}" destId="{AC29BA73-9A8E-4DD8-9338-B4E11418CE49}" srcOrd="1" destOrd="0" parTransId="{0A28FCE7-3469-46D1-A8A0-DD116B553255}" sibTransId="{536F5F02-EADD-4809-AD98-9B2EB9A00C9A}"/>
    <dgm:cxn modelId="{BE3AAC36-17EF-4FEF-B583-A73D20B3390A}" srcId="{637B7BD1-6FE4-4F79-B085-330B55BDE317}" destId="{DDD1A813-A5E6-4960-B20A-DEC5A896AAA8}" srcOrd="0" destOrd="0" parTransId="{78552606-3A5A-44B2-A4F5-0D90125EC683}" sibTransId="{76993FA3-4444-4186-8121-5D37EFD900AC}"/>
    <dgm:cxn modelId="{D0B4197E-38F3-4303-8784-0C02C3140386}" type="presOf" srcId="{536F5F02-EADD-4809-AD98-9B2EB9A00C9A}" destId="{50931873-200F-47FE-9D6F-FC2A93EFCE66}" srcOrd="0" destOrd="0" presId="urn:microsoft.com/office/officeart/2008/layout/AlternatingHexagons"/>
    <dgm:cxn modelId="{E2D4328E-E76D-400A-B9C5-C1B03247293D}" srcId="{AC29BA73-9A8E-4DD8-9338-B4E11418CE49}" destId="{CFF3B573-BAC6-426A-BDAA-76B161A76E5A}" srcOrd="0" destOrd="0" parTransId="{F9B79AD1-50FF-414D-81B9-1B2CD8ABBD6E}" sibTransId="{7CCFC6D4-D5BB-46DE-B5DF-430E1A748403}"/>
    <dgm:cxn modelId="{C77D5FBE-FA3C-4F5D-A191-76D54E9BC433}" type="presOf" srcId="{8D05CF17-EFD1-4CB7-B633-3BFB5E6F1D40}" destId="{70E376D1-A4CD-42B5-93F4-3F937F8760F9}" srcOrd="0" destOrd="0" presId="urn:microsoft.com/office/officeart/2008/layout/AlternatingHexagons"/>
    <dgm:cxn modelId="{D09DC1D5-0FBB-42FC-ADB6-D55D62E31B30}" type="presOf" srcId="{CFF3B573-BAC6-426A-BDAA-76B161A76E5A}" destId="{1248949E-B79E-4EED-9628-C52D6386C977}" srcOrd="0" destOrd="0" presId="urn:microsoft.com/office/officeart/2008/layout/AlternatingHexagons"/>
    <dgm:cxn modelId="{503D3EF4-7711-4570-B979-4C2F3FCCD613}" type="presOf" srcId="{BAAAB516-174F-4396-83ED-099C68A09F32}" destId="{6999D6AC-DDB9-4FD7-AFBB-DD7E27F8F5BE}" srcOrd="0" destOrd="0" presId="urn:microsoft.com/office/officeart/2008/layout/AlternatingHexagons"/>
    <dgm:cxn modelId="{91F6B2FF-BFC6-4DBE-AEF5-D9B36F7F5950}" type="presOf" srcId="{637B7BD1-6FE4-4F79-B085-330B55BDE317}" destId="{56A13A4E-84D7-4D91-BEDB-90F24C5C496A}" srcOrd="0" destOrd="0" presId="urn:microsoft.com/office/officeart/2008/layout/AlternatingHexagons"/>
    <dgm:cxn modelId="{14DBFBFF-624D-4700-AD81-7FBDA7141C78}" type="presOf" srcId="{AC29BA73-9A8E-4DD8-9338-B4E11418CE49}" destId="{DC18BF4A-2A0F-46C3-B95A-6DD9B50BD378}" srcOrd="0" destOrd="0" presId="urn:microsoft.com/office/officeart/2008/layout/AlternatingHexagons"/>
    <dgm:cxn modelId="{0E6669B4-3C05-48BC-A166-2D79458D7DA4}" type="presParOf" srcId="{70E376D1-A4CD-42B5-93F4-3F937F8760F9}" destId="{DAB1C598-7380-4205-A199-304DB9D9AA18}" srcOrd="0" destOrd="0" presId="urn:microsoft.com/office/officeart/2008/layout/AlternatingHexagons"/>
    <dgm:cxn modelId="{9A12199C-B1C9-4AC1-8883-0EF640B172BF}" type="presParOf" srcId="{DAB1C598-7380-4205-A199-304DB9D9AA18}" destId="{56A13A4E-84D7-4D91-BEDB-90F24C5C496A}" srcOrd="0" destOrd="0" presId="urn:microsoft.com/office/officeart/2008/layout/AlternatingHexagons"/>
    <dgm:cxn modelId="{22B74AE0-75F9-4FD2-8BF3-B9A7DA0E0F6F}" type="presParOf" srcId="{DAB1C598-7380-4205-A199-304DB9D9AA18}" destId="{9B056C53-7419-4F9C-91E4-BA19F0141D87}" srcOrd="1" destOrd="0" presId="urn:microsoft.com/office/officeart/2008/layout/AlternatingHexagons"/>
    <dgm:cxn modelId="{FD829948-16CB-49E9-9A04-F11162A84B62}" type="presParOf" srcId="{DAB1C598-7380-4205-A199-304DB9D9AA18}" destId="{6F53C1AC-6895-430E-BA0D-360B017D4D9E}" srcOrd="2" destOrd="0" presId="urn:microsoft.com/office/officeart/2008/layout/AlternatingHexagons"/>
    <dgm:cxn modelId="{F61CFB38-A64A-4445-AA0A-0CC7AA08792D}" type="presParOf" srcId="{DAB1C598-7380-4205-A199-304DB9D9AA18}" destId="{EDA89EB7-457B-4BA5-82D3-E999EDF663ED}" srcOrd="3" destOrd="0" presId="urn:microsoft.com/office/officeart/2008/layout/AlternatingHexagons"/>
    <dgm:cxn modelId="{A0C28BE9-3495-4121-833D-21DC062C9D6C}" type="presParOf" srcId="{DAB1C598-7380-4205-A199-304DB9D9AA18}" destId="{6999D6AC-DDB9-4FD7-AFBB-DD7E27F8F5BE}" srcOrd="4" destOrd="0" presId="urn:microsoft.com/office/officeart/2008/layout/AlternatingHexagons"/>
    <dgm:cxn modelId="{79259858-C7AE-42B5-8EFB-CD3C1697AA9E}" type="presParOf" srcId="{70E376D1-A4CD-42B5-93F4-3F937F8760F9}" destId="{12C40042-6A22-4C0C-8624-51D90A259334}" srcOrd="1" destOrd="0" presId="urn:microsoft.com/office/officeart/2008/layout/AlternatingHexagons"/>
    <dgm:cxn modelId="{8E11024F-AD1D-41E1-A907-6A80C35C9BF0}" type="presParOf" srcId="{70E376D1-A4CD-42B5-93F4-3F937F8760F9}" destId="{E18AD5E0-511D-4DD1-9F6C-A3FEB4015259}" srcOrd="2" destOrd="0" presId="urn:microsoft.com/office/officeart/2008/layout/AlternatingHexagons"/>
    <dgm:cxn modelId="{0A7C8B23-2275-4A7B-8F9D-C13655D6F0CF}" type="presParOf" srcId="{E18AD5E0-511D-4DD1-9F6C-A3FEB4015259}" destId="{DC18BF4A-2A0F-46C3-B95A-6DD9B50BD378}" srcOrd="0" destOrd="0" presId="urn:microsoft.com/office/officeart/2008/layout/AlternatingHexagons"/>
    <dgm:cxn modelId="{3E688AF3-8FE0-4E88-B67B-C656EEADC0E7}" type="presParOf" srcId="{E18AD5E0-511D-4DD1-9F6C-A3FEB4015259}" destId="{1248949E-B79E-4EED-9628-C52D6386C977}" srcOrd="1" destOrd="0" presId="urn:microsoft.com/office/officeart/2008/layout/AlternatingHexagons"/>
    <dgm:cxn modelId="{22FE1075-5BFB-461D-8167-A87972DDC0C4}" type="presParOf" srcId="{E18AD5E0-511D-4DD1-9F6C-A3FEB4015259}" destId="{04B8B441-F20F-4D86-A38D-6BFFF682C23B}" srcOrd="2" destOrd="0" presId="urn:microsoft.com/office/officeart/2008/layout/AlternatingHexagons"/>
    <dgm:cxn modelId="{313F630A-6343-46BC-BE06-2F90BC97D0FB}" type="presParOf" srcId="{E18AD5E0-511D-4DD1-9F6C-A3FEB4015259}" destId="{DFF4F660-0F2C-47B9-9BDF-2EA18224B174}" srcOrd="3" destOrd="0" presId="urn:microsoft.com/office/officeart/2008/layout/AlternatingHexagons"/>
    <dgm:cxn modelId="{455D0DEA-5E93-4BB9-B426-06DF78477668}" type="presParOf" srcId="{E18AD5E0-511D-4DD1-9F6C-A3FEB4015259}" destId="{50931873-200F-47FE-9D6F-FC2A93EFCE66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92269C-473B-4581-93AF-AD006B94C36C}">
      <dsp:nvSpPr>
        <dsp:cNvPr id="0" name=""/>
        <dsp:cNvSpPr/>
      </dsp:nvSpPr>
      <dsp:spPr>
        <a:xfrm>
          <a:off x="0" y="70793"/>
          <a:ext cx="11348215" cy="52474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1- Contexte &amp; Objectif</a:t>
          </a:r>
        </a:p>
      </dsp:txBody>
      <dsp:txXfrm>
        <a:off x="25616" y="96409"/>
        <a:ext cx="11296983" cy="473513"/>
      </dsp:txXfrm>
    </dsp:sp>
    <dsp:sp modelId="{90650EEF-1F9D-463E-A867-D4AB9F2E38B6}">
      <dsp:nvSpPr>
        <dsp:cNvPr id="0" name=""/>
        <dsp:cNvSpPr/>
      </dsp:nvSpPr>
      <dsp:spPr>
        <a:xfrm>
          <a:off x="0" y="661778"/>
          <a:ext cx="11348215" cy="52474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b="0" kern="1200" dirty="0"/>
            <a:t>2- Importation des données</a:t>
          </a:r>
        </a:p>
      </dsp:txBody>
      <dsp:txXfrm>
        <a:off x="25616" y="687394"/>
        <a:ext cx="11296983" cy="473513"/>
      </dsp:txXfrm>
    </dsp:sp>
    <dsp:sp modelId="{C0F2F60F-49A7-486C-BA84-7742A146D8C7}">
      <dsp:nvSpPr>
        <dsp:cNvPr id="0" name=""/>
        <dsp:cNvSpPr/>
      </dsp:nvSpPr>
      <dsp:spPr>
        <a:xfrm>
          <a:off x="0" y="1252764"/>
          <a:ext cx="11348215" cy="52474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3- Compréhension des données</a:t>
          </a:r>
        </a:p>
      </dsp:txBody>
      <dsp:txXfrm>
        <a:off x="25616" y="1278380"/>
        <a:ext cx="11296983" cy="473513"/>
      </dsp:txXfrm>
    </dsp:sp>
    <dsp:sp modelId="{188E501D-B60D-4714-8E70-1CD5D6D0CD0B}">
      <dsp:nvSpPr>
        <dsp:cNvPr id="0" name=""/>
        <dsp:cNvSpPr/>
      </dsp:nvSpPr>
      <dsp:spPr>
        <a:xfrm>
          <a:off x="0" y="1843749"/>
          <a:ext cx="11348215" cy="524745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4- Les requêtes et leurs résultats</a:t>
          </a:r>
        </a:p>
      </dsp:txBody>
      <dsp:txXfrm>
        <a:off x="25616" y="1869365"/>
        <a:ext cx="11296983" cy="473513"/>
      </dsp:txXfrm>
    </dsp:sp>
    <dsp:sp modelId="{DF10A574-F3D9-4FC2-A6EE-E7E8311CF638}">
      <dsp:nvSpPr>
        <dsp:cNvPr id="0" name=""/>
        <dsp:cNvSpPr/>
      </dsp:nvSpPr>
      <dsp:spPr>
        <a:xfrm>
          <a:off x="0" y="2434734"/>
          <a:ext cx="11348215" cy="52474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5- Connexion MongoDB à </a:t>
          </a:r>
          <a:r>
            <a:rPr lang="fr-FR" sz="2300" kern="1200" dirty="0" err="1"/>
            <a:t>PowerBI</a:t>
          </a:r>
          <a:endParaRPr lang="fr-FR" sz="2300" kern="1200" dirty="0"/>
        </a:p>
      </dsp:txBody>
      <dsp:txXfrm>
        <a:off x="25616" y="2460350"/>
        <a:ext cx="11296983" cy="473513"/>
      </dsp:txXfrm>
    </dsp:sp>
    <dsp:sp modelId="{9F5EF941-1609-4E21-A343-705F89535533}">
      <dsp:nvSpPr>
        <dsp:cNvPr id="0" name=""/>
        <dsp:cNvSpPr/>
      </dsp:nvSpPr>
      <dsp:spPr>
        <a:xfrm>
          <a:off x="0" y="3025719"/>
          <a:ext cx="11348215" cy="52474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6- Intégration données de Lyon</a:t>
          </a:r>
        </a:p>
      </dsp:txBody>
      <dsp:txXfrm>
        <a:off x="25616" y="3051335"/>
        <a:ext cx="11296983" cy="473513"/>
      </dsp:txXfrm>
    </dsp:sp>
    <dsp:sp modelId="{F241338E-DAFB-437E-BAC6-556E992CF66B}">
      <dsp:nvSpPr>
        <dsp:cNvPr id="0" name=""/>
        <dsp:cNvSpPr/>
      </dsp:nvSpPr>
      <dsp:spPr>
        <a:xfrm>
          <a:off x="0" y="3616704"/>
          <a:ext cx="11348215" cy="52474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7- Réplication des données</a:t>
          </a:r>
        </a:p>
      </dsp:txBody>
      <dsp:txXfrm>
        <a:off x="25616" y="3642320"/>
        <a:ext cx="11296983" cy="473513"/>
      </dsp:txXfrm>
    </dsp:sp>
    <dsp:sp modelId="{1FDD8F32-99D9-4BBE-AF0A-DA191E5D1B76}">
      <dsp:nvSpPr>
        <dsp:cNvPr id="0" name=""/>
        <dsp:cNvSpPr/>
      </dsp:nvSpPr>
      <dsp:spPr>
        <a:xfrm>
          <a:off x="0" y="4207689"/>
          <a:ext cx="11348215" cy="52474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/>
            <a:t>8- Duplication des données</a:t>
          </a:r>
          <a:endParaRPr lang="fr-FR" sz="2300" kern="1200" dirty="0"/>
        </a:p>
      </dsp:txBody>
      <dsp:txXfrm>
        <a:off x="25616" y="4233305"/>
        <a:ext cx="11296983" cy="47351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A13A4E-84D7-4D91-BEDB-90F24C5C496A}">
      <dsp:nvSpPr>
        <dsp:cNvPr id="0" name=""/>
        <dsp:cNvSpPr/>
      </dsp:nvSpPr>
      <dsp:spPr>
        <a:xfrm rot="5400000">
          <a:off x="4020074" y="1229516"/>
          <a:ext cx="2637221" cy="2294382"/>
        </a:xfrm>
        <a:prstGeom prst="hexagon">
          <a:avLst>
            <a:gd name="adj" fmla="val 25000"/>
            <a:gd name="vf" fmla="val 11547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dirty="0"/>
            <a:t>CONTEXTE</a:t>
          </a:r>
        </a:p>
      </dsp:txBody>
      <dsp:txXfrm rot="-5400000">
        <a:off x="4549034" y="1469064"/>
        <a:ext cx="1579300" cy="1815287"/>
      </dsp:txXfrm>
    </dsp:sp>
    <dsp:sp modelId="{9B056C53-7419-4F9C-91E4-BA19F0141D87}">
      <dsp:nvSpPr>
        <dsp:cNvPr id="0" name=""/>
        <dsp:cNvSpPr/>
      </dsp:nvSpPr>
      <dsp:spPr>
        <a:xfrm>
          <a:off x="6555499" y="1585541"/>
          <a:ext cx="2943139" cy="1582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/>
            <a:t>L’entreprise </a:t>
          </a:r>
          <a:r>
            <a:rPr lang="fr-FR" sz="1600" b="1" kern="1200" dirty="0" err="1"/>
            <a:t>GreenCoop</a:t>
          </a:r>
          <a:r>
            <a:rPr lang="fr-FR" sz="1600" b="1" kern="1200" dirty="0"/>
            <a:t> est un fournisseur coopératif français d’électricité d’origine renouvelable dans les Hauts-de-France. </a:t>
          </a:r>
          <a:r>
            <a:rPr lang="fr-FR" sz="1600" b="1" i="0" kern="1200" dirty="0"/>
            <a:t>Les Data Scientists veulent enrichir leurs modèles de prévisions météo avec des données de stations officielles et semi-professionnelles.</a:t>
          </a:r>
          <a:endParaRPr lang="fr-FR" sz="1600" b="1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Franklin Gothic Book" panose="020B0502020104020203"/>
            <a:ea typeface="+mn-ea"/>
            <a:cs typeface="+mn-cs"/>
          </a:endParaRPr>
        </a:p>
      </dsp:txBody>
      <dsp:txXfrm>
        <a:off x="6555499" y="1585541"/>
        <a:ext cx="2943139" cy="1582333"/>
      </dsp:txXfrm>
    </dsp:sp>
    <dsp:sp modelId="{6999D6AC-DDB9-4FD7-AFBB-DD7E27F8F5BE}">
      <dsp:nvSpPr>
        <dsp:cNvPr id="0" name=""/>
        <dsp:cNvSpPr/>
      </dsp:nvSpPr>
      <dsp:spPr>
        <a:xfrm rot="5400000">
          <a:off x="1542140" y="1229516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FFC00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600" kern="1200"/>
        </a:p>
      </dsp:txBody>
      <dsp:txXfrm rot="-5400000">
        <a:off x="2071100" y="1469064"/>
        <a:ext cx="1579300" cy="1815287"/>
      </dsp:txXfrm>
    </dsp:sp>
    <dsp:sp modelId="{DC18BF4A-2A0F-46C3-B95A-6DD9B50BD378}">
      <dsp:nvSpPr>
        <dsp:cNvPr id="0" name=""/>
        <dsp:cNvSpPr/>
      </dsp:nvSpPr>
      <dsp:spPr>
        <a:xfrm rot="5400000">
          <a:off x="2776360" y="3467989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00B05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dirty="0"/>
            <a:t>OBJECTIF</a:t>
          </a:r>
        </a:p>
      </dsp:txBody>
      <dsp:txXfrm rot="-5400000">
        <a:off x="3305320" y="3707537"/>
        <a:ext cx="1579300" cy="1815287"/>
      </dsp:txXfrm>
    </dsp:sp>
    <dsp:sp modelId="{1248949E-B79E-4EED-9628-C52D6386C977}">
      <dsp:nvSpPr>
        <dsp:cNvPr id="0" name=""/>
        <dsp:cNvSpPr/>
      </dsp:nvSpPr>
      <dsp:spPr>
        <a:xfrm>
          <a:off x="4640" y="3824014"/>
          <a:ext cx="2848199" cy="1582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b="1" i="0" kern="1200" dirty="0"/>
            <a:t>Ingérer des formats hétérogènes</a:t>
          </a:r>
          <a:br>
            <a:rPr lang="fr-FR" sz="1500" b="1" i="0" kern="1200" dirty="0"/>
          </a:br>
          <a:r>
            <a:rPr lang="fr-FR" sz="1500" b="1" i="0" kern="1200" dirty="0"/>
            <a:t>Conserver les données brutes</a:t>
          </a:r>
          <a:br>
            <a:rPr lang="fr-FR" sz="1500" b="1" i="0" kern="1200" dirty="0"/>
          </a:br>
          <a:r>
            <a:rPr lang="fr-FR" sz="1500" b="1" i="0" kern="1200" dirty="0"/>
            <a:t>Transformer dans PostgreSQL avec DBT</a:t>
          </a:r>
          <a:br>
            <a:rPr lang="fr-FR" sz="1500" b="1" i="0" kern="1200" dirty="0"/>
          </a:br>
          <a:r>
            <a:rPr lang="fr-FR" sz="1500" b="1" i="0" kern="1200" dirty="0"/>
            <a:t>Tester et documenter</a:t>
          </a:r>
          <a:br>
            <a:rPr lang="fr-FR" sz="1500" b="1" i="0" kern="1200" dirty="0"/>
          </a:br>
          <a:r>
            <a:rPr lang="fr-FR" sz="1500" b="1" i="0" kern="1200" dirty="0"/>
            <a:t>Rendre les données accessibles au ML</a:t>
          </a:r>
          <a:endParaRPr lang="fr-FR" sz="1500" b="1" kern="1200" dirty="0"/>
        </a:p>
      </dsp:txBody>
      <dsp:txXfrm>
        <a:off x="4640" y="3824014"/>
        <a:ext cx="2848199" cy="1582333"/>
      </dsp:txXfrm>
    </dsp:sp>
    <dsp:sp modelId="{50931873-200F-47FE-9D6F-FC2A93EFCE66}">
      <dsp:nvSpPr>
        <dsp:cNvPr id="0" name=""/>
        <dsp:cNvSpPr/>
      </dsp:nvSpPr>
      <dsp:spPr>
        <a:xfrm rot="5400000">
          <a:off x="5254293" y="3467989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FF990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600" kern="1200"/>
        </a:p>
      </dsp:txBody>
      <dsp:txXfrm rot="-5400000">
        <a:off x="5783253" y="3707537"/>
        <a:ext cx="1579300" cy="18152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FC74BDE-6627-49B6-90F1-0334E723F64C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28DAF60-E56A-4648-8936-22D801672B6C}" type="datetime1">
              <a:rPr lang="fr-FR" smtClean="0"/>
              <a:t>16/08/2026</a:t>
            </a:fld>
            <a:endParaRPr lang="en-US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  <a:endParaRPr lang="en-US"/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41DF6C-ECED-4BD8-8025-73323DD5D35C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2897033-9A55-4DAC-991D-1FF1921C78B7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1255F31-5DB3-4925-BA87-822F5B17A2F1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4EF44C-5F50-4A80-A957-57B3338337C0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2D0F46D-59FD-4484-924E-E79DD516B5ED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AEC910-4AAA-42A1-A49C-7DDC64BC53C6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CEC98BE-FCE2-445F-8146-3A7F8CC3881D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6D0953DD-A6BD-427D-B7A8-BDE378B2E678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E77B56-6788-4F40-A65E-12AFEB3AC095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E5B03D9-FC89-4784-BD60-336471BA7724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rtlCol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rtlCol="0" anchor="t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 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216CB3-B929-446C-876F-83C9B86D9FDE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a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E69A0D1A-B1A6-4A33-B3AE-513EF3B4A7E7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CONSTRUIRE ET TESTER UNE INFRASTRUCTURE DE DONNEES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534" y="2671524"/>
            <a:ext cx="10993546" cy="468233"/>
          </a:xfrm>
        </p:spPr>
        <p:txBody>
          <a:bodyPr rtlCol="0">
            <a:normAutofit fontScale="85000" lnSpcReduction="20000"/>
          </a:bodyPr>
          <a:lstStyle/>
          <a:p>
            <a:pPr rtl="0"/>
            <a:endParaRPr lang="fr" sz="900" dirty="0"/>
          </a:p>
          <a:p>
            <a:pPr rtl="0"/>
            <a:r>
              <a:rPr lang="fr" sz="1300" dirty="0"/>
              <a:t>SEBASTIEN ULESIE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6" name="Image 5" descr="Zoom sur un logo&#10;&#10;Description générée automatiquement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  <p:sp>
        <p:nvSpPr>
          <p:cNvPr id="9" name="Shape 5">
            <a:extLst>
              <a:ext uri="{FF2B5EF4-FFF2-40B4-BE49-F238E27FC236}">
                <a16:creationId xmlns:a16="http://schemas.microsoft.com/office/drawing/2014/main" id="{8906A09D-B10A-9A50-1CC7-7616EDB4E8D4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69A5CB0-EC5A-12ED-6B1D-F8B2213D4A8E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FFFFFF"/>
                </a:solidFill>
              </a:rPr>
              <a:t>Airbyte</a:t>
            </a:r>
            <a:endParaRPr lang="en-US" sz="12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F5101B1-43B4-333F-BF3E-755660DEE995}"/>
              </a:ext>
            </a:extLst>
          </p:cNvPr>
          <p:cNvSpPr/>
          <p:nvPr/>
        </p:nvSpPr>
        <p:spPr>
          <a:xfrm>
            <a:off x="37624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MongoDB</a:t>
            </a:r>
            <a:endParaRPr lang="en-US" sz="12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6CD8C8F-B0CC-67AC-347D-D164238EDFB1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496E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A0F1F9C-CF71-8CEF-2184-C9097D5932A9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PostgreSQL</a:t>
            </a:r>
            <a:endParaRPr lang="en-US" sz="12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D5411994-A2F5-1A64-4D0F-610038279EAD}"/>
              </a:ext>
            </a:extLst>
          </p:cNvPr>
          <p:cNvSpPr/>
          <p:nvPr/>
        </p:nvSpPr>
        <p:spPr>
          <a:xfrm>
            <a:off x="78772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Pytest</a:t>
            </a:r>
            <a:endParaRPr lang="en-US" sz="1200" dirty="0"/>
          </a:p>
        </p:txBody>
      </p:sp>
      <p:sp>
        <p:nvSpPr>
          <p:cNvPr id="5" name="Shape 11">
            <a:extLst>
              <a:ext uri="{FF2B5EF4-FFF2-40B4-BE49-F238E27FC236}">
                <a16:creationId xmlns:a16="http://schemas.microsoft.com/office/drawing/2014/main" id="{F4ABF44D-AF35-3FF3-5241-42BC10644812}"/>
              </a:ext>
            </a:extLst>
          </p:cNvPr>
          <p:cNvSpPr/>
          <p:nvPr/>
        </p:nvSpPr>
        <p:spPr>
          <a:xfrm>
            <a:off x="9911130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FFC000"/>
          </a:solidFill>
          <a:ln/>
        </p:spPr>
        <p:txBody>
          <a:bodyPr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AWS</a:t>
            </a:r>
          </a:p>
        </p:txBody>
      </p:sp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0581BB-D273-2748-59E2-5B1D678D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C0FBDBC2-024B-60B6-BEE4-9D4312913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8638535"/>
              </p:ext>
            </p:extLst>
          </p:nvPr>
        </p:nvGraphicFramePr>
        <p:xfrm>
          <a:off x="581192" y="1985811"/>
          <a:ext cx="11348216" cy="48032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B99B3D-02B8-72CA-5973-9E0DC630CA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4004857" cy="365125"/>
          </a:xfrm>
        </p:spPr>
        <p:txBody>
          <a:bodyPr/>
          <a:lstStyle/>
          <a:p>
            <a:pPr rtl="0"/>
            <a:fld id="{22897033-9A55-4DAC-991D-1FF1921C78B7}" type="datetime1">
              <a:rPr lang="fr-FR" smtClean="0"/>
              <a:t>16/08/2026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101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E28E8F6D-02FF-3D2F-AC7C-9E6FA4F040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0522826"/>
              </p:ext>
            </p:extLst>
          </p:nvPr>
        </p:nvGraphicFramePr>
        <p:xfrm>
          <a:off x="1030794" y="833616"/>
          <a:ext cx="9503279" cy="6991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4D5943B5-2F35-F9C9-051D-7DF4E321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1 - Contexte et objectif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B45894-BF0A-B7E8-B359-57B63E483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16/08/2026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448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EF029E-C20D-FC80-6B16-21EC7B080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 – Schéma DE LA base de données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7D3905-5571-80C8-8D93-3691E4B9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16/08/2026</a:t>
            </a:fld>
            <a:endParaRPr lang="en-US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CEF4C45-6790-7893-FAD2-D1507F3629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949" y="1813712"/>
            <a:ext cx="6302101" cy="504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267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84ED0F-FEE1-6287-7A99-C6369609A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PROCESSUS ELT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6B69C16-A160-1EAA-9A69-2F3B43D1F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16/08/2026</a:t>
            </a:fld>
            <a:endParaRPr lang="en-US" dirty="0"/>
          </a:p>
        </p:txBody>
      </p:sp>
      <p:grpSp>
        <p:nvGrpSpPr>
          <p:cNvPr id="54" name="Groupe 53">
            <a:extLst>
              <a:ext uri="{FF2B5EF4-FFF2-40B4-BE49-F238E27FC236}">
                <a16:creationId xmlns:a16="http://schemas.microsoft.com/office/drawing/2014/main" id="{DB34A6D1-A609-0C22-EB3F-D61F9EF883E2}"/>
              </a:ext>
            </a:extLst>
          </p:cNvPr>
          <p:cNvGrpSpPr/>
          <p:nvPr/>
        </p:nvGrpSpPr>
        <p:grpSpPr>
          <a:xfrm>
            <a:off x="716989" y="2154754"/>
            <a:ext cx="10330116" cy="4184937"/>
            <a:chOff x="716989" y="2154754"/>
            <a:chExt cx="10330116" cy="4184937"/>
          </a:xfrm>
        </p:grpSpPr>
        <p:grpSp>
          <p:nvGrpSpPr>
            <p:cNvPr id="53" name="Groupe 52">
              <a:extLst>
                <a:ext uri="{FF2B5EF4-FFF2-40B4-BE49-F238E27FC236}">
                  <a16:creationId xmlns:a16="http://schemas.microsoft.com/office/drawing/2014/main" id="{A6E636DF-6A4B-6970-47DD-DF403631F929}"/>
                </a:ext>
              </a:extLst>
            </p:cNvPr>
            <p:cNvGrpSpPr/>
            <p:nvPr/>
          </p:nvGrpSpPr>
          <p:grpSpPr>
            <a:xfrm>
              <a:off x="716989" y="2154754"/>
              <a:ext cx="10330116" cy="4184937"/>
              <a:chOff x="218230" y="2154754"/>
              <a:chExt cx="10330116" cy="4184937"/>
            </a:xfrm>
          </p:grpSpPr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A11B60FC-FD80-D85B-D625-6670147D1715}"/>
                  </a:ext>
                </a:extLst>
              </p:cNvPr>
              <p:cNvSpPr/>
              <p:nvPr/>
            </p:nvSpPr>
            <p:spPr>
              <a:xfrm>
                <a:off x="218230" y="2339787"/>
                <a:ext cx="1719730" cy="3370901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BCF1574-EB91-B853-4DC0-DB197D620272}"/>
                  </a:ext>
                </a:extLst>
              </p:cNvPr>
              <p:cNvSpPr/>
              <p:nvPr/>
            </p:nvSpPr>
            <p:spPr>
              <a:xfrm>
                <a:off x="5386713" y="2154754"/>
                <a:ext cx="3542135" cy="381981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4" name="Text 38">
                <a:extLst>
                  <a:ext uri="{FF2B5EF4-FFF2-40B4-BE49-F238E27FC236}">
                    <a16:creationId xmlns:a16="http://schemas.microsoft.com/office/drawing/2014/main" id="{F56F12FC-33C9-5EC9-86D9-8EBD16A1C8F4}"/>
                  </a:ext>
                </a:extLst>
              </p:cNvPr>
              <p:cNvSpPr/>
              <p:nvPr/>
            </p:nvSpPr>
            <p:spPr>
              <a:xfrm>
                <a:off x="345439" y="5709571"/>
                <a:ext cx="1372687" cy="3651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 i="1" dirty="0">
                    <a:solidFill>
                      <a:schemeClr val="accent5">
                        <a:lumMod val="50000"/>
                      </a:schemeClr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GitHub</a:t>
                </a:r>
                <a:endParaRPr lang="en-US" sz="1200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3533824B-B001-59A5-6458-595BD4F937E1}"/>
                  </a:ext>
                </a:extLst>
              </p:cNvPr>
              <p:cNvGrpSpPr/>
              <p:nvPr/>
            </p:nvGrpSpPr>
            <p:grpSpPr>
              <a:xfrm>
                <a:off x="345439" y="2468880"/>
                <a:ext cx="10202907" cy="3870811"/>
                <a:chOff x="1512345" y="2666104"/>
                <a:chExt cx="8595361" cy="3657596"/>
              </a:xfrm>
            </p:grpSpPr>
            <p:sp>
              <p:nvSpPr>
                <p:cNvPr id="7" name="Shape 3">
                  <a:extLst>
                    <a:ext uri="{FF2B5EF4-FFF2-40B4-BE49-F238E27FC236}">
                      <a16:creationId xmlns:a16="http://schemas.microsoft.com/office/drawing/2014/main" id="{D496A681-B39F-7591-F54F-F4D481474C56}"/>
                    </a:ext>
                  </a:extLst>
                </p:cNvPr>
                <p:cNvSpPr/>
                <p:nvPr/>
              </p:nvSpPr>
              <p:spPr>
                <a:xfrm>
                  <a:off x="1512346" y="2666104"/>
                  <a:ext cx="1280160" cy="292608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E2E8F0"/>
                  </a:solidFill>
                  <a:prstDash val="solid"/>
                </a:ln>
                <a:effectLst>
                  <a:outerShdw blurRad="101600" dist="38100" dir="8100000" algn="bl" rotWithShape="0">
                    <a:srgbClr val="000000">
                      <a:alpha val="12000"/>
                    </a:srgbClr>
                  </a:outerShdw>
                </a:effec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" name="Shape 4">
                  <a:extLst>
                    <a:ext uri="{FF2B5EF4-FFF2-40B4-BE49-F238E27FC236}">
                      <a16:creationId xmlns:a16="http://schemas.microsoft.com/office/drawing/2014/main" id="{C5C7E39A-7E5C-6DFD-1053-740C5498CC3B}"/>
                    </a:ext>
                  </a:extLst>
                </p:cNvPr>
                <p:cNvSpPr/>
                <p:nvPr/>
              </p:nvSpPr>
              <p:spPr>
                <a:xfrm>
                  <a:off x="1512345" y="2666104"/>
                  <a:ext cx="1280160" cy="640080"/>
                </a:xfrm>
                <a:prstGeom prst="rect">
                  <a:avLst/>
                </a:prstGeom>
                <a:solidFill>
                  <a:srgbClr val="2563EB"/>
                </a:solidFill>
                <a:ln/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" name="Text 5">
                  <a:extLst>
                    <a:ext uri="{FF2B5EF4-FFF2-40B4-BE49-F238E27FC236}">
                      <a16:creationId xmlns:a16="http://schemas.microsoft.com/office/drawing/2014/main" id="{D3FC5034-5A09-BD5F-B0B9-7237B2729A63}"/>
                    </a:ext>
                  </a:extLst>
                </p:cNvPr>
                <p:cNvSpPr/>
                <p:nvPr/>
              </p:nvSpPr>
              <p:spPr>
                <a:xfrm>
                  <a:off x="1512345" y="2684392"/>
                  <a:ext cx="128016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0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1</a:t>
                  </a:r>
                  <a:endParaRPr lang="en-US" sz="2000" dirty="0"/>
                </a:p>
              </p:txBody>
            </p:sp>
            <p:sp>
              <p:nvSpPr>
                <p:cNvPr id="10" name="Text 6">
                  <a:extLst>
                    <a:ext uri="{FF2B5EF4-FFF2-40B4-BE49-F238E27FC236}">
                      <a16:creationId xmlns:a16="http://schemas.microsoft.com/office/drawing/2014/main" id="{DA92446F-E3BC-D51B-4B94-69DB1F200C7D}"/>
                    </a:ext>
                  </a:extLst>
                </p:cNvPr>
                <p:cNvSpPr/>
                <p:nvPr/>
              </p:nvSpPr>
              <p:spPr>
                <a:xfrm>
                  <a:off x="1512346" y="3013576"/>
                  <a:ext cx="12801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Source Données</a:t>
                  </a:r>
                  <a:endParaRPr lang="en-US" sz="1200" dirty="0"/>
                </a:p>
              </p:txBody>
            </p:sp>
            <p:sp>
              <p:nvSpPr>
                <p:cNvPr id="11" name="Text 7">
                  <a:extLst>
                    <a:ext uri="{FF2B5EF4-FFF2-40B4-BE49-F238E27FC236}">
                      <a16:creationId xmlns:a16="http://schemas.microsoft.com/office/drawing/2014/main" id="{AA8B544B-1801-D67F-C04A-BB28FB2B4FEF}"/>
                    </a:ext>
                  </a:extLst>
                </p:cNvPr>
                <p:cNvSpPr/>
                <p:nvPr/>
              </p:nvSpPr>
              <p:spPr>
                <a:xfrm>
                  <a:off x="1558066" y="3397624"/>
                  <a:ext cx="1188720" cy="21031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400" dirty="0" err="1">
                      <a:solidFill>
                        <a:srgbClr val="1E293B"/>
                      </a:solidFill>
                      <a:ea typeface="Calibri" panose="020F0502020204030204" pitchFamily="34" charset="0"/>
                      <a:cs typeface="Calibri" panose="020F0502020204030204" pitchFamily="34" charset="0"/>
                    </a:rPr>
                    <a:t>InfoClimat.json</a:t>
                  </a:r>
                  <a:r>
                    <a:rPr lang="en-US" sz="1400" dirty="0">
                      <a:solidFill>
                        <a:srgbClr val="1E293B"/>
                      </a:solidFill>
                      <a:ea typeface="Calibri" panose="020F0502020204030204" pitchFamily="34" charset="0"/>
                      <a:cs typeface="Calibri" panose="020F0502020204030204" pitchFamily="34" charset="0"/>
                    </a:rPr>
                    <a:t>, Weather Underground.xlsx</a:t>
                  </a:r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1E293B"/>
                      </a:solidFill>
                      <a:ea typeface="Calibri" panose="020F0502020204030204" pitchFamily="34" charset="0"/>
                      <a:cs typeface="Calibri" panose="020F0502020204030204" pitchFamily="34" charset="0"/>
                    </a:rPr>
                    <a:t>Calendar.csv</a:t>
                  </a:r>
                  <a:endParaRPr lang="en-US" sz="1400" dirty="0">
                    <a:ea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2" name="Shape 8">
                  <a:extLst>
                    <a:ext uri="{FF2B5EF4-FFF2-40B4-BE49-F238E27FC236}">
                      <a16:creationId xmlns:a16="http://schemas.microsoft.com/office/drawing/2014/main" id="{881C72EE-9DDB-7F55-EC16-2C2BA838B14B}"/>
                    </a:ext>
                  </a:extLst>
                </p:cNvPr>
                <p:cNvSpPr/>
                <p:nvPr/>
              </p:nvSpPr>
              <p:spPr>
                <a:xfrm>
                  <a:off x="2792506" y="4129144"/>
                  <a:ext cx="182880" cy="0"/>
                </a:xfrm>
                <a:prstGeom prst="line">
                  <a:avLst/>
                </a:prstGeom>
                <a:noFill/>
                <a:ln w="19050">
                  <a:solidFill>
                    <a:srgbClr val="64748B"/>
                  </a:solidFill>
                  <a:prstDash val="solid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" name="Shape 9">
                  <a:extLst>
                    <a:ext uri="{FF2B5EF4-FFF2-40B4-BE49-F238E27FC236}">
                      <a16:creationId xmlns:a16="http://schemas.microsoft.com/office/drawing/2014/main" id="{A612F5D8-4A0E-23DE-9152-F36FAA5B8C16}"/>
                    </a:ext>
                  </a:extLst>
                </p:cNvPr>
                <p:cNvSpPr/>
                <p:nvPr/>
              </p:nvSpPr>
              <p:spPr>
                <a:xfrm>
                  <a:off x="2975386" y="2666104"/>
                  <a:ext cx="1280160" cy="292608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E2E8F0"/>
                  </a:solidFill>
                  <a:prstDash val="solid"/>
                </a:ln>
                <a:effectLst>
                  <a:outerShdw blurRad="101600" dist="38100" dir="8100000" algn="bl" rotWithShape="0">
                    <a:srgbClr val="000000">
                      <a:alpha val="12000"/>
                    </a:srgbClr>
                  </a:outerShdw>
                </a:effec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4" name="Shape 10">
                  <a:extLst>
                    <a:ext uri="{FF2B5EF4-FFF2-40B4-BE49-F238E27FC236}">
                      <a16:creationId xmlns:a16="http://schemas.microsoft.com/office/drawing/2014/main" id="{6D0796B2-F490-25EF-3E5F-25EB223C3BC8}"/>
                    </a:ext>
                  </a:extLst>
                </p:cNvPr>
                <p:cNvSpPr/>
                <p:nvPr/>
              </p:nvSpPr>
              <p:spPr>
                <a:xfrm>
                  <a:off x="2975386" y="2666104"/>
                  <a:ext cx="1280160" cy="640080"/>
                </a:xfrm>
                <a:prstGeom prst="rect">
                  <a:avLst/>
                </a:prstGeom>
                <a:solidFill>
                  <a:srgbClr val="FFC000"/>
                </a:solidFill>
                <a:ln/>
              </p:spPr>
              <p:txBody>
                <a:bodyPr/>
                <a:lstStyle/>
                <a:p>
                  <a:endParaRPr lang="fr-FR" dirty="0"/>
                </a:p>
              </p:txBody>
            </p:sp>
            <p:sp>
              <p:nvSpPr>
                <p:cNvPr id="15" name="Text 11">
                  <a:extLst>
                    <a:ext uri="{FF2B5EF4-FFF2-40B4-BE49-F238E27FC236}">
                      <a16:creationId xmlns:a16="http://schemas.microsoft.com/office/drawing/2014/main" id="{A87B13CC-335B-078F-4257-D374DF19F4EF}"/>
                    </a:ext>
                  </a:extLst>
                </p:cNvPr>
                <p:cNvSpPr/>
                <p:nvPr/>
              </p:nvSpPr>
              <p:spPr>
                <a:xfrm>
                  <a:off x="2975386" y="2684392"/>
                  <a:ext cx="128016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0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2</a:t>
                  </a:r>
                  <a:endParaRPr lang="en-US" sz="2000" dirty="0"/>
                </a:p>
              </p:txBody>
            </p:sp>
            <p:sp>
              <p:nvSpPr>
                <p:cNvPr id="16" name="Text 12">
                  <a:extLst>
                    <a:ext uri="{FF2B5EF4-FFF2-40B4-BE49-F238E27FC236}">
                      <a16:creationId xmlns:a16="http://schemas.microsoft.com/office/drawing/2014/main" id="{7D736573-C80A-FB4C-0954-E1C57A56EC0D}"/>
                    </a:ext>
                  </a:extLst>
                </p:cNvPr>
                <p:cNvSpPr/>
                <p:nvPr/>
              </p:nvSpPr>
              <p:spPr>
                <a:xfrm>
                  <a:off x="2975386" y="3013576"/>
                  <a:ext cx="12801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 err="1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Collecte</a:t>
                  </a:r>
                  <a:endParaRPr lang="en-US" sz="1200" dirty="0"/>
                </a:p>
              </p:txBody>
            </p:sp>
            <p:sp>
              <p:nvSpPr>
                <p:cNvPr id="17" name="Text 13">
                  <a:extLst>
                    <a:ext uri="{FF2B5EF4-FFF2-40B4-BE49-F238E27FC236}">
                      <a16:creationId xmlns:a16="http://schemas.microsoft.com/office/drawing/2014/main" id="{15800591-7DDC-9B1A-792E-127642FBA676}"/>
                    </a:ext>
                  </a:extLst>
                </p:cNvPr>
                <p:cNvSpPr/>
                <p:nvPr/>
              </p:nvSpPr>
              <p:spPr>
                <a:xfrm>
                  <a:off x="3021106" y="3397624"/>
                  <a:ext cx="1188720" cy="21031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en-US" sz="1400" dirty="0" err="1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Airbyte</a:t>
                  </a:r>
                  <a:endParaRPr lang="en-US" sz="1400" dirty="0">
                    <a:solidFill>
                      <a:srgbClr val="1E293B"/>
                    </a:solidFill>
                    <a:ea typeface="Consolas" pitchFamily="34" charset="-122"/>
                    <a:cs typeface="Consolas" pitchFamily="34" charset="-120"/>
                  </a:endParaRPr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Sources </a:t>
                  </a:r>
                  <a:r>
                    <a:rPr lang="en-US" sz="1400" dirty="0" err="1">
                      <a:solidFill>
                        <a:srgbClr val="1E293B"/>
                      </a:solidFill>
                    </a:rPr>
                    <a:t>Connecteurs</a:t>
                  </a:r>
                  <a:r>
                    <a:rPr lang="en-US" sz="1400" dirty="0">
                      <a:solidFill>
                        <a:srgbClr val="1E293B"/>
                      </a:solidFill>
                    </a:rPr>
                    <a:t> </a:t>
                  </a:r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1E293B"/>
                      </a:solidFill>
                    </a:rPr>
                    <a:t>Flux </a:t>
                  </a:r>
                  <a:r>
                    <a:rPr lang="en-US" sz="1400" dirty="0" err="1">
                      <a:solidFill>
                        <a:srgbClr val="1E293B"/>
                      </a:solidFill>
                    </a:rPr>
                    <a:t>vers</a:t>
                  </a:r>
                  <a:r>
                    <a:rPr lang="en-US" sz="1400" dirty="0">
                      <a:solidFill>
                        <a:srgbClr val="1E293B"/>
                      </a:solidFill>
                    </a:rPr>
                    <a:t> PostgreSQL</a:t>
                  </a:r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1E293B"/>
                      </a:solidFill>
                    </a:rPr>
                    <a:t>Full refresh - Overwrite</a:t>
                  </a:r>
                  <a:endParaRPr lang="en-US" sz="1400" dirty="0"/>
                </a:p>
              </p:txBody>
            </p:sp>
            <p:sp>
              <p:nvSpPr>
                <p:cNvPr id="18" name="Shape 14">
                  <a:extLst>
                    <a:ext uri="{FF2B5EF4-FFF2-40B4-BE49-F238E27FC236}">
                      <a16:creationId xmlns:a16="http://schemas.microsoft.com/office/drawing/2014/main" id="{65AC3DD2-C05C-08B8-C2BD-4B4E52EC0802}"/>
                    </a:ext>
                  </a:extLst>
                </p:cNvPr>
                <p:cNvSpPr/>
                <p:nvPr/>
              </p:nvSpPr>
              <p:spPr>
                <a:xfrm>
                  <a:off x="4255546" y="4129144"/>
                  <a:ext cx="182880" cy="0"/>
                </a:xfrm>
                <a:prstGeom prst="line">
                  <a:avLst/>
                </a:prstGeom>
                <a:noFill/>
                <a:ln w="19050">
                  <a:solidFill>
                    <a:srgbClr val="64748B"/>
                  </a:solidFill>
                  <a:prstDash val="solid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9" name="Shape 15">
                  <a:extLst>
                    <a:ext uri="{FF2B5EF4-FFF2-40B4-BE49-F238E27FC236}">
                      <a16:creationId xmlns:a16="http://schemas.microsoft.com/office/drawing/2014/main" id="{D3A9531D-E4CE-6543-B261-9C79F5D57871}"/>
                    </a:ext>
                  </a:extLst>
                </p:cNvPr>
                <p:cNvSpPr/>
                <p:nvPr/>
              </p:nvSpPr>
              <p:spPr>
                <a:xfrm>
                  <a:off x="4438426" y="2666104"/>
                  <a:ext cx="1280160" cy="292608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E2E8F0"/>
                  </a:solidFill>
                  <a:prstDash val="solid"/>
                </a:ln>
                <a:effectLst>
                  <a:outerShdw blurRad="101600" dist="38100" dir="8100000" algn="bl" rotWithShape="0">
                    <a:srgbClr val="000000">
                      <a:alpha val="12000"/>
                    </a:srgbClr>
                  </a:outerShdw>
                </a:effectLst>
              </p:spPr>
              <p:txBody>
                <a:bodyPr/>
                <a:lstStyle/>
                <a:p>
                  <a:endParaRPr lang="fr-FR" dirty="0"/>
                </a:p>
              </p:txBody>
            </p:sp>
            <p:sp>
              <p:nvSpPr>
                <p:cNvPr id="20" name="Shape 16">
                  <a:extLst>
                    <a:ext uri="{FF2B5EF4-FFF2-40B4-BE49-F238E27FC236}">
                      <a16:creationId xmlns:a16="http://schemas.microsoft.com/office/drawing/2014/main" id="{9598B81C-A802-7114-4090-0E1AA07B575C}"/>
                    </a:ext>
                  </a:extLst>
                </p:cNvPr>
                <p:cNvSpPr/>
                <p:nvPr/>
              </p:nvSpPr>
              <p:spPr>
                <a:xfrm>
                  <a:off x="4438426" y="2666104"/>
                  <a:ext cx="1280160" cy="640080"/>
                </a:xfrm>
                <a:prstGeom prst="rect">
                  <a:avLst/>
                </a:prstGeom>
                <a:solidFill>
                  <a:srgbClr val="00B4D8"/>
                </a:solidFill>
                <a:ln/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1" name="Text 17">
                  <a:extLst>
                    <a:ext uri="{FF2B5EF4-FFF2-40B4-BE49-F238E27FC236}">
                      <a16:creationId xmlns:a16="http://schemas.microsoft.com/office/drawing/2014/main" id="{91FC1ED8-0510-6F85-AB75-1D06C6D40AC9}"/>
                    </a:ext>
                  </a:extLst>
                </p:cNvPr>
                <p:cNvSpPr/>
                <p:nvPr/>
              </p:nvSpPr>
              <p:spPr>
                <a:xfrm>
                  <a:off x="4438426" y="2684392"/>
                  <a:ext cx="128016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0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3</a:t>
                  </a:r>
                  <a:endParaRPr lang="en-US" sz="2000" dirty="0"/>
                </a:p>
              </p:txBody>
            </p:sp>
            <p:sp>
              <p:nvSpPr>
                <p:cNvPr id="22" name="Text 18">
                  <a:extLst>
                    <a:ext uri="{FF2B5EF4-FFF2-40B4-BE49-F238E27FC236}">
                      <a16:creationId xmlns:a16="http://schemas.microsoft.com/office/drawing/2014/main" id="{D0A30543-CD57-DB32-3FEF-BECB806A2BBA}"/>
                    </a:ext>
                  </a:extLst>
                </p:cNvPr>
                <p:cNvSpPr/>
                <p:nvPr/>
              </p:nvSpPr>
              <p:spPr>
                <a:xfrm>
                  <a:off x="4438426" y="3013576"/>
                  <a:ext cx="12801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Stockage</a:t>
                  </a:r>
                  <a:endParaRPr lang="en-US" sz="1200" dirty="0"/>
                </a:p>
              </p:txBody>
            </p:sp>
            <p:sp>
              <p:nvSpPr>
                <p:cNvPr id="23" name="Text 19">
                  <a:extLst>
                    <a:ext uri="{FF2B5EF4-FFF2-40B4-BE49-F238E27FC236}">
                      <a16:creationId xmlns:a16="http://schemas.microsoft.com/office/drawing/2014/main" id="{09DB78B2-87DA-35C2-DA6C-59742666853C}"/>
                    </a:ext>
                  </a:extLst>
                </p:cNvPr>
                <p:cNvSpPr/>
                <p:nvPr/>
              </p:nvSpPr>
              <p:spPr>
                <a:xfrm>
                  <a:off x="4484146" y="3397624"/>
                  <a:ext cx="1188720" cy="21031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400" dirty="0" err="1">
                      <a:solidFill>
                        <a:srgbClr val="1E293B"/>
                      </a:solidFill>
                    </a:rPr>
                    <a:t>Schéma</a:t>
                  </a:r>
                  <a:r>
                    <a:rPr lang="en-US" sz="1400" dirty="0">
                      <a:solidFill>
                        <a:srgbClr val="1E293B"/>
                      </a:solidFill>
                    </a:rPr>
                    <a:t> raw</a:t>
                  </a:r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1E293B"/>
                      </a:solidFill>
                    </a:rPr>
                    <a:t>PostgreSQL </a:t>
                  </a:r>
                  <a:endParaRPr lang="en-US" sz="1400" dirty="0"/>
                </a:p>
              </p:txBody>
            </p:sp>
            <p:sp>
              <p:nvSpPr>
                <p:cNvPr id="24" name="Shape 20">
                  <a:extLst>
                    <a:ext uri="{FF2B5EF4-FFF2-40B4-BE49-F238E27FC236}">
                      <a16:creationId xmlns:a16="http://schemas.microsoft.com/office/drawing/2014/main" id="{3AFC5285-7202-1B52-179C-D7D0C3340EF8}"/>
                    </a:ext>
                  </a:extLst>
                </p:cNvPr>
                <p:cNvSpPr/>
                <p:nvPr/>
              </p:nvSpPr>
              <p:spPr>
                <a:xfrm>
                  <a:off x="5718586" y="4129144"/>
                  <a:ext cx="182880" cy="0"/>
                </a:xfrm>
                <a:prstGeom prst="line">
                  <a:avLst/>
                </a:prstGeom>
                <a:noFill/>
                <a:ln w="19050">
                  <a:solidFill>
                    <a:srgbClr val="64748B"/>
                  </a:solidFill>
                  <a:prstDash val="solid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5" name="Shape 21">
                  <a:extLst>
                    <a:ext uri="{FF2B5EF4-FFF2-40B4-BE49-F238E27FC236}">
                      <a16:creationId xmlns:a16="http://schemas.microsoft.com/office/drawing/2014/main" id="{9CC3BFC5-A4D2-E311-01DA-A1253B2D7608}"/>
                    </a:ext>
                  </a:extLst>
                </p:cNvPr>
                <p:cNvSpPr/>
                <p:nvPr/>
              </p:nvSpPr>
              <p:spPr>
                <a:xfrm>
                  <a:off x="5901466" y="2666104"/>
                  <a:ext cx="1280160" cy="292608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E2E8F0"/>
                  </a:solidFill>
                  <a:prstDash val="solid"/>
                </a:ln>
                <a:effectLst>
                  <a:outerShdw blurRad="101600" dist="38100" dir="8100000" algn="bl" rotWithShape="0">
                    <a:srgbClr val="000000">
                      <a:alpha val="12000"/>
                    </a:srgbClr>
                  </a:outerShdw>
                </a:effec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6" name="Shape 22">
                  <a:extLst>
                    <a:ext uri="{FF2B5EF4-FFF2-40B4-BE49-F238E27FC236}">
                      <a16:creationId xmlns:a16="http://schemas.microsoft.com/office/drawing/2014/main" id="{1BFB54FF-7330-18A2-0A5F-1B8753C1C935}"/>
                    </a:ext>
                  </a:extLst>
                </p:cNvPr>
                <p:cNvSpPr/>
                <p:nvPr/>
              </p:nvSpPr>
              <p:spPr>
                <a:xfrm>
                  <a:off x="5901466" y="2666104"/>
                  <a:ext cx="1280160" cy="640080"/>
                </a:xfrm>
                <a:prstGeom prst="rect">
                  <a:avLst/>
                </a:prstGeom>
                <a:solidFill>
                  <a:srgbClr val="16A34A"/>
                </a:solidFill>
                <a:ln/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7" name="Text 23">
                  <a:extLst>
                    <a:ext uri="{FF2B5EF4-FFF2-40B4-BE49-F238E27FC236}">
                      <a16:creationId xmlns:a16="http://schemas.microsoft.com/office/drawing/2014/main" id="{A8D87525-D2A3-7F6E-11D5-A104A835F26F}"/>
                    </a:ext>
                  </a:extLst>
                </p:cNvPr>
                <p:cNvSpPr/>
                <p:nvPr/>
              </p:nvSpPr>
              <p:spPr>
                <a:xfrm>
                  <a:off x="5901466" y="2684392"/>
                  <a:ext cx="128016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0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4</a:t>
                  </a:r>
                  <a:endParaRPr lang="en-US" sz="2000" dirty="0"/>
                </a:p>
              </p:txBody>
            </p:sp>
            <p:sp>
              <p:nvSpPr>
                <p:cNvPr id="28" name="Text 24">
                  <a:extLst>
                    <a:ext uri="{FF2B5EF4-FFF2-40B4-BE49-F238E27FC236}">
                      <a16:creationId xmlns:a16="http://schemas.microsoft.com/office/drawing/2014/main" id="{169A9ED4-E76F-A1E2-6F6C-B96B14259C8B}"/>
                    </a:ext>
                  </a:extLst>
                </p:cNvPr>
                <p:cNvSpPr/>
                <p:nvPr/>
              </p:nvSpPr>
              <p:spPr>
                <a:xfrm>
                  <a:off x="5901466" y="3013576"/>
                  <a:ext cx="12801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Transformation</a:t>
                  </a:r>
                  <a:endParaRPr lang="en-US" sz="1200" dirty="0"/>
                </a:p>
              </p:txBody>
            </p:sp>
            <p:sp>
              <p:nvSpPr>
                <p:cNvPr id="29" name="Text 25">
                  <a:extLst>
                    <a:ext uri="{FF2B5EF4-FFF2-40B4-BE49-F238E27FC236}">
                      <a16:creationId xmlns:a16="http://schemas.microsoft.com/office/drawing/2014/main" id="{48243563-7F5F-CC00-D295-BD72D646D5EF}"/>
                    </a:ext>
                  </a:extLst>
                </p:cNvPr>
                <p:cNvSpPr/>
                <p:nvPr/>
              </p:nvSpPr>
              <p:spPr>
                <a:xfrm>
                  <a:off x="5947186" y="3397624"/>
                  <a:ext cx="1188720" cy="21031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dirty="0" err="1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dbt</a:t>
                  </a:r>
                  <a:r>
                    <a:rPr lang="en-US" sz="1200" dirty="0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 seed </a:t>
                  </a:r>
                </a:p>
                <a:p>
                  <a:pPr marL="0" indent="0" algn="ctr">
                    <a:buNone/>
                  </a:pPr>
                  <a:r>
                    <a:rPr lang="en-US" sz="1200" dirty="0" err="1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dbt</a:t>
                  </a:r>
                  <a:r>
                    <a:rPr lang="en-US" sz="1200" dirty="0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 run</a:t>
                  </a:r>
                </a:p>
                <a:p>
                  <a:pPr marL="0" indent="0" algn="ctr">
                    <a:buNone/>
                  </a:pPr>
                  <a:r>
                    <a:rPr lang="en-US" sz="1200" dirty="0" err="1">
                      <a:solidFill>
                        <a:srgbClr val="1E293B"/>
                      </a:solidFill>
                    </a:rPr>
                    <a:t>Schema.yml</a:t>
                  </a:r>
                  <a:endParaRPr lang="en-US" sz="1200" dirty="0">
                    <a:solidFill>
                      <a:srgbClr val="1E293B"/>
                    </a:solidFill>
                  </a:endParaRPr>
                </a:p>
                <a:p>
                  <a:pPr marL="0" indent="0" algn="ctr">
                    <a:buNone/>
                  </a:pPr>
                  <a:r>
                    <a:rPr lang="en-US" sz="1200" dirty="0">
                      <a:solidFill>
                        <a:srgbClr val="1E293B"/>
                      </a:solidFill>
                    </a:rPr>
                    <a:t>Models (staging, intermediate, marts)</a:t>
                  </a:r>
                </a:p>
                <a:p>
                  <a:pPr algn="ctr"/>
                  <a:r>
                    <a:rPr lang="en-US" sz="1200" dirty="0">
                      <a:solidFill>
                        <a:srgbClr val="1E293B"/>
                      </a:solidFill>
                    </a:rPr>
                    <a:t>Seed (</a:t>
                  </a:r>
                  <a:r>
                    <a:rPr lang="en-US" sz="1200" dirty="0">
                      <a:solidFill>
                        <a:srgbClr val="1E293B"/>
                      </a:solidFill>
                      <a:ea typeface="Calibri" panose="020F0502020204030204" pitchFamily="34" charset="0"/>
                      <a:cs typeface="Calibri" panose="020F0502020204030204" pitchFamily="34" charset="0"/>
                    </a:rPr>
                    <a:t>Metadonnee_stations.csv, </a:t>
                  </a:r>
                </a:p>
                <a:p>
                  <a:pPr marL="0" indent="0" algn="ctr">
                    <a:buNone/>
                  </a:pPr>
                  <a:r>
                    <a:rPr lang="en-US" sz="1200" dirty="0"/>
                    <a:t>time.csv)</a:t>
                  </a:r>
                </a:p>
              </p:txBody>
            </p:sp>
            <p:sp>
              <p:nvSpPr>
                <p:cNvPr id="30" name="Shape 26">
                  <a:extLst>
                    <a:ext uri="{FF2B5EF4-FFF2-40B4-BE49-F238E27FC236}">
                      <a16:creationId xmlns:a16="http://schemas.microsoft.com/office/drawing/2014/main" id="{63179906-4D4F-C04F-8521-173161C90476}"/>
                    </a:ext>
                  </a:extLst>
                </p:cNvPr>
                <p:cNvSpPr/>
                <p:nvPr/>
              </p:nvSpPr>
              <p:spPr>
                <a:xfrm>
                  <a:off x="7181626" y="4129144"/>
                  <a:ext cx="182880" cy="0"/>
                </a:xfrm>
                <a:prstGeom prst="line">
                  <a:avLst/>
                </a:prstGeom>
                <a:noFill/>
                <a:ln w="19050">
                  <a:solidFill>
                    <a:srgbClr val="64748B"/>
                  </a:solidFill>
                  <a:prstDash val="solid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" name="Shape 27">
                  <a:extLst>
                    <a:ext uri="{FF2B5EF4-FFF2-40B4-BE49-F238E27FC236}">
                      <a16:creationId xmlns:a16="http://schemas.microsoft.com/office/drawing/2014/main" id="{5A852564-766B-1B91-E7CC-97914C594F3E}"/>
                    </a:ext>
                  </a:extLst>
                </p:cNvPr>
                <p:cNvSpPr/>
                <p:nvPr/>
              </p:nvSpPr>
              <p:spPr>
                <a:xfrm>
                  <a:off x="7364506" y="2666104"/>
                  <a:ext cx="1280160" cy="292608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E2E8F0"/>
                  </a:solidFill>
                  <a:prstDash val="solid"/>
                </a:ln>
                <a:effectLst>
                  <a:outerShdw blurRad="101600" dist="38100" dir="8100000" algn="bl" rotWithShape="0">
                    <a:srgbClr val="000000">
                      <a:alpha val="12000"/>
                    </a:srgbClr>
                  </a:outerShdw>
                </a:effec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2" name="Shape 28">
                  <a:extLst>
                    <a:ext uri="{FF2B5EF4-FFF2-40B4-BE49-F238E27FC236}">
                      <a16:creationId xmlns:a16="http://schemas.microsoft.com/office/drawing/2014/main" id="{B69EE9B9-4ADF-3842-0C83-ECA7BB04D6C3}"/>
                    </a:ext>
                  </a:extLst>
                </p:cNvPr>
                <p:cNvSpPr/>
                <p:nvPr/>
              </p:nvSpPr>
              <p:spPr>
                <a:xfrm>
                  <a:off x="7364506" y="2666104"/>
                  <a:ext cx="1280160" cy="640080"/>
                </a:xfrm>
                <a:prstGeom prst="rect">
                  <a:avLst/>
                </a:prstGeom>
                <a:solidFill>
                  <a:srgbClr val="7C3AED"/>
                </a:solidFill>
                <a:ln/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3" name="Text 29">
                  <a:extLst>
                    <a:ext uri="{FF2B5EF4-FFF2-40B4-BE49-F238E27FC236}">
                      <a16:creationId xmlns:a16="http://schemas.microsoft.com/office/drawing/2014/main" id="{43F1433F-DB01-264D-F203-9931C1CD6C9D}"/>
                    </a:ext>
                  </a:extLst>
                </p:cNvPr>
                <p:cNvSpPr/>
                <p:nvPr/>
              </p:nvSpPr>
              <p:spPr>
                <a:xfrm>
                  <a:off x="7364506" y="2684392"/>
                  <a:ext cx="128016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0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5</a:t>
                  </a:r>
                  <a:endParaRPr lang="en-US" sz="2000" dirty="0"/>
                </a:p>
              </p:txBody>
            </p:sp>
            <p:sp>
              <p:nvSpPr>
                <p:cNvPr id="34" name="Text 30">
                  <a:extLst>
                    <a:ext uri="{FF2B5EF4-FFF2-40B4-BE49-F238E27FC236}">
                      <a16:creationId xmlns:a16="http://schemas.microsoft.com/office/drawing/2014/main" id="{A8281D4E-BC15-4BEF-4A39-7F2E43B920C8}"/>
                    </a:ext>
                  </a:extLst>
                </p:cNvPr>
                <p:cNvSpPr/>
                <p:nvPr/>
              </p:nvSpPr>
              <p:spPr>
                <a:xfrm>
                  <a:off x="7364506" y="3013576"/>
                  <a:ext cx="12801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Tests</a:t>
                  </a:r>
                  <a:endParaRPr lang="en-US" sz="1200" dirty="0"/>
                </a:p>
              </p:txBody>
            </p:sp>
            <p:sp>
              <p:nvSpPr>
                <p:cNvPr id="35" name="Text 31">
                  <a:extLst>
                    <a:ext uri="{FF2B5EF4-FFF2-40B4-BE49-F238E27FC236}">
                      <a16:creationId xmlns:a16="http://schemas.microsoft.com/office/drawing/2014/main" id="{D7AB8FDA-E494-3ABE-86F7-D4F2C7FDC2D8}"/>
                    </a:ext>
                  </a:extLst>
                </p:cNvPr>
                <p:cNvSpPr/>
                <p:nvPr/>
              </p:nvSpPr>
              <p:spPr>
                <a:xfrm>
                  <a:off x="7410226" y="3397624"/>
                  <a:ext cx="1188720" cy="21031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400" dirty="0" err="1">
                      <a:solidFill>
                        <a:srgbClr val="1E293B"/>
                      </a:solidFill>
                    </a:rPr>
                    <a:t>dbt</a:t>
                  </a:r>
                  <a:r>
                    <a:rPr lang="en-US" sz="1400" dirty="0">
                      <a:solidFill>
                        <a:srgbClr val="1E293B"/>
                      </a:solidFill>
                    </a:rPr>
                    <a:t> test</a:t>
                  </a:r>
                </a:p>
                <a:p>
                  <a:pPr marL="0" indent="0" algn="ctr">
                    <a:buNone/>
                  </a:pPr>
                  <a:r>
                    <a:rPr lang="en-US" sz="1200" dirty="0" err="1"/>
                    <a:t>Schema.yml</a:t>
                  </a:r>
                  <a:r>
                    <a:rPr lang="en-US" sz="1200" dirty="0"/>
                    <a:t> (</a:t>
                  </a:r>
                  <a:r>
                    <a:rPr lang="en-US" sz="1200" dirty="0" err="1"/>
                    <a:t>data_test</a:t>
                  </a:r>
                  <a:r>
                    <a:rPr lang="en-US" sz="1200" dirty="0"/>
                    <a:t> unique, </a:t>
                  </a:r>
                  <a:r>
                    <a:rPr lang="en-US" sz="1200" dirty="0" err="1"/>
                    <a:t>not_null</a:t>
                  </a:r>
                  <a:r>
                    <a:rPr lang="en-US" sz="1200" dirty="0"/>
                    <a:t>)</a:t>
                  </a:r>
                </a:p>
                <a:p>
                  <a:pPr marL="0" indent="0" algn="ctr">
                    <a:buNone/>
                  </a:pPr>
                  <a:r>
                    <a:rPr lang="en-US" sz="1200" dirty="0"/>
                    <a:t>Scripts test SQL</a:t>
                  </a:r>
                </a:p>
              </p:txBody>
            </p:sp>
            <p:sp>
              <p:nvSpPr>
                <p:cNvPr id="36" name="Shape 33">
                  <a:extLst>
                    <a:ext uri="{FF2B5EF4-FFF2-40B4-BE49-F238E27FC236}">
                      <a16:creationId xmlns:a16="http://schemas.microsoft.com/office/drawing/2014/main" id="{0F50A386-B6F8-F937-5A8B-912C02340B1B}"/>
                    </a:ext>
                  </a:extLst>
                </p:cNvPr>
                <p:cNvSpPr/>
                <p:nvPr/>
              </p:nvSpPr>
              <p:spPr>
                <a:xfrm>
                  <a:off x="8827546" y="2666104"/>
                  <a:ext cx="1280160" cy="292608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E2E8F0"/>
                  </a:solidFill>
                  <a:prstDash val="solid"/>
                </a:ln>
                <a:effectLst>
                  <a:outerShdw blurRad="101600" dist="38100" dir="8100000" algn="bl" rotWithShape="0">
                    <a:srgbClr val="000000">
                      <a:alpha val="12000"/>
                    </a:srgbClr>
                  </a:outerShdw>
                </a:effec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7" name="Shape 34">
                  <a:extLst>
                    <a:ext uri="{FF2B5EF4-FFF2-40B4-BE49-F238E27FC236}">
                      <a16:creationId xmlns:a16="http://schemas.microsoft.com/office/drawing/2014/main" id="{65FC14F8-09E2-A577-CA3F-8A92551CB821}"/>
                    </a:ext>
                  </a:extLst>
                </p:cNvPr>
                <p:cNvSpPr/>
                <p:nvPr/>
              </p:nvSpPr>
              <p:spPr>
                <a:xfrm>
                  <a:off x="8827546" y="2666104"/>
                  <a:ext cx="1280160" cy="640080"/>
                </a:xfrm>
                <a:prstGeom prst="rect">
                  <a:avLst/>
                </a:prstGeom>
                <a:solidFill>
                  <a:srgbClr val="EA580C"/>
                </a:solidFill>
                <a:ln/>
              </p:spPr>
              <p:txBody>
                <a:bodyPr/>
                <a:lstStyle/>
                <a:p>
                  <a:endParaRPr lang="fr-FR" sz="2400"/>
                </a:p>
              </p:txBody>
            </p:sp>
            <p:sp>
              <p:nvSpPr>
                <p:cNvPr id="38" name="Text 35">
                  <a:extLst>
                    <a:ext uri="{FF2B5EF4-FFF2-40B4-BE49-F238E27FC236}">
                      <a16:creationId xmlns:a16="http://schemas.microsoft.com/office/drawing/2014/main" id="{FDB3A2AB-CA3D-BB10-831F-C983F921219D}"/>
                    </a:ext>
                  </a:extLst>
                </p:cNvPr>
                <p:cNvSpPr/>
                <p:nvPr/>
              </p:nvSpPr>
              <p:spPr>
                <a:xfrm>
                  <a:off x="8827546" y="2684392"/>
                  <a:ext cx="128016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0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6</a:t>
                  </a:r>
                  <a:endParaRPr lang="en-US" sz="2000" dirty="0"/>
                </a:p>
              </p:txBody>
            </p:sp>
            <p:sp>
              <p:nvSpPr>
                <p:cNvPr id="39" name="Text 36">
                  <a:extLst>
                    <a:ext uri="{FF2B5EF4-FFF2-40B4-BE49-F238E27FC236}">
                      <a16:creationId xmlns:a16="http://schemas.microsoft.com/office/drawing/2014/main" id="{CDA76EFA-4598-7703-CAC0-13D5D0999367}"/>
                    </a:ext>
                  </a:extLst>
                </p:cNvPr>
                <p:cNvSpPr/>
                <p:nvPr/>
              </p:nvSpPr>
              <p:spPr>
                <a:xfrm>
                  <a:off x="8827546" y="3013576"/>
                  <a:ext cx="12801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Documentation</a:t>
                  </a:r>
                  <a:endParaRPr lang="en-US" sz="1200" dirty="0"/>
                </a:p>
              </p:txBody>
            </p:sp>
            <p:sp>
              <p:nvSpPr>
                <p:cNvPr id="40" name="Text 37">
                  <a:extLst>
                    <a:ext uri="{FF2B5EF4-FFF2-40B4-BE49-F238E27FC236}">
                      <a16:creationId xmlns:a16="http://schemas.microsoft.com/office/drawing/2014/main" id="{6360764F-7F11-F7D3-C593-06A5AD0D007D}"/>
                    </a:ext>
                  </a:extLst>
                </p:cNvPr>
                <p:cNvSpPr/>
                <p:nvPr/>
              </p:nvSpPr>
              <p:spPr>
                <a:xfrm>
                  <a:off x="8873266" y="3397624"/>
                  <a:ext cx="1188720" cy="21031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400" dirty="0" err="1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dbt</a:t>
                  </a:r>
                  <a:r>
                    <a:rPr lang="en-US" sz="1400" dirty="0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 docs serve</a:t>
                  </a:r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1E293B"/>
                      </a:solidFill>
                    </a:rPr>
                    <a:t>Lineage Graph</a:t>
                  </a:r>
                  <a:endParaRPr lang="en-US" sz="1400" dirty="0"/>
                </a:p>
              </p:txBody>
            </p:sp>
            <p:sp>
              <p:nvSpPr>
                <p:cNvPr id="41" name="Text 38">
                  <a:extLst>
                    <a:ext uri="{FF2B5EF4-FFF2-40B4-BE49-F238E27FC236}">
                      <a16:creationId xmlns:a16="http://schemas.microsoft.com/office/drawing/2014/main" id="{797E561A-2620-B675-90DE-F83DB62411F3}"/>
                    </a:ext>
                  </a:extLst>
                </p:cNvPr>
                <p:cNvSpPr/>
                <p:nvPr/>
              </p:nvSpPr>
              <p:spPr>
                <a:xfrm>
                  <a:off x="5672865" y="5978687"/>
                  <a:ext cx="3070506" cy="345013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i="1" dirty="0">
                      <a:solidFill>
                        <a:srgbClr val="64748B"/>
                      </a:solidFill>
                      <a:latin typeface="Consolas" pitchFamily="34" charset="0"/>
                      <a:ea typeface="Consolas" pitchFamily="34" charset="-122"/>
                      <a:cs typeface="Consolas" pitchFamily="34" charset="-120"/>
                    </a:rPr>
                    <a:t>Image Docker</a:t>
                  </a:r>
                  <a:endParaRPr lang="en-US" sz="1200" dirty="0"/>
                </a:p>
              </p:txBody>
            </p:sp>
          </p:grpSp>
        </p:grp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59E4B186-6106-469A-D2B8-31C656FD0D84}"/>
                </a:ext>
              </a:extLst>
            </p:cNvPr>
            <p:cNvSpPr/>
            <p:nvPr/>
          </p:nvSpPr>
          <p:spPr>
            <a:xfrm>
              <a:off x="9316350" y="4048375"/>
              <a:ext cx="217083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1154217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31F5BA-E577-F62C-A8BA-390559199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Schéma d’architecture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115EB6-7708-939B-C1B6-96C90CDC19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5"/>
            <a:ext cx="4299619" cy="362368"/>
          </a:xfrm>
        </p:spPr>
        <p:txBody>
          <a:bodyPr/>
          <a:lstStyle/>
          <a:p>
            <a:pPr rtl="0"/>
            <a:fld id="{22897033-9A55-4DAC-991D-1FF1921C78B7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6" name="Rectangle : avec coins arrondis en diagonale 5">
            <a:extLst>
              <a:ext uri="{FF2B5EF4-FFF2-40B4-BE49-F238E27FC236}">
                <a16:creationId xmlns:a16="http://schemas.microsoft.com/office/drawing/2014/main" id="{2DAA7FAA-ADE0-3C40-D309-2B7629D32982}"/>
              </a:ext>
            </a:extLst>
          </p:cNvPr>
          <p:cNvSpPr/>
          <p:nvPr/>
        </p:nvSpPr>
        <p:spPr>
          <a:xfrm>
            <a:off x="2528180" y="1971700"/>
            <a:ext cx="6821777" cy="4751829"/>
          </a:xfrm>
          <a:prstGeom prst="round2DiagRect">
            <a:avLst/>
          </a:prstGeom>
          <a:solidFill>
            <a:srgbClr val="EDE9B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b="1" dirty="0"/>
              <a:t>								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882BC14F-9EB6-3025-5512-C65F6E53733E}"/>
              </a:ext>
            </a:extLst>
          </p:cNvPr>
          <p:cNvSpPr/>
          <p:nvPr/>
        </p:nvSpPr>
        <p:spPr>
          <a:xfrm>
            <a:off x="4716002" y="2381513"/>
            <a:ext cx="4222978" cy="1494240"/>
          </a:xfrm>
          <a:prstGeom prst="roundRect">
            <a:avLst/>
          </a:prstGeom>
          <a:solidFill>
            <a:srgbClr val="FCBFBC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dirty="0"/>
              <a:t>Sécurité et surveillance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02D6208-B2BF-48A8-80F6-465D44378916}"/>
              </a:ext>
            </a:extLst>
          </p:cNvPr>
          <p:cNvSpPr/>
          <p:nvPr/>
        </p:nvSpPr>
        <p:spPr>
          <a:xfrm>
            <a:off x="2804270" y="4216423"/>
            <a:ext cx="6205262" cy="2183117"/>
          </a:xfrm>
          <a:custGeom>
            <a:avLst/>
            <a:gdLst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4 w 6187334"/>
              <a:gd name="connsiteY4" fmla="*/ 1819257 h 2183117"/>
              <a:gd name="connsiteX5" fmla="*/ 5823474 w 6187334"/>
              <a:gd name="connsiteY5" fmla="*/ 2183117 h 2183117"/>
              <a:gd name="connsiteX6" fmla="*/ 363860 w 6187334"/>
              <a:gd name="connsiteY6" fmla="*/ 2183117 h 2183117"/>
              <a:gd name="connsiteX7" fmla="*/ 0 w 6187334"/>
              <a:gd name="connsiteY7" fmla="*/ 1819257 h 2183117"/>
              <a:gd name="connsiteX8" fmla="*/ 0 w 6187334"/>
              <a:gd name="connsiteY8" fmla="*/ 363860 h 2183117"/>
              <a:gd name="connsiteX0" fmla="*/ 0 w 6187334"/>
              <a:gd name="connsiteY0" fmla="*/ 363860 h 2184378"/>
              <a:gd name="connsiteX1" fmla="*/ 363860 w 6187334"/>
              <a:gd name="connsiteY1" fmla="*/ 0 h 2184378"/>
              <a:gd name="connsiteX2" fmla="*/ 5823474 w 6187334"/>
              <a:gd name="connsiteY2" fmla="*/ 0 h 2184378"/>
              <a:gd name="connsiteX3" fmla="*/ 6187334 w 6187334"/>
              <a:gd name="connsiteY3" fmla="*/ 363860 h 2184378"/>
              <a:gd name="connsiteX4" fmla="*/ 6187334 w 6187334"/>
              <a:gd name="connsiteY4" fmla="*/ 1819257 h 2184378"/>
              <a:gd name="connsiteX5" fmla="*/ 5823474 w 6187334"/>
              <a:gd name="connsiteY5" fmla="*/ 2183117 h 2184378"/>
              <a:gd name="connsiteX6" fmla="*/ 4098555 w 6187334"/>
              <a:gd name="connsiteY6" fmla="*/ 2184378 h 2184378"/>
              <a:gd name="connsiteX7" fmla="*/ 363860 w 6187334"/>
              <a:gd name="connsiteY7" fmla="*/ 2183117 h 2184378"/>
              <a:gd name="connsiteX8" fmla="*/ 0 w 6187334"/>
              <a:gd name="connsiteY8" fmla="*/ 1819257 h 2184378"/>
              <a:gd name="connsiteX9" fmla="*/ 0 w 6187334"/>
              <a:gd name="connsiteY9" fmla="*/ 363860 h 2184378"/>
              <a:gd name="connsiteX0" fmla="*/ 0 w 6205263"/>
              <a:gd name="connsiteY0" fmla="*/ 363860 h 2184378"/>
              <a:gd name="connsiteX1" fmla="*/ 363860 w 6205263"/>
              <a:gd name="connsiteY1" fmla="*/ 0 h 2184378"/>
              <a:gd name="connsiteX2" fmla="*/ 5823474 w 6205263"/>
              <a:gd name="connsiteY2" fmla="*/ 0 h 2184378"/>
              <a:gd name="connsiteX3" fmla="*/ 6187334 w 6205263"/>
              <a:gd name="connsiteY3" fmla="*/ 363860 h 2184378"/>
              <a:gd name="connsiteX4" fmla="*/ 6205263 w 6205263"/>
              <a:gd name="connsiteY4" fmla="*/ 1012434 h 2184378"/>
              <a:gd name="connsiteX5" fmla="*/ 5823474 w 6205263"/>
              <a:gd name="connsiteY5" fmla="*/ 2183117 h 2184378"/>
              <a:gd name="connsiteX6" fmla="*/ 4098555 w 6205263"/>
              <a:gd name="connsiteY6" fmla="*/ 2184378 h 2184378"/>
              <a:gd name="connsiteX7" fmla="*/ 363860 w 6205263"/>
              <a:gd name="connsiteY7" fmla="*/ 2183117 h 2184378"/>
              <a:gd name="connsiteX8" fmla="*/ 0 w 6205263"/>
              <a:gd name="connsiteY8" fmla="*/ 1819257 h 2184378"/>
              <a:gd name="connsiteX9" fmla="*/ 0 w 6205263"/>
              <a:gd name="connsiteY9" fmla="*/ 363860 h 2184378"/>
              <a:gd name="connsiteX0" fmla="*/ 0 w 6205263"/>
              <a:gd name="connsiteY0" fmla="*/ 363860 h 2184378"/>
              <a:gd name="connsiteX1" fmla="*/ 363860 w 6205263"/>
              <a:gd name="connsiteY1" fmla="*/ 0 h 2184378"/>
              <a:gd name="connsiteX2" fmla="*/ 5823474 w 6205263"/>
              <a:gd name="connsiteY2" fmla="*/ 0 h 2184378"/>
              <a:gd name="connsiteX3" fmla="*/ 6187334 w 6205263"/>
              <a:gd name="connsiteY3" fmla="*/ 363860 h 2184378"/>
              <a:gd name="connsiteX4" fmla="*/ 6205263 w 6205263"/>
              <a:gd name="connsiteY4" fmla="*/ 1012434 h 2184378"/>
              <a:gd name="connsiteX5" fmla="*/ 3905027 w 6205263"/>
              <a:gd name="connsiteY5" fmla="*/ 1053564 h 2184378"/>
              <a:gd name="connsiteX6" fmla="*/ 4098555 w 6205263"/>
              <a:gd name="connsiteY6" fmla="*/ 2184378 h 2184378"/>
              <a:gd name="connsiteX7" fmla="*/ 363860 w 6205263"/>
              <a:gd name="connsiteY7" fmla="*/ 2183117 h 2184378"/>
              <a:gd name="connsiteX8" fmla="*/ 0 w 6205263"/>
              <a:gd name="connsiteY8" fmla="*/ 1819257 h 2184378"/>
              <a:gd name="connsiteX9" fmla="*/ 0 w 6205263"/>
              <a:gd name="connsiteY9" fmla="*/ 363860 h 2184378"/>
              <a:gd name="connsiteX0" fmla="*/ 0 w 6214227"/>
              <a:gd name="connsiteY0" fmla="*/ 363860 h 2184378"/>
              <a:gd name="connsiteX1" fmla="*/ 363860 w 6214227"/>
              <a:gd name="connsiteY1" fmla="*/ 0 h 2184378"/>
              <a:gd name="connsiteX2" fmla="*/ 5823474 w 6214227"/>
              <a:gd name="connsiteY2" fmla="*/ 0 h 2184378"/>
              <a:gd name="connsiteX3" fmla="*/ 6187334 w 6214227"/>
              <a:gd name="connsiteY3" fmla="*/ 363860 h 2184378"/>
              <a:gd name="connsiteX4" fmla="*/ 6214227 w 6214227"/>
              <a:gd name="connsiteY4" fmla="*/ 770386 h 2184378"/>
              <a:gd name="connsiteX5" fmla="*/ 3905027 w 6214227"/>
              <a:gd name="connsiteY5" fmla="*/ 1053564 h 2184378"/>
              <a:gd name="connsiteX6" fmla="*/ 4098555 w 6214227"/>
              <a:gd name="connsiteY6" fmla="*/ 2184378 h 2184378"/>
              <a:gd name="connsiteX7" fmla="*/ 363860 w 6214227"/>
              <a:gd name="connsiteY7" fmla="*/ 2183117 h 2184378"/>
              <a:gd name="connsiteX8" fmla="*/ 0 w 6214227"/>
              <a:gd name="connsiteY8" fmla="*/ 1819257 h 2184378"/>
              <a:gd name="connsiteX9" fmla="*/ 0 w 6214227"/>
              <a:gd name="connsiteY9" fmla="*/ 363860 h 2184378"/>
              <a:gd name="connsiteX0" fmla="*/ 0 w 6220938"/>
              <a:gd name="connsiteY0" fmla="*/ 363860 h 2184378"/>
              <a:gd name="connsiteX1" fmla="*/ 363860 w 6220938"/>
              <a:gd name="connsiteY1" fmla="*/ 0 h 2184378"/>
              <a:gd name="connsiteX2" fmla="*/ 5823474 w 6220938"/>
              <a:gd name="connsiteY2" fmla="*/ 0 h 2184378"/>
              <a:gd name="connsiteX3" fmla="*/ 6187334 w 6220938"/>
              <a:gd name="connsiteY3" fmla="*/ 363860 h 2184378"/>
              <a:gd name="connsiteX4" fmla="*/ 6214227 w 6220938"/>
              <a:gd name="connsiteY4" fmla="*/ 770386 h 2184378"/>
              <a:gd name="connsiteX5" fmla="*/ 5963213 w 6220938"/>
              <a:gd name="connsiteY5" fmla="*/ 893459 h 2184378"/>
              <a:gd name="connsiteX6" fmla="*/ 3905027 w 6220938"/>
              <a:gd name="connsiteY6" fmla="*/ 1053564 h 2184378"/>
              <a:gd name="connsiteX7" fmla="*/ 4098555 w 6220938"/>
              <a:gd name="connsiteY7" fmla="*/ 2184378 h 2184378"/>
              <a:gd name="connsiteX8" fmla="*/ 363860 w 6220938"/>
              <a:gd name="connsiteY8" fmla="*/ 2183117 h 2184378"/>
              <a:gd name="connsiteX9" fmla="*/ 0 w 6220938"/>
              <a:gd name="connsiteY9" fmla="*/ 1819257 h 2184378"/>
              <a:gd name="connsiteX10" fmla="*/ 0 w 6220938"/>
              <a:gd name="connsiteY10" fmla="*/ 363860 h 2184378"/>
              <a:gd name="connsiteX0" fmla="*/ 0 w 6236984"/>
              <a:gd name="connsiteY0" fmla="*/ 363860 h 2184378"/>
              <a:gd name="connsiteX1" fmla="*/ 363860 w 6236984"/>
              <a:gd name="connsiteY1" fmla="*/ 0 h 2184378"/>
              <a:gd name="connsiteX2" fmla="*/ 5823474 w 6236984"/>
              <a:gd name="connsiteY2" fmla="*/ 0 h 2184378"/>
              <a:gd name="connsiteX3" fmla="*/ 6187334 w 6236984"/>
              <a:gd name="connsiteY3" fmla="*/ 363860 h 2184378"/>
              <a:gd name="connsiteX4" fmla="*/ 6214227 w 6236984"/>
              <a:gd name="connsiteY4" fmla="*/ 770386 h 2184378"/>
              <a:gd name="connsiteX5" fmla="*/ 5999071 w 6236984"/>
              <a:gd name="connsiteY5" fmla="*/ 1054823 h 2184378"/>
              <a:gd name="connsiteX6" fmla="*/ 3905027 w 6236984"/>
              <a:gd name="connsiteY6" fmla="*/ 1053564 h 2184378"/>
              <a:gd name="connsiteX7" fmla="*/ 4098555 w 6236984"/>
              <a:gd name="connsiteY7" fmla="*/ 2184378 h 2184378"/>
              <a:gd name="connsiteX8" fmla="*/ 363860 w 6236984"/>
              <a:gd name="connsiteY8" fmla="*/ 2183117 h 2184378"/>
              <a:gd name="connsiteX9" fmla="*/ 0 w 6236984"/>
              <a:gd name="connsiteY9" fmla="*/ 1819257 h 2184378"/>
              <a:gd name="connsiteX10" fmla="*/ 0 w 6236984"/>
              <a:gd name="connsiteY10" fmla="*/ 363860 h 2184378"/>
              <a:gd name="connsiteX0" fmla="*/ 0 w 6224054"/>
              <a:gd name="connsiteY0" fmla="*/ 363860 h 2184378"/>
              <a:gd name="connsiteX1" fmla="*/ 363860 w 6224054"/>
              <a:gd name="connsiteY1" fmla="*/ 0 h 2184378"/>
              <a:gd name="connsiteX2" fmla="*/ 5823474 w 6224054"/>
              <a:gd name="connsiteY2" fmla="*/ 0 h 2184378"/>
              <a:gd name="connsiteX3" fmla="*/ 6187334 w 6224054"/>
              <a:gd name="connsiteY3" fmla="*/ 363860 h 2184378"/>
              <a:gd name="connsiteX4" fmla="*/ 6187333 w 6224054"/>
              <a:gd name="connsiteY4" fmla="*/ 940715 h 2184378"/>
              <a:gd name="connsiteX5" fmla="*/ 5999071 w 6224054"/>
              <a:gd name="connsiteY5" fmla="*/ 1054823 h 2184378"/>
              <a:gd name="connsiteX6" fmla="*/ 3905027 w 6224054"/>
              <a:gd name="connsiteY6" fmla="*/ 1053564 h 2184378"/>
              <a:gd name="connsiteX7" fmla="*/ 4098555 w 6224054"/>
              <a:gd name="connsiteY7" fmla="*/ 2184378 h 2184378"/>
              <a:gd name="connsiteX8" fmla="*/ 363860 w 6224054"/>
              <a:gd name="connsiteY8" fmla="*/ 2183117 h 2184378"/>
              <a:gd name="connsiteX9" fmla="*/ 0 w 6224054"/>
              <a:gd name="connsiteY9" fmla="*/ 1819257 h 2184378"/>
              <a:gd name="connsiteX10" fmla="*/ 0 w 6224054"/>
              <a:gd name="connsiteY10" fmla="*/ 363860 h 2184378"/>
              <a:gd name="connsiteX0" fmla="*/ 0 w 6187334"/>
              <a:gd name="connsiteY0" fmla="*/ 363860 h 2184378"/>
              <a:gd name="connsiteX1" fmla="*/ 363860 w 6187334"/>
              <a:gd name="connsiteY1" fmla="*/ 0 h 2184378"/>
              <a:gd name="connsiteX2" fmla="*/ 5823474 w 6187334"/>
              <a:gd name="connsiteY2" fmla="*/ 0 h 2184378"/>
              <a:gd name="connsiteX3" fmla="*/ 6187334 w 6187334"/>
              <a:gd name="connsiteY3" fmla="*/ 363860 h 2184378"/>
              <a:gd name="connsiteX4" fmla="*/ 6187333 w 6187334"/>
              <a:gd name="connsiteY4" fmla="*/ 940715 h 2184378"/>
              <a:gd name="connsiteX5" fmla="*/ 5685307 w 6187334"/>
              <a:gd name="connsiteY5" fmla="*/ 1072752 h 2184378"/>
              <a:gd name="connsiteX6" fmla="*/ 3905027 w 6187334"/>
              <a:gd name="connsiteY6" fmla="*/ 1053564 h 2184378"/>
              <a:gd name="connsiteX7" fmla="*/ 4098555 w 6187334"/>
              <a:gd name="connsiteY7" fmla="*/ 2184378 h 2184378"/>
              <a:gd name="connsiteX8" fmla="*/ 363860 w 6187334"/>
              <a:gd name="connsiteY8" fmla="*/ 2183117 h 2184378"/>
              <a:gd name="connsiteX9" fmla="*/ 0 w 6187334"/>
              <a:gd name="connsiteY9" fmla="*/ 1819257 h 2184378"/>
              <a:gd name="connsiteX10" fmla="*/ 0 w 6187334"/>
              <a:gd name="connsiteY10" fmla="*/ 363860 h 2184378"/>
              <a:gd name="connsiteX0" fmla="*/ 0 w 6187334"/>
              <a:gd name="connsiteY0" fmla="*/ 363860 h 2184378"/>
              <a:gd name="connsiteX1" fmla="*/ 363860 w 6187334"/>
              <a:gd name="connsiteY1" fmla="*/ 0 h 2184378"/>
              <a:gd name="connsiteX2" fmla="*/ 5823474 w 6187334"/>
              <a:gd name="connsiteY2" fmla="*/ 0 h 2184378"/>
              <a:gd name="connsiteX3" fmla="*/ 6187334 w 6187334"/>
              <a:gd name="connsiteY3" fmla="*/ 363860 h 2184378"/>
              <a:gd name="connsiteX4" fmla="*/ 6187333 w 6187334"/>
              <a:gd name="connsiteY4" fmla="*/ 940715 h 2184378"/>
              <a:gd name="connsiteX5" fmla="*/ 5685307 w 6187334"/>
              <a:gd name="connsiteY5" fmla="*/ 1072752 h 2184378"/>
              <a:gd name="connsiteX6" fmla="*/ 3931922 w 6187334"/>
              <a:gd name="connsiteY6" fmla="*/ 1125282 h 2184378"/>
              <a:gd name="connsiteX7" fmla="*/ 4098555 w 6187334"/>
              <a:gd name="connsiteY7" fmla="*/ 2184378 h 2184378"/>
              <a:gd name="connsiteX8" fmla="*/ 363860 w 6187334"/>
              <a:gd name="connsiteY8" fmla="*/ 2183117 h 2184378"/>
              <a:gd name="connsiteX9" fmla="*/ 0 w 6187334"/>
              <a:gd name="connsiteY9" fmla="*/ 1819257 h 2184378"/>
              <a:gd name="connsiteX10" fmla="*/ 0 w 6187334"/>
              <a:gd name="connsiteY10" fmla="*/ 363860 h 2184378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31922 w 6187334"/>
              <a:gd name="connsiteY6" fmla="*/ 1125282 h 2183117"/>
              <a:gd name="connsiteX7" fmla="*/ 3937190 w 6187334"/>
              <a:gd name="connsiteY7" fmla="*/ 2166448 h 2183117"/>
              <a:gd name="connsiteX8" fmla="*/ 363860 w 6187334"/>
              <a:gd name="connsiteY8" fmla="*/ 2183117 h 2183117"/>
              <a:gd name="connsiteX9" fmla="*/ 0 w 6187334"/>
              <a:gd name="connsiteY9" fmla="*/ 1819257 h 2183117"/>
              <a:gd name="connsiteX10" fmla="*/ 0 w 6187334"/>
              <a:gd name="connsiteY10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22957 w 6187334"/>
              <a:gd name="connsiteY6" fmla="*/ 1116318 h 2183117"/>
              <a:gd name="connsiteX7" fmla="*/ 3937190 w 6187334"/>
              <a:gd name="connsiteY7" fmla="*/ 2166448 h 2183117"/>
              <a:gd name="connsiteX8" fmla="*/ 363860 w 6187334"/>
              <a:gd name="connsiteY8" fmla="*/ 2183117 h 2183117"/>
              <a:gd name="connsiteX9" fmla="*/ 0 w 6187334"/>
              <a:gd name="connsiteY9" fmla="*/ 1819257 h 2183117"/>
              <a:gd name="connsiteX10" fmla="*/ 0 w 6187334"/>
              <a:gd name="connsiteY10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22957 w 6187334"/>
              <a:gd name="connsiteY6" fmla="*/ 1116318 h 2183117"/>
              <a:gd name="connsiteX7" fmla="*/ 3919259 w 6187334"/>
              <a:gd name="connsiteY7" fmla="*/ 1350660 h 2183117"/>
              <a:gd name="connsiteX8" fmla="*/ 3937190 w 6187334"/>
              <a:gd name="connsiteY8" fmla="*/ 2166448 h 2183117"/>
              <a:gd name="connsiteX9" fmla="*/ 363860 w 6187334"/>
              <a:gd name="connsiteY9" fmla="*/ 2183117 h 2183117"/>
              <a:gd name="connsiteX10" fmla="*/ 0 w 6187334"/>
              <a:gd name="connsiteY10" fmla="*/ 1819257 h 2183117"/>
              <a:gd name="connsiteX11" fmla="*/ 0 w 6187334"/>
              <a:gd name="connsiteY11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85710 w 6187334"/>
              <a:gd name="connsiteY6" fmla="*/ 1089423 h 2183117"/>
              <a:gd name="connsiteX7" fmla="*/ 3919259 w 6187334"/>
              <a:gd name="connsiteY7" fmla="*/ 1350660 h 2183117"/>
              <a:gd name="connsiteX8" fmla="*/ 3937190 w 6187334"/>
              <a:gd name="connsiteY8" fmla="*/ 2166448 h 2183117"/>
              <a:gd name="connsiteX9" fmla="*/ 363860 w 6187334"/>
              <a:gd name="connsiteY9" fmla="*/ 2183117 h 2183117"/>
              <a:gd name="connsiteX10" fmla="*/ 0 w 6187334"/>
              <a:gd name="connsiteY10" fmla="*/ 1819257 h 2183117"/>
              <a:gd name="connsiteX11" fmla="*/ 0 w 6187334"/>
              <a:gd name="connsiteY11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85710 w 6187334"/>
              <a:gd name="connsiteY6" fmla="*/ 1089423 h 2183117"/>
              <a:gd name="connsiteX7" fmla="*/ 3919259 w 6187334"/>
              <a:gd name="connsiteY7" fmla="*/ 1350660 h 2183117"/>
              <a:gd name="connsiteX8" fmla="*/ 3937190 w 6187334"/>
              <a:gd name="connsiteY8" fmla="*/ 2166448 h 2183117"/>
              <a:gd name="connsiteX9" fmla="*/ 3650318 w 6187334"/>
              <a:gd name="connsiteY9" fmla="*/ 2175413 h 2183117"/>
              <a:gd name="connsiteX10" fmla="*/ 363860 w 6187334"/>
              <a:gd name="connsiteY10" fmla="*/ 2183117 h 2183117"/>
              <a:gd name="connsiteX11" fmla="*/ 0 w 6187334"/>
              <a:gd name="connsiteY11" fmla="*/ 1819257 h 2183117"/>
              <a:gd name="connsiteX12" fmla="*/ 0 w 6187334"/>
              <a:gd name="connsiteY12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85710 w 6187334"/>
              <a:gd name="connsiteY6" fmla="*/ 1089423 h 2183117"/>
              <a:gd name="connsiteX7" fmla="*/ 3919259 w 6187334"/>
              <a:gd name="connsiteY7" fmla="*/ 1350660 h 2183117"/>
              <a:gd name="connsiteX8" fmla="*/ 3937190 w 6187334"/>
              <a:gd name="connsiteY8" fmla="*/ 1798895 h 2183117"/>
              <a:gd name="connsiteX9" fmla="*/ 3650318 w 6187334"/>
              <a:gd name="connsiteY9" fmla="*/ 2175413 h 2183117"/>
              <a:gd name="connsiteX10" fmla="*/ 363860 w 6187334"/>
              <a:gd name="connsiteY10" fmla="*/ 2183117 h 2183117"/>
              <a:gd name="connsiteX11" fmla="*/ 0 w 6187334"/>
              <a:gd name="connsiteY11" fmla="*/ 1819257 h 2183117"/>
              <a:gd name="connsiteX12" fmla="*/ 0 w 6187334"/>
              <a:gd name="connsiteY12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85710 w 6187334"/>
              <a:gd name="connsiteY6" fmla="*/ 1089423 h 2183117"/>
              <a:gd name="connsiteX7" fmla="*/ 3919259 w 6187334"/>
              <a:gd name="connsiteY7" fmla="*/ 1350660 h 2183117"/>
              <a:gd name="connsiteX8" fmla="*/ 3937190 w 6187334"/>
              <a:gd name="connsiteY8" fmla="*/ 1798895 h 2183117"/>
              <a:gd name="connsiteX9" fmla="*/ 3775824 w 6187334"/>
              <a:gd name="connsiteY9" fmla="*/ 2005084 h 2183117"/>
              <a:gd name="connsiteX10" fmla="*/ 3650318 w 6187334"/>
              <a:gd name="connsiteY10" fmla="*/ 2175413 h 2183117"/>
              <a:gd name="connsiteX11" fmla="*/ 363860 w 6187334"/>
              <a:gd name="connsiteY11" fmla="*/ 2183117 h 2183117"/>
              <a:gd name="connsiteX12" fmla="*/ 0 w 6187334"/>
              <a:gd name="connsiteY12" fmla="*/ 1819257 h 2183117"/>
              <a:gd name="connsiteX13" fmla="*/ 0 w 6187334"/>
              <a:gd name="connsiteY13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85710 w 6187334"/>
              <a:gd name="connsiteY6" fmla="*/ 1089423 h 2183117"/>
              <a:gd name="connsiteX7" fmla="*/ 3919259 w 6187334"/>
              <a:gd name="connsiteY7" fmla="*/ 1350660 h 2183117"/>
              <a:gd name="connsiteX8" fmla="*/ 3937190 w 6187334"/>
              <a:gd name="connsiteY8" fmla="*/ 1798895 h 2183117"/>
              <a:gd name="connsiteX9" fmla="*/ 3919259 w 6187334"/>
              <a:gd name="connsiteY9" fmla="*/ 2175413 h 2183117"/>
              <a:gd name="connsiteX10" fmla="*/ 3650318 w 6187334"/>
              <a:gd name="connsiteY10" fmla="*/ 2175413 h 2183117"/>
              <a:gd name="connsiteX11" fmla="*/ 363860 w 6187334"/>
              <a:gd name="connsiteY11" fmla="*/ 2183117 h 2183117"/>
              <a:gd name="connsiteX12" fmla="*/ 0 w 6187334"/>
              <a:gd name="connsiteY12" fmla="*/ 1819257 h 2183117"/>
              <a:gd name="connsiteX13" fmla="*/ 0 w 6187334"/>
              <a:gd name="connsiteY13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712201 w 6187334"/>
              <a:gd name="connsiteY5" fmla="*/ 1036893 h 2183117"/>
              <a:gd name="connsiteX6" fmla="*/ 3985710 w 6187334"/>
              <a:gd name="connsiteY6" fmla="*/ 1089423 h 2183117"/>
              <a:gd name="connsiteX7" fmla="*/ 3919259 w 6187334"/>
              <a:gd name="connsiteY7" fmla="*/ 1350660 h 2183117"/>
              <a:gd name="connsiteX8" fmla="*/ 3937190 w 6187334"/>
              <a:gd name="connsiteY8" fmla="*/ 1798895 h 2183117"/>
              <a:gd name="connsiteX9" fmla="*/ 3919259 w 6187334"/>
              <a:gd name="connsiteY9" fmla="*/ 2175413 h 2183117"/>
              <a:gd name="connsiteX10" fmla="*/ 3650318 w 6187334"/>
              <a:gd name="connsiteY10" fmla="*/ 2175413 h 2183117"/>
              <a:gd name="connsiteX11" fmla="*/ 363860 w 6187334"/>
              <a:gd name="connsiteY11" fmla="*/ 2183117 h 2183117"/>
              <a:gd name="connsiteX12" fmla="*/ 0 w 6187334"/>
              <a:gd name="connsiteY12" fmla="*/ 1819257 h 2183117"/>
              <a:gd name="connsiteX13" fmla="*/ 0 w 6187334"/>
              <a:gd name="connsiteY13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712201 w 6187334"/>
              <a:gd name="connsiteY5" fmla="*/ 1036893 h 2183117"/>
              <a:gd name="connsiteX6" fmla="*/ 3976745 w 6187334"/>
              <a:gd name="connsiteY6" fmla="*/ 1062529 h 2183117"/>
              <a:gd name="connsiteX7" fmla="*/ 3919259 w 6187334"/>
              <a:gd name="connsiteY7" fmla="*/ 1350660 h 2183117"/>
              <a:gd name="connsiteX8" fmla="*/ 3937190 w 6187334"/>
              <a:gd name="connsiteY8" fmla="*/ 1798895 h 2183117"/>
              <a:gd name="connsiteX9" fmla="*/ 3919259 w 6187334"/>
              <a:gd name="connsiteY9" fmla="*/ 2175413 h 2183117"/>
              <a:gd name="connsiteX10" fmla="*/ 3650318 w 6187334"/>
              <a:gd name="connsiteY10" fmla="*/ 2175413 h 2183117"/>
              <a:gd name="connsiteX11" fmla="*/ 363860 w 6187334"/>
              <a:gd name="connsiteY11" fmla="*/ 2183117 h 2183117"/>
              <a:gd name="connsiteX12" fmla="*/ 0 w 6187334"/>
              <a:gd name="connsiteY12" fmla="*/ 1819257 h 2183117"/>
              <a:gd name="connsiteX13" fmla="*/ 0 w 6187334"/>
              <a:gd name="connsiteY13" fmla="*/ 363860 h 2183117"/>
              <a:gd name="connsiteX0" fmla="*/ 0 w 6205779"/>
              <a:gd name="connsiteY0" fmla="*/ 363860 h 2183117"/>
              <a:gd name="connsiteX1" fmla="*/ 363860 w 6205779"/>
              <a:gd name="connsiteY1" fmla="*/ 0 h 2183117"/>
              <a:gd name="connsiteX2" fmla="*/ 5823474 w 6205779"/>
              <a:gd name="connsiteY2" fmla="*/ 0 h 2183117"/>
              <a:gd name="connsiteX3" fmla="*/ 6187334 w 6205779"/>
              <a:gd name="connsiteY3" fmla="*/ 363860 h 2183117"/>
              <a:gd name="connsiteX4" fmla="*/ 6187333 w 6205779"/>
              <a:gd name="connsiteY4" fmla="*/ 940715 h 2183117"/>
              <a:gd name="connsiteX5" fmla="*/ 5963213 w 6205779"/>
              <a:gd name="connsiteY5" fmla="*/ 1036893 h 2183117"/>
              <a:gd name="connsiteX6" fmla="*/ 3976745 w 6205779"/>
              <a:gd name="connsiteY6" fmla="*/ 1062529 h 2183117"/>
              <a:gd name="connsiteX7" fmla="*/ 3919259 w 6205779"/>
              <a:gd name="connsiteY7" fmla="*/ 1350660 h 2183117"/>
              <a:gd name="connsiteX8" fmla="*/ 3937190 w 6205779"/>
              <a:gd name="connsiteY8" fmla="*/ 1798895 h 2183117"/>
              <a:gd name="connsiteX9" fmla="*/ 3919259 w 6205779"/>
              <a:gd name="connsiteY9" fmla="*/ 2175413 h 2183117"/>
              <a:gd name="connsiteX10" fmla="*/ 3650318 w 6205779"/>
              <a:gd name="connsiteY10" fmla="*/ 2175413 h 2183117"/>
              <a:gd name="connsiteX11" fmla="*/ 363860 w 6205779"/>
              <a:gd name="connsiteY11" fmla="*/ 2183117 h 2183117"/>
              <a:gd name="connsiteX12" fmla="*/ 0 w 6205779"/>
              <a:gd name="connsiteY12" fmla="*/ 1819257 h 2183117"/>
              <a:gd name="connsiteX13" fmla="*/ 0 w 6205779"/>
              <a:gd name="connsiteY13" fmla="*/ 363860 h 2183117"/>
              <a:gd name="connsiteX0" fmla="*/ 0 w 6205779"/>
              <a:gd name="connsiteY0" fmla="*/ 363860 h 2183117"/>
              <a:gd name="connsiteX1" fmla="*/ 363860 w 6205779"/>
              <a:gd name="connsiteY1" fmla="*/ 0 h 2183117"/>
              <a:gd name="connsiteX2" fmla="*/ 5823474 w 6205779"/>
              <a:gd name="connsiteY2" fmla="*/ 0 h 2183117"/>
              <a:gd name="connsiteX3" fmla="*/ 6187334 w 6205779"/>
              <a:gd name="connsiteY3" fmla="*/ 363860 h 2183117"/>
              <a:gd name="connsiteX4" fmla="*/ 6187333 w 6205779"/>
              <a:gd name="connsiteY4" fmla="*/ 752456 h 2183117"/>
              <a:gd name="connsiteX5" fmla="*/ 5963213 w 6205779"/>
              <a:gd name="connsiteY5" fmla="*/ 1036893 h 2183117"/>
              <a:gd name="connsiteX6" fmla="*/ 3976745 w 6205779"/>
              <a:gd name="connsiteY6" fmla="*/ 1062529 h 2183117"/>
              <a:gd name="connsiteX7" fmla="*/ 3919259 w 6205779"/>
              <a:gd name="connsiteY7" fmla="*/ 1350660 h 2183117"/>
              <a:gd name="connsiteX8" fmla="*/ 3937190 w 6205779"/>
              <a:gd name="connsiteY8" fmla="*/ 1798895 h 2183117"/>
              <a:gd name="connsiteX9" fmla="*/ 3919259 w 6205779"/>
              <a:gd name="connsiteY9" fmla="*/ 2175413 h 2183117"/>
              <a:gd name="connsiteX10" fmla="*/ 3650318 w 6205779"/>
              <a:gd name="connsiteY10" fmla="*/ 2175413 h 2183117"/>
              <a:gd name="connsiteX11" fmla="*/ 363860 w 6205779"/>
              <a:gd name="connsiteY11" fmla="*/ 2183117 h 2183117"/>
              <a:gd name="connsiteX12" fmla="*/ 0 w 6205779"/>
              <a:gd name="connsiteY12" fmla="*/ 1819257 h 2183117"/>
              <a:gd name="connsiteX13" fmla="*/ 0 w 6205779"/>
              <a:gd name="connsiteY13" fmla="*/ 363860 h 2183117"/>
              <a:gd name="connsiteX0" fmla="*/ 0 w 6205779"/>
              <a:gd name="connsiteY0" fmla="*/ 363860 h 2183117"/>
              <a:gd name="connsiteX1" fmla="*/ 363860 w 6205779"/>
              <a:gd name="connsiteY1" fmla="*/ 0 h 2183117"/>
              <a:gd name="connsiteX2" fmla="*/ 5823474 w 6205779"/>
              <a:gd name="connsiteY2" fmla="*/ 0 h 2183117"/>
              <a:gd name="connsiteX3" fmla="*/ 6187334 w 6205779"/>
              <a:gd name="connsiteY3" fmla="*/ 363860 h 2183117"/>
              <a:gd name="connsiteX4" fmla="*/ 6187333 w 6205779"/>
              <a:gd name="connsiteY4" fmla="*/ 680738 h 2183117"/>
              <a:gd name="connsiteX5" fmla="*/ 5963213 w 6205779"/>
              <a:gd name="connsiteY5" fmla="*/ 1036893 h 2183117"/>
              <a:gd name="connsiteX6" fmla="*/ 3976745 w 6205779"/>
              <a:gd name="connsiteY6" fmla="*/ 1062529 h 2183117"/>
              <a:gd name="connsiteX7" fmla="*/ 3919259 w 6205779"/>
              <a:gd name="connsiteY7" fmla="*/ 1350660 h 2183117"/>
              <a:gd name="connsiteX8" fmla="*/ 3937190 w 6205779"/>
              <a:gd name="connsiteY8" fmla="*/ 1798895 h 2183117"/>
              <a:gd name="connsiteX9" fmla="*/ 3919259 w 6205779"/>
              <a:gd name="connsiteY9" fmla="*/ 2175413 h 2183117"/>
              <a:gd name="connsiteX10" fmla="*/ 3650318 w 6205779"/>
              <a:gd name="connsiteY10" fmla="*/ 2175413 h 2183117"/>
              <a:gd name="connsiteX11" fmla="*/ 363860 w 6205779"/>
              <a:gd name="connsiteY11" fmla="*/ 2183117 h 2183117"/>
              <a:gd name="connsiteX12" fmla="*/ 0 w 6205779"/>
              <a:gd name="connsiteY12" fmla="*/ 1819257 h 2183117"/>
              <a:gd name="connsiteX13" fmla="*/ 0 w 6205779"/>
              <a:gd name="connsiteY13" fmla="*/ 363860 h 2183117"/>
              <a:gd name="connsiteX0" fmla="*/ 0 w 6201126"/>
              <a:gd name="connsiteY0" fmla="*/ 363860 h 2183117"/>
              <a:gd name="connsiteX1" fmla="*/ 363860 w 6201126"/>
              <a:gd name="connsiteY1" fmla="*/ 0 h 2183117"/>
              <a:gd name="connsiteX2" fmla="*/ 5823474 w 6201126"/>
              <a:gd name="connsiteY2" fmla="*/ 0 h 2183117"/>
              <a:gd name="connsiteX3" fmla="*/ 6187334 w 6201126"/>
              <a:gd name="connsiteY3" fmla="*/ 363860 h 2183117"/>
              <a:gd name="connsiteX4" fmla="*/ 6178368 w 6201126"/>
              <a:gd name="connsiteY4" fmla="*/ 528338 h 2183117"/>
              <a:gd name="connsiteX5" fmla="*/ 5963213 w 6201126"/>
              <a:gd name="connsiteY5" fmla="*/ 1036893 h 2183117"/>
              <a:gd name="connsiteX6" fmla="*/ 3976745 w 6201126"/>
              <a:gd name="connsiteY6" fmla="*/ 1062529 h 2183117"/>
              <a:gd name="connsiteX7" fmla="*/ 3919259 w 6201126"/>
              <a:gd name="connsiteY7" fmla="*/ 1350660 h 2183117"/>
              <a:gd name="connsiteX8" fmla="*/ 3937190 w 6201126"/>
              <a:gd name="connsiteY8" fmla="*/ 1798895 h 2183117"/>
              <a:gd name="connsiteX9" fmla="*/ 3919259 w 6201126"/>
              <a:gd name="connsiteY9" fmla="*/ 2175413 h 2183117"/>
              <a:gd name="connsiteX10" fmla="*/ 3650318 w 6201126"/>
              <a:gd name="connsiteY10" fmla="*/ 2175413 h 2183117"/>
              <a:gd name="connsiteX11" fmla="*/ 363860 w 6201126"/>
              <a:gd name="connsiteY11" fmla="*/ 2183117 h 2183117"/>
              <a:gd name="connsiteX12" fmla="*/ 0 w 6201126"/>
              <a:gd name="connsiteY12" fmla="*/ 1819257 h 2183117"/>
              <a:gd name="connsiteX13" fmla="*/ 0 w 6201126"/>
              <a:gd name="connsiteY13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78368 w 6187334"/>
              <a:gd name="connsiteY4" fmla="*/ 528338 h 2183117"/>
              <a:gd name="connsiteX5" fmla="*/ 5882531 w 6187334"/>
              <a:gd name="connsiteY5" fmla="*/ 1063787 h 2183117"/>
              <a:gd name="connsiteX6" fmla="*/ 3976745 w 6187334"/>
              <a:gd name="connsiteY6" fmla="*/ 1062529 h 2183117"/>
              <a:gd name="connsiteX7" fmla="*/ 3919259 w 6187334"/>
              <a:gd name="connsiteY7" fmla="*/ 1350660 h 2183117"/>
              <a:gd name="connsiteX8" fmla="*/ 3937190 w 6187334"/>
              <a:gd name="connsiteY8" fmla="*/ 1798895 h 2183117"/>
              <a:gd name="connsiteX9" fmla="*/ 3919259 w 6187334"/>
              <a:gd name="connsiteY9" fmla="*/ 2175413 h 2183117"/>
              <a:gd name="connsiteX10" fmla="*/ 3650318 w 6187334"/>
              <a:gd name="connsiteY10" fmla="*/ 2175413 h 2183117"/>
              <a:gd name="connsiteX11" fmla="*/ 363860 w 6187334"/>
              <a:gd name="connsiteY11" fmla="*/ 2183117 h 2183117"/>
              <a:gd name="connsiteX12" fmla="*/ 0 w 6187334"/>
              <a:gd name="connsiteY12" fmla="*/ 1819257 h 2183117"/>
              <a:gd name="connsiteX13" fmla="*/ 0 w 6187334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3976745 w 6205262"/>
              <a:gd name="connsiteY6" fmla="*/ 1062529 h 2183117"/>
              <a:gd name="connsiteX7" fmla="*/ 3919259 w 6205262"/>
              <a:gd name="connsiteY7" fmla="*/ 1350660 h 2183117"/>
              <a:gd name="connsiteX8" fmla="*/ 3937190 w 6205262"/>
              <a:gd name="connsiteY8" fmla="*/ 1798895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3976745 w 6205262"/>
              <a:gd name="connsiteY6" fmla="*/ 1062529 h 2183117"/>
              <a:gd name="connsiteX7" fmla="*/ 3686177 w 6205262"/>
              <a:gd name="connsiteY7" fmla="*/ 1314801 h 2183117"/>
              <a:gd name="connsiteX8" fmla="*/ 3937190 w 6205262"/>
              <a:gd name="connsiteY8" fmla="*/ 1798895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3976745 w 6205262"/>
              <a:gd name="connsiteY6" fmla="*/ 1062529 h 2183117"/>
              <a:gd name="connsiteX7" fmla="*/ 3686177 w 6205262"/>
              <a:gd name="connsiteY7" fmla="*/ 13148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3976745 w 6205262"/>
              <a:gd name="connsiteY6" fmla="*/ 1062529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129145 w 6205262"/>
              <a:gd name="connsiteY6" fmla="*/ 1107352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650318 w 6205262"/>
              <a:gd name="connsiteY9" fmla="*/ 2175413 h 2183117"/>
              <a:gd name="connsiteX10" fmla="*/ 363860 w 6205262"/>
              <a:gd name="connsiteY10" fmla="*/ 2183117 h 2183117"/>
              <a:gd name="connsiteX11" fmla="*/ 0 w 6205262"/>
              <a:gd name="connsiteY11" fmla="*/ 1819257 h 2183117"/>
              <a:gd name="connsiteX12" fmla="*/ 0 w 6205262"/>
              <a:gd name="connsiteY12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650318 w 6205262"/>
              <a:gd name="connsiteY9" fmla="*/ 2175413 h 2183117"/>
              <a:gd name="connsiteX10" fmla="*/ 363860 w 6205262"/>
              <a:gd name="connsiteY10" fmla="*/ 2183117 h 2183117"/>
              <a:gd name="connsiteX11" fmla="*/ 0 w 6205262"/>
              <a:gd name="connsiteY11" fmla="*/ 1819257 h 2183117"/>
              <a:gd name="connsiteX12" fmla="*/ 0 w 6205262"/>
              <a:gd name="connsiteY12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95143 w 6205262"/>
              <a:gd name="connsiteY8" fmla="*/ 1565813 h 2183117"/>
              <a:gd name="connsiteX9" fmla="*/ 3650318 w 6205262"/>
              <a:gd name="connsiteY9" fmla="*/ 2175413 h 2183117"/>
              <a:gd name="connsiteX10" fmla="*/ 363860 w 6205262"/>
              <a:gd name="connsiteY10" fmla="*/ 2183117 h 2183117"/>
              <a:gd name="connsiteX11" fmla="*/ 0 w 6205262"/>
              <a:gd name="connsiteY11" fmla="*/ 1819257 h 2183117"/>
              <a:gd name="connsiteX12" fmla="*/ 0 w 6205262"/>
              <a:gd name="connsiteY12" fmla="*/ 363860 h 2183117"/>
              <a:gd name="connsiteX0" fmla="*/ 0 w 6205262"/>
              <a:gd name="connsiteY0" fmla="*/ 363860 h 2198016"/>
              <a:gd name="connsiteX1" fmla="*/ 363860 w 6205262"/>
              <a:gd name="connsiteY1" fmla="*/ 0 h 2198016"/>
              <a:gd name="connsiteX2" fmla="*/ 5823474 w 6205262"/>
              <a:gd name="connsiteY2" fmla="*/ 0 h 2198016"/>
              <a:gd name="connsiteX3" fmla="*/ 6187334 w 6205262"/>
              <a:gd name="connsiteY3" fmla="*/ 363860 h 2198016"/>
              <a:gd name="connsiteX4" fmla="*/ 6205262 w 6205262"/>
              <a:gd name="connsiteY4" fmla="*/ 698668 h 2198016"/>
              <a:gd name="connsiteX5" fmla="*/ 5882531 w 6205262"/>
              <a:gd name="connsiteY5" fmla="*/ 1063787 h 2198016"/>
              <a:gd name="connsiteX6" fmla="*/ 4649098 w 6205262"/>
              <a:gd name="connsiteY6" fmla="*/ 1089423 h 2198016"/>
              <a:gd name="connsiteX7" fmla="*/ 3713071 w 6205262"/>
              <a:gd name="connsiteY7" fmla="*/ 1162401 h 2198016"/>
              <a:gd name="connsiteX8" fmla="*/ 3695143 w 6205262"/>
              <a:gd name="connsiteY8" fmla="*/ 1565813 h 2198016"/>
              <a:gd name="connsiteX9" fmla="*/ 3650318 w 6205262"/>
              <a:gd name="connsiteY9" fmla="*/ 2175413 h 2198016"/>
              <a:gd name="connsiteX10" fmla="*/ 363860 w 6205262"/>
              <a:gd name="connsiteY10" fmla="*/ 2183117 h 2198016"/>
              <a:gd name="connsiteX11" fmla="*/ 0 w 6205262"/>
              <a:gd name="connsiteY11" fmla="*/ 1819257 h 2198016"/>
              <a:gd name="connsiteX12" fmla="*/ 0 w 6205262"/>
              <a:gd name="connsiteY12" fmla="*/ 363860 h 2198016"/>
              <a:gd name="connsiteX0" fmla="*/ 0 w 6205262"/>
              <a:gd name="connsiteY0" fmla="*/ 363860 h 2187112"/>
              <a:gd name="connsiteX1" fmla="*/ 363860 w 6205262"/>
              <a:gd name="connsiteY1" fmla="*/ 0 h 2187112"/>
              <a:gd name="connsiteX2" fmla="*/ 5823474 w 6205262"/>
              <a:gd name="connsiteY2" fmla="*/ 0 h 2187112"/>
              <a:gd name="connsiteX3" fmla="*/ 6187334 w 6205262"/>
              <a:gd name="connsiteY3" fmla="*/ 363860 h 2187112"/>
              <a:gd name="connsiteX4" fmla="*/ 6205262 w 6205262"/>
              <a:gd name="connsiteY4" fmla="*/ 698668 h 2187112"/>
              <a:gd name="connsiteX5" fmla="*/ 5882531 w 6205262"/>
              <a:gd name="connsiteY5" fmla="*/ 1063787 h 2187112"/>
              <a:gd name="connsiteX6" fmla="*/ 4649098 w 6205262"/>
              <a:gd name="connsiteY6" fmla="*/ 1089423 h 2187112"/>
              <a:gd name="connsiteX7" fmla="*/ 3713071 w 6205262"/>
              <a:gd name="connsiteY7" fmla="*/ 1162401 h 2187112"/>
              <a:gd name="connsiteX8" fmla="*/ 3695143 w 6205262"/>
              <a:gd name="connsiteY8" fmla="*/ 1565813 h 2187112"/>
              <a:gd name="connsiteX9" fmla="*/ 3677212 w 6205262"/>
              <a:gd name="connsiteY9" fmla="*/ 2157483 h 2187112"/>
              <a:gd name="connsiteX10" fmla="*/ 363860 w 6205262"/>
              <a:gd name="connsiteY10" fmla="*/ 2183117 h 2187112"/>
              <a:gd name="connsiteX11" fmla="*/ 0 w 6205262"/>
              <a:gd name="connsiteY11" fmla="*/ 1819257 h 2187112"/>
              <a:gd name="connsiteX12" fmla="*/ 0 w 6205262"/>
              <a:gd name="connsiteY12" fmla="*/ 363860 h 2187112"/>
              <a:gd name="connsiteX0" fmla="*/ 0 w 6205262"/>
              <a:gd name="connsiteY0" fmla="*/ 363860 h 2187112"/>
              <a:gd name="connsiteX1" fmla="*/ 363860 w 6205262"/>
              <a:gd name="connsiteY1" fmla="*/ 0 h 2187112"/>
              <a:gd name="connsiteX2" fmla="*/ 5823474 w 6205262"/>
              <a:gd name="connsiteY2" fmla="*/ 0 h 2187112"/>
              <a:gd name="connsiteX3" fmla="*/ 6187334 w 6205262"/>
              <a:gd name="connsiteY3" fmla="*/ 363860 h 2187112"/>
              <a:gd name="connsiteX4" fmla="*/ 6205262 w 6205262"/>
              <a:gd name="connsiteY4" fmla="*/ 698668 h 2187112"/>
              <a:gd name="connsiteX5" fmla="*/ 5882531 w 6205262"/>
              <a:gd name="connsiteY5" fmla="*/ 1063787 h 2187112"/>
              <a:gd name="connsiteX6" fmla="*/ 4649098 w 6205262"/>
              <a:gd name="connsiteY6" fmla="*/ 1089423 h 2187112"/>
              <a:gd name="connsiteX7" fmla="*/ 3713071 w 6205262"/>
              <a:gd name="connsiteY7" fmla="*/ 1162401 h 2187112"/>
              <a:gd name="connsiteX8" fmla="*/ 3695143 w 6205262"/>
              <a:gd name="connsiteY8" fmla="*/ 1565813 h 2187112"/>
              <a:gd name="connsiteX9" fmla="*/ 3677212 w 6205262"/>
              <a:gd name="connsiteY9" fmla="*/ 2157483 h 2187112"/>
              <a:gd name="connsiteX10" fmla="*/ 363860 w 6205262"/>
              <a:gd name="connsiteY10" fmla="*/ 2183117 h 2187112"/>
              <a:gd name="connsiteX11" fmla="*/ 0 w 6205262"/>
              <a:gd name="connsiteY11" fmla="*/ 1819257 h 2187112"/>
              <a:gd name="connsiteX12" fmla="*/ 0 w 6205262"/>
              <a:gd name="connsiteY12" fmla="*/ 363860 h 2187112"/>
              <a:gd name="connsiteX0" fmla="*/ 0 w 6205262"/>
              <a:gd name="connsiteY0" fmla="*/ 363860 h 2183550"/>
              <a:gd name="connsiteX1" fmla="*/ 363860 w 6205262"/>
              <a:gd name="connsiteY1" fmla="*/ 0 h 2183550"/>
              <a:gd name="connsiteX2" fmla="*/ 5823474 w 6205262"/>
              <a:gd name="connsiteY2" fmla="*/ 0 h 2183550"/>
              <a:gd name="connsiteX3" fmla="*/ 6187334 w 6205262"/>
              <a:gd name="connsiteY3" fmla="*/ 363860 h 2183550"/>
              <a:gd name="connsiteX4" fmla="*/ 6205262 w 6205262"/>
              <a:gd name="connsiteY4" fmla="*/ 698668 h 2183550"/>
              <a:gd name="connsiteX5" fmla="*/ 5882531 w 6205262"/>
              <a:gd name="connsiteY5" fmla="*/ 1063787 h 2183550"/>
              <a:gd name="connsiteX6" fmla="*/ 4649098 w 6205262"/>
              <a:gd name="connsiteY6" fmla="*/ 1089423 h 2183550"/>
              <a:gd name="connsiteX7" fmla="*/ 3713071 w 6205262"/>
              <a:gd name="connsiteY7" fmla="*/ 1162401 h 2183550"/>
              <a:gd name="connsiteX8" fmla="*/ 3695143 w 6205262"/>
              <a:gd name="connsiteY8" fmla="*/ 1565813 h 2183550"/>
              <a:gd name="connsiteX9" fmla="*/ 3677212 w 6205262"/>
              <a:gd name="connsiteY9" fmla="*/ 2148518 h 2183550"/>
              <a:gd name="connsiteX10" fmla="*/ 363860 w 6205262"/>
              <a:gd name="connsiteY10" fmla="*/ 2183117 h 2183550"/>
              <a:gd name="connsiteX11" fmla="*/ 0 w 6205262"/>
              <a:gd name="connsiteY11" fmla="*/ 1819257 h 2183550"/>
              <a:gd name="connsiteX12" fmla="*/ 0 w 6205262"/>
              <a:gd name="connsiteY12" fmla="*/ 363860 h 2183550"/>
              <a:gd name="connsiteX0" fmla="*/ 0 w 6205262"/>
              <a:gd name="connsiteY0" fmla="*/ 363860 h 2186185"/>
              <a:gd name="connsiteX1" fmla="*/ 363860 w 6205262"/>
              <a:gd name="connsiteY1" fmla="*/ 0 h 2186185"/>
              <a:gd name="connsiteX2" fmla="*/ 5823474 w 6205262"/>
              <a:gd name="connsiteY2" fmla="*/ 0 h 2186185"/>
              <a:gd name="connsiteX3" fmla="*/ 6187334 w 6205262"/>
              <a:gd name="connsiteY3" fmla="*/ 363860 h 2186185"/>
              <a:gd name="connsiteX4" fmla="*/ 6205262 w 6205262"/>
              <a:gd name="connsiteY4" fmla="*/ 698668 h 2186185"/>
              <a:gd name="connsiteX5" fmla="*/ 5882531 w 6205262"/>
              <a:gd name="connsiteY5" fmla="*/ 1063787 h 2186185"/>
              <a:gd name="connsiteX6" fmla="*/ 4649098 w 6205262"/>
              <a:gd name="connsiteY6" fmla="*/ 1089423 h 2186185"/>
              <a:gd name="connsiteX7" fmla="*/ 3713071 w 6205262"/>
              <a:gd name="connsiteY7" fmla="*/ 1162401 h 2186185"/>
              <a:gd name="connsiteX8" fmla="*/ 3695143 w 6205262"/>
              <a:gd name="connsiteY8" fmla="*/ 1565813 h 2186185"/>
              <a:gd name="connsiteX9" fmla="*/ 3677212 w 6205262"/>
              <a:gd name="connsiteY9" fmla="*/ 2148518 h 2186185"/>
              <a:gd name="connsiteX10" fmla="*/ 363860 w 6205262"/>
              <a:gd name="connsiteY10" fmla="*/ 2183117 h 2186185"/>
              <a:gd name="connsiteX11" fmla="*/ 0 w 6205262"/>
              <a:gd name="connsiteY11" fmla="*/ 1819257 h 2186185"/>
              <a:gd name="connsiteX12" fmla="*/ 0 w 6205262"/>
              <a:gd name="connsiteY12" fmla="*/ 363860 h 2186185"/>
              <a:gd name="connsiteX0" fmla="*/ 0 w 6205262"/>
              <a:gd name="connsiteY0" fmla="*/ 363860 h 2186185"/>
              <a:gd name="connsiteX1" fmla="*/ 363860 w 6205262"/>
              <a:gd name="connsiteY1" fmla="*/ 0 h 2186185"/>
              <a:gd name="connsiteX2" fmla="*/ 5823474 w 6205262"/>
              <a:gd name="connsiteY2" fmla="*/ 0 h 2186185"/>
              <a:gd name="connsiteX3" fmla="*/ 6187334 w 6205262"/>
              <a:gd name="connsiteY3" fmla="*/ 363860 h 2186185"/>
              <a:gd name="connsiteX4" fmla="*/ 6205262 w 6205262"/>
              <a:gd name="connsiteY4" fmla="*/ 698668 h 2186185"/>
              <a:gd name="connsiteX5" fmla="*/ 5882531 w 6205262"/>
              <a:gd name="connsiteY5" fmla="*/ 1063787 h 2186185"/>
              <a:gd name="connsiteX6" fmla="*/ 4649098 w 6205262"/>
              <a:gd name="connsiteY6" fmla="*/ 1089423 h 2186185"/>
              <a:gd name="connsiteX7" fmla="*/ 3713071 w 6205262"/>
              <a:gd name="connsiteY7" fmla="*/ 1162401 h 2186185"/>
              <a:gd name="connsiteX8" fmla="*/ 3695143 w 6205262"/>
              <a:gd name="connsiteY8" fmla="*/ 1565813 h 2186185"/>
              <a:gd name="connsiteX9" fmla="*/ 3677212 w 6205262"/>
              <a:gd name="connsiteY9" fmla="*/ 2148518 h 2186185"/>
              <a:gd name="connsiteX10" fmla="*/ 363860 w 6205262"/>
              <a:gd name="connsiteY10" fmla="*/ 2183117 h 2186185"/>
              <a:gd name="connsiteX11" fmla="*/ 0 w 6205262"/>
              <a:gd name="connsiteY11" fmla="*/ 1819257 h 2186185"/>
              <a:gd name="connsiteX12" fmla="*/ 0 w 6205262"/>
              <a:gd name="connsiteY12" fmla="*/ 363860 h 2186185"/>
              <a:gd name="connsiteX0" fmla="*/ 0 w 6205262"/>
              <a:gd name="connsiteY0" fmla="*/ 363860 h 2186185"/>
              <a:gd name="connsiteX1" fmla="*/ 363860 w 6205262"/>
              <a:gd name="connsiteY1" fmla="*/ 0 h 2186185"/>
              <a:gd name="connsiteX2" fmla="*/ 5823474 w 6205262"/>
              <a:gd name="connsiteY2" fmla="*/ 0 h 2186185"/>
              <a:gd name="connsiteX3" fmla="*/ 6187334 w 6205262"/>
              <a:gd name="connsiteY3" fmla="*/ 363860 h 2186185"/>
              <a:gd name="connsiteX4" fmla="*/ 6205262 w 6205262"/>
              <a:gd name="connsiteY4" fmla="*/ 698668 h 2186185"/>
              <a:gd name="connsiteX5" fmla="*/ 5882531 w 6205262"/>
              <a:gd name="connsiteY5" fmla="*/ 1063787 h 2186185"/>
              <a:gd name="connsiteX6" fmla="*/ 4649098 w 6205262"/>
              <a:gd name="connsiteY6" fmla="*/ 1089423 h 2186185"/>
              <a:gd name="connsiteX7" fmla="*/ 3713071 w 6205262"/>
              <a:gd name="connsiteY7" fmla="*/ 1162401 h 2186185"/>
              <a:gd name="connsiteX8" fmla="*/ 3695143 w 6205262"/>
              <a:gd name="connsiteY8" fmla="*/ 1565813 h 2186185"/>
              <a:gd name="connsiteX9" fmla="*/ 3677212 w 6205262"/>
              <a:gd name="connsiteY9" fmla="*/ 2148518 h 2186185"/>
              <a:gd name="connsiteX10" fmla="*/ 363860 w 6205262"/>
              <a:gd name="connsiteY10" fmla="*/ 2183117 h 2186185"/>
              <a:gd name="connsiteX11" fmla="*/ 0 w 6205262"/>
              <a:gd name="connsiteY11" fmla="*/ 1819257 h 2186185"/>
              <a:gd name="connsiteX12" fmla="*/ 0 w 6205262"/>
              <a:gd name="connsiteY12" fmla="*/ 363860 h 2186185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95143 w 6205262"/>
              <a:gd name="connsiteY8" fmla="*/ 1565813 h 2183117"/>
              <a:gd name="connsiteX9" fmla="*/ 3596529 w 6205262"/>
              <a:gd name="connsiteY9" fmla="*/ 2112660 h 2183117"/>
              <a:gd name="connsiteX10" fmla="*/ 363860 w 6205262"/>
              <a:gd name="connsiteY10" fmla="*/ 2183117 h 2183117"/>
              <a:gd name="connsiteX11" fmla="*/ 0 w 6205262"/>
              <a:gd name="connsiteY11" fmla="*/ 1819257 h 2183117"/>
              <a:gd name="connsiteX12" fmla="*/ 0 w 6205262"/>
              <a:gd name="connsiteY12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95143 w 6205262"/>
              <a:gd name="connsiteY8" fmla="*/ 1565813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  <a:gd name="connsiteX0" fmla="*/ 0 w 6205262"/>
              <a:gd name="connsiteY0" fmla="*/ 363860 h 2204718"/>
              <a:gd name="connsiteX1" fmla="*/ 363860 w 6205262"/>
              <a:gd name="connsiteY1" fmla="*/ 0 h 2204718"/>
              <a:gd name="connsiteX2" fmla="*/ 5823474 w 6205262"/>
              <a:gd name="connsiteY2" fmla="*/ 0 h 2204718"/>
              <a:gd name="connsiteX3" fmla="*/ 6187334 w 6205262"/>
              <a:gd name="connsiteY3" fmla="*/ 363860 h 2204718"/>
              <a:gd name="connsiteX4" fmla="*/ 6205262 w 6205262"/>
              <a:gd name="connsiteY4" fmla="*/ 698668 h 2204718"/>
              <a:gd name="connsiteX5" fmla="*/ 5882531 w 6205262"/>
              <a:gd name="connsiteY5" fmla="*/ 1063787 h 2204718"/>
              <a:gd name="connsiteX6" fmla="*/ 4649098 w 6205262"/>
              <a:gd name="connsiteY6" fmla="*/ 1089423 h 2204718"/>
              <a:gd name="connsiteX7" fmla="*/ 3713071 w 6205262"/>
              <a:gd name="connsiteY7" fmla="*/ 1162401 h 2204718"/>
              <a:gd name="connsiteX8" fmla="*/ 3731002 w 6205262"/>
              <a:gd name="connsiteY8" fmla="*/ 2121624 h 2204718"/>
              <a:gd name="connsiteX9" fmla="*/ 363860 w 6205262"/>
              <a:gd name="connsiteY9" fmla="*/ 2183117 h 2204718"/>
              <a:gd name="connsiteX10" fmla="*/ 0 w 6205262"/>
              <a:gd name="connsiteY10" fmla="*/ 1819257 h 2204718"/>
              <a:gd name="connsiteX11" fmla="*/ 0 w 6205262"/>
              <a:gd name="connsiteY11" fmla="*/ 363860 h 2204718"/>
              <a:gd name="connsiteX0" fmla="*/ 0 w 6205262"/>
              <a:gd name="connsiteY0" fmla="*/ 363860 h 2264028"/>
              <a:gd name="connsiteX1" fmla="*/ 363860 w 6205262"/>
              <a:gd name="connsiteY1" fmla="*/ 0 h 2264028"/>
              <a:gd name="connsiteX2" fmla="*/ 5823474 w 6205262"/>
              <a:gd name="connsiteY2" fmla="*/ 0 h 2264028"/>
              <a:gd name="connsiteX3" fmla="*/ 6187334 w 6205262"/>
              <a:gd name="connsiteY3" fmla="*/ 363860 h 2264028"/>
              <a:gd name="connsiteX4" fmla="*/ 6205262 w 6205262"/>
              <a:gd name="connsiteY4" fmla="*/ 698668 h 2264028"/>
              <a:gd name="connsiteX5" fmla="*/ 5882531 w 6205262"/>
              <a:gd name="connsiteY5" fmla="*/ 1063787 h 2264028"/>
              <a:gd name="connsiteX6" fmla="*/ 4649098 w 6205262"/>
              <a:gd name="connsiteY6" fmla="*/ 1089423 h 2264028"/>
              <a:gd name="connsiteX7" fmla="*/ 3713071 w 6205262"/>
              <a:gd name="connsiteY7" fmla="*/ 1162401 h 2264028"/>
              <a:gd name="connsiteX8" fmla="*/ 3731002 w 6205262"/>
              <a:gd name="connsiteY8" fmla="*/ 2121624 h 2264028"/>
              <a:gd name="connsiteX9" fmla="*/ 363860 w 6205262"/>
              <a:gd name="connsiteY9" fmla="*/ 2183117 h 2264028"/>
              <a:gd name="connsiteX10" fmla="*/ 0 w 6205262"/>
              <a:gd name="connsiteY10" fmla="*/ 1819257 h 2264028"/>
              <a:gd name="connsiteX11" fmla="*/ 0 w 6205262"/>
              <a:gd name="connsiteY11" fmla="*/ 363860 h 2264028"/>
              <a:gd name="connsiteX0" fmla="*/ 0 w 6205262"/>
              <a:gd name="connsiteY0" fmla="*/ 363860 h 2185240"/>
              <a:gd name="connsiteX1" fmla="*/ 363860 w 6205262"/>
              <a:gd name="connsiteY1" fmla="*/ 0 h 2185240"/>
              <a:gd name="connsiteX2" fmla="*/ 5823474 w 6205262"/>
              <a:gd name="connsiteY2" fmla="*/ 0 h 2185240"/>
              <a:gd name="connsiteX3" fmla="*/ 6187334 w 6205262"/>
              <a:gd name="connsiteY3" fmla="*/ 363860 h 2185240"/>
              <a:gd name="connsiteX4" fmla="*/ 6205262 w 6205262"/>
              <a:gd name="connsiteY4" fmla="*/ 698668 h 2185240"/>
              <a:gd name="connsiteX5" fmla="*/ 5882531 w 6205262"/>
              <a:gd name="connsiteY5" fmla="*/ 1063787 h 2185240"/>
              <a:gd name="connsiteX6" fmla="*/ 4649098 w 6205262"/>
              <a:gd name="connsiteY6" fmla="*/ 1089423 h 2185240"/>
              <a:gd name="connsiteX7" fmla="*/ 3713071 w 6205262"/>
              <a:gd name="connsiteY7" fmla="*/ 1162401 h 2185240"/>
              <a:gd name="connsiteX8" fmla="*/ 3731002 w 6205262"/>
              <a:gd name="connsiteY8" fmla="*/ 2121624 h 2185240"/>
              <a:gd name="connsiteX9" fmla="*/ 363860 w 6205262"/>
              <a:gd name="connsiteY9" fmla="*/ 2183117 h 2185240"/>
              <a:gd name="connsiteX10" fmla="*/ 0 w 6205262"/>
              <a:gd name="connsiteY10" fmla="*/ 1819257 h 2185240"/>
              <a:gd name="connsiteX11" fmla="*/ 0 w 6205262"/>
              <a:gd name="connsiteY11" fmla="*/ 363860 h 2185240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731002 w 6205262"/>
              <a:gd name="connsiteY8" fmla="*/ 2121624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731002 w 6205262"/>
              <a:gd name="connsiteY8" fmla="*/ 2121624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731002 w 6205262"/>
              <a:gd name="connsiteY8" fmla="*/ 2121624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722038 w 6205262"/>
              <a:gd name="connsiteY8" fmla="*/ 2014048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  <a:gd name="connsiteX0" fmla="*/ 0 w 6205262"/>
              <a:gd name="connsiteY0" fmla="*/ 363860 h 2187014"/>
              <a:gd name="connsiteX1" fmla="*/ 363860 w 6205262"/>
              <a:gd name="connsiteY1" fmla="*/ 0 h 2187014"/>
              <a:gd name="connsiteX2" fmla="*/ 5823474 w 6205262"/>
              <a:gd name="connsiteY2" fmla="*/ 0 h 2187014"/>
              <a:gd name="connsiteX3" fmla="*/ 6187334 w 6205262"/>
              <a:gd name="connsiteY3" fmla="*/ 363860 h 2187014"/>
              <a:gd name="connsiteX4" fmla="*/ 6205262 w 6205262"/>
              <a:gd name="connsiteY4" fmla="*/ 698668 h 2187014"/>
              <a:gd name="connsiteX5" fmla="*/ 5882531 w 6205262"/>
              <a:gd name="connsiteY5" fmla="*/ 1063787 h 2187014"/>
              <a:gd name="connsiteX6" fmla="*/ 4649098 w 6205262"/>
              <a:gd name="connsiteY6" fmla="*/ 1089423 h 2187014"/>
              <a:gd name="connsiteX7" fmla="*/ 3713071 w 6205262"/>
              <a:gd name="connsiteY7" fmla="*/ 1162401 h 2187014"/>
              <a:gd name="connsiteX8" fmla="*/ 3722038 w 6205262"/>
              <a:gd name="connsiteY8" fmla="*/ 2014048 h 2187014"/>
              <a:gd name="connsiteX9" fmla="*/ 363860 w 6205262"/>
              <a:gd name="connsiteY9" fmla="*/ 2183117 h 2187014"/>
              <a:gd name="connsiteX10" fmla="*/ 0 w 6205262"/>
              <a:gd name="connsiteY10" fmla="*/ 1819257 h 2187014"/>
              <a:gd name="connsiteX11" fmla="*/ 0 w 6205262"/>
              <a:gd name="connsiteY11" fmla="*/ 363860 h 2187014"/>
              <a:gd name="connsiteX0" fmla="*/ 0 w 6205262"/>
              <a:gd name="connsiteY0" fmla="*/ 363860 h 2227832"/>
              <a:gd name="connsiteX1" fmla="*/ 363860 w 6205262"/>
              <a:gd name="connsiteY1" fmla="*/ 0 h 2227832"/>
              <a:gd name="connsiteX2" fmla="*/ 5823474 w 6205262"/>
              <a:gd name="connsiteY2" fmla="*/ 0 h 2227832"/>
              <a:gd name="connsiteX3" fmla="*/ 6187334 w 6205262"/>
              <a:gd name="connsiteY3" fmla="*/ 363860 h 2227832"/>
              <a:gd name="connsiteX4" fmla="*/ 6205262 w 6205262"/>
              <a:gd name="connsiteY4" fmla="*/ 698668 h 2227832"/>
              <a:gd name="connsiteX5" fmla="*/ 5882531 w 6205262"/>
              <a:gd name="connsiteY5" fmla="*/ 1063787 h 2227832"/>
              <a:gd name="connsiteX6" fmla="*/ 4649098 w 6205262"/>
              <a:gd name="connsiteY6" fmla="*/ 1089423 h 2227832"/>
              <a:gd name="connsiteX7" fmla="*/ 3713071 w 6205262"/>
              <a:gd name="connsiteY7" fmla="*/ 1162401 h 2227832"/>
              <a:gd name="connsiteX8" fmla="*/ 3560674 w 6205262"/>
              <a:gd name="connsiteY8" fmla="*/ 2085766 h 2227832"/>
              <a:gd name="connsiteX9" fmla="*/ 363860 w 6205262"/>
              <a:gd name="connsiteY9" fmla="*/ 2183117 h 2227832"/>
              <a:gd name="connsiteX10" fmla="*/ 0 w 6205262"/>
              <a:gd name="connsiteY10" fmla="*/ 1819257 h 2227832"/>
              <a:gd name="connsiteX11" fmla="*/ 0 w 6205262"/>
              <a:gd name="connsiteY11" fmla="*/ 363860 h 2227832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560674 w 6205262"/>
              <a:gd name="connsiteY8" fmla="*/ 2085766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560674 w 6205262"/>
              <a:gd name="connsiteY8" fmla="*/ 2085766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75824 w 6205262"/>
              <a:gd name="connsiteY7" fmla="*/ 1117577 h 2183117"/>
              <a:gd name="connsiteX8" fmla="*/ 3560674 w 6205262"/>
              <a:gd name="connsiteY8" fmla="*/ 2085766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205262" h="2183117">
                <a:moveTo>
                  <a:pt x="0" y="363860"/>
                </a:moveTo>
                <a:cubicBezTo>
                  <a:pt x="0" y="162906"/>
                  <a:pt x="162906" y="0"/>
                  <a:pt x="363860" y="0"/>
                </a:cubicBezTo>
                <a:lnTo>
                  <a:pt x="5823474" y="0"/>
                </a:lnTo>
                <a:cubicBezTo>
                  <a:pt x="6024428" y="0"/>
                  <a:pt x="6187334" y="162906"/>
                  <a:pt x="6187334" y="363860"/>
                </a:cubicBezTo>
                <a:cubicBezTo>
                  <a:pt x="6187334" y="556145"/>
                  <a:pt x="6205262" y="506383"/>
                  <a:pt x="6205262" y="698668"/>
                </a:cubicBezTo>
                <a:cubicBezTo>
                  <a:pt x="6167909" y="786934"/>
                  <a:pt x="6267398" y="1016591"/>
                  <a:pt x="5882531" y="1063787"/>
                </a:cubicBezTo>
                <a:cubicBezTo>
                  <a:pt x="5497664" y="1110983"/>
                  <a:pt x="5059980" y="1087929"/>
                  <a:pt x="4649098" y="1089423"/>
                </a:cubicBezTo>
                <a:cubicBezTo>
                  <a:pt x="4056194" y="1077890"/>
                  <a:pt x="3893598" y="1021533"/>
                  <a:pt x="3775824" y="1117577"/>
                </a:cubicBezTo>
                <a:cubicBezTo>
                  <a:pt x="3781801" y="1437318"/>
                  <a:pt x="3698132" y="1326753"/>
                  <a:pt x="3560674" y="2085766"/>
                </a:cubicBezTo>
                <a:cubicBezTo>
                  <a:pt x="3011436" y="2228990"/>
                  <a:pt x="979717" y="2140876"/>
                  <a:pt x="363860" y="2183117"/>
                </a:cubicBezTo>
                <a:cubicBezTo>
                  <a:pt x="162906" y="2183117"/>
                  <a:pt x="0" y="2020211"/>
                  <a:pt x="0" y="1819257"/>
                </a:cubicBezTo>
                <a:lnTo>
                  <a:pt x="0" y="36386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solidFill>
              <a:srgbClr val="468B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200" dirty="0"/>
              <a:t>    Virtual </a:t>
            </a:r>
            <a:r>
              <a:rPr lang="fr-FR" sz="1200" dirty="0" err="1"/>
              <a:t>Private</a:t>
            </a:r>
            <a:r>
              <a:rPr lang="fr-FR" sz="1200" dirty="0"/>
              <a:t> Cloud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358705F2-3B22-539E-853D-ACCE082A5D7C}"/>
              </a:ext>
            </a:extLst>
          </p:cNvPr>
          <p:cNvSpPr/>
          <p:nvPr/>
        </p:nvSpPr>
        <p:spPr>
          <a:xfrm>
            <a:off x="6842948" y="4351296"/>
            <a:ext cx="1826728" cy="877188"/>
          </a:xfrm>
          <a:prstGeom prst="round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Amazon EC2</a:t>
            </a:r>
          </a:p>
          <a:p>
            <a:pPr algn="ctr"/>
            <a:r>
              <a:rPr lang="fr-FR" dirty="0"/>
              <a:t>(</a:t>
            </a:r>
            <a:r>
              <a:rPr lang="fr-FR" dirty="0" err="1"/>
              <a:t>Airbyte</a:t>
            </a:r>
            <a:r>
              <a:rPr lang="fr-FR" dirty="0"/>
              <a:t>)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4F896DDF-FB62-432D-0C98-67CFA9D0AFEA}"/>
              </a:ext>
            </a:extLst>
          </p:cNvPr>
          <p:cNvSpPr/>
          <p:nvPr/>
        </p:nvSpPr>
        <p:spPr>
          <a:xfrm>
            <a:off x="4764015" y="2810668"/>
            <a:ext cx="1535292" cy="687891"/>
          </a:xfrm>
          <a:prstGeom prst="round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Cloud Watch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5FC557AA-73E9-FC44-FD7A-A7E4ADA5B6AD}"/>
              </a:ext>
            </a:extLst>
          </p:cNvPr>
          <p:cNvSpPr/>
          <p:nvPr/>
        </p:nvSpPr>
        <p:spPr>
          <a:xfrm>
            <a:off x="6453351" y="2789475"/>
            <a:ext cx="1158911" cy="790238"/>
          </a:xfrm>
          <a:prstGeom prst="round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AWS Backups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1BF793FC-BD0A-85D7-0576-B1EDF27E5B16}"/>
              </a:ext>
            </a:extLst>
          </p:cNvPr>
          <p:cNvSpPr/>
          <p:nvPr/>
        </p:nvSpPr>
        <p:spPr>
          <a:xfrm>
            <a:off x="7679049" y="2831159"/>
            <a:ext cx="1191442" cy="690880"/>
          </a:xfrm>
          <a:prstGeom prst="round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IAM</a:t>
            </a:r>
          </a:p>
        </p:txBody>
      </p: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9EBB1859-3DA8-C04C-F09A-17B225ADB9CF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8274770" y="3522039"/>
            <a:ext cx="0" cy="548311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0922AFF4-E75B-5FC6-A069-AAFFF8CC844A}"/>
              </a:ext>
            </a:extLst>
          </p:cNvPr>
          <p:cNvCxnSpPr>
            <a:cxnSpLocks/>
            <a:stCxn id="15" idx="2"/>
            <a:endCxn id="11" idx="0"/>
          </p:cNvCxnSpPr>
          <p:nvPr/>
        </p:nvCxnSpPr>
        <p:spPr>
          <a:xfrm>
            <a:off x="7032807" y="3579713"/>
            <a:ext cx="723505" cy="771583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C3CFF158-DDCA-5326-DEF1-C001DEB53A3D}"/>
              </a:ext>
            </a:extLst>
          </p:cNvPr>
          <p:cNvCxnSpPr>
            <a:cxnSpLocks/>
            <a:stCxn id="15" idx="2"/>
            <a:endCxn id="76" idx="0"/>
          </p:cNvCxnSpPr>
          <p:nvPr/>
        </p:nvCxnSpPr>
        <p:spPr>
          <a:xfrm flipH="1">
            <a:off x="5333850" y="3579713"/>
            <a:ext cx="1698957" cy="771583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B3979061-72F0-8FFE-EFB2-243AAF9F9E9C}"/>
              </a:ext>
            </a:extLst>
          </p:cNvPr>
          <p:cNvCxnSpPr>
            <a:cxnSpLocks/>
            <a:stCxn id="14" idx="2"/>
            <a:endCxn id="76" idx="0"/>
          </p:cNvCxnSpPr>
          <p:nvPr/>
        </p:nvCxnSpPr>
        <p:spPr>
          <a:xfrm flipH="1">
            <a:off x="5333850" y="3498559"/>
            <a:ext cx="197811" cy="852737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DA4C002F-DB07-DE7D-8250-A440E82F1627}"/>
              </a:ext>
            </a:extLst>
          </p:cNvPr>
          <p:cNvSpPr/>
          <p:nvPr/>
        </p:nvSpPr>
        <p:spPr>
          <a:xfrm>
            <a:off x="9446777" y="2818796"/>
            <a:ext cx="1416523" cy="1081341"/>
          </a:xfrm>
          <a:prstGeom prst="roundRect">
            <a:avLst/>
          </a:prstGeom>
          <a:solidFill>
            <a:srgbClr val="C043CD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GitHub</a:t>
            </a:r>
          </a:p>
          <a:p>
            <a:pPr algn="ctr"/>
            <a:r>
              <a:rPr lang="fr-FR" dirty="0"/>
              <a:t>(Données Brutes)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5689A193-A653-C0E3-2DE8-4D7CE4C81A01}"/>
              </a:ext>
            </a:extLst>
          </p:cNvPr>
          <p:cNvSpPr txBox="1"/>
          <p:nvPr/>
        </p:nvSpPr>
        <p:spPr>
          <a:xfrm>
            <a:off x="9559442" y="1746088"/>
            <a:ext cx="12070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Chargement .</a:t>
            </a:r>
            <a:r>
              <a:rPr lang="fr-FR" sz="1100" i="1" dirty="0" err="1"/>
              <a:t>json</a:t>
            </a:r>
            <a:r>
              <a:rPr lang="fr-FR" sz="1100" i="1" dirty="0"/>
              <a:t>, .xlsx .csv</a:t>
            </a:r>
          </a:p>
        </p:txBody>
      </p:sp>
      <p:cxnSp>
        <p:nvCxnSpPr>
          <p:cNvPr id="31" name="Connecteur : en arc 30">
            <a:extLst>
              <a:ext uri="{FF2B5EF4-FFF2-40B4-BE49-F238E27FC236}">
                <a16:creationId xmlns:a16="http://schemas.microsoft.com/office/drawing/2014/main" id="{66CDE15D-5224-4F7A-0AF8-EC626AAC8C24}"/>
              </a:ext>
            </a:extLst>
          </p:cNvPr>
          <p:cNvCxnSpPr>
            <a:cxnSpLocks/>
            <a:stCxn id="28" idx="2"/>
            <a:endCxn id="11" idx="3"/>
          </p:cNvCxnSpPr>
          <p:nvPr/>
        </p:nvCxnSpPr>
        <p:spPr>
          <a:xfrm rot="5400000">
            <a:off x="8967482" y="3602332"/>
            <a:ext cx="889753" cy="1485363"/>
          </a:xfrm>
          <a:prstGeom prst="bentConnector2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ZoneTexte 32">
            <a:extLst>
              <a:ext uri="{FF2B5EF4-FFF2-40B4-BE49-F238E27FC236}">
                <a16:creationId xmlns:a16="http://schemas.microsoft.com/office/drawing/2014/main" id="{331C3B38-C085-03DF-E41C-AD36966DFED4}"/>
              </a:ext>
            </a:extLst>
          </p:cNvPr>
          <p:cNvSpPr txBox="1"/>
          <p:nvPr/>
        </p:nvSpPr>
        <p:spPr>
          <a:xfrm>
            <a:off x="10143470" y="6122540"/>
            <a:ext cx="1602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Déploiement image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D3177527-189C-50AF-7580-C7D0DE64FF18}"/>
              </a:ext>
            </a:extLst>
          </p:cNvPr>
          <p:cNvSpPr txBox="1"/>
          <p:nvPr/>
        </p:nvSpPr>
        <p:spPr>
          <a:xfrm>
            <a:off x="7135516" y="3567516"/>
            <a:ext cx="73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Backup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9059B31E-B037-E5BD-F115-73E9E480C7F2}"/>
              </a:ext>
            </a:extLst>
          </p:cNvPr>
          <p:cNvSpPr txBox="1"/>
          <p:nvPr/>
        </p:nvSpPr>
        <p:spPr>
          <a:xfrm>
            <a:off x="4739739" y="3456978"/>
            <a:ext cx="13493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Monitor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6D00F317-7A94-58D9-1FB1-EDC4165ED61D}"/>
              </a:ext>
            </a:extLst>
          </p:cNvPr>
          <p:cNvSpPr txBox="1"/>
          <p:nvPr/>
        </p:nvSpPr>
        <p:spPr>
          <a:xfrm>
            <a:off x="7720791" y="2565114"/>
            <a:ext cx="13493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Contrôle accès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EF4A1DB5-6A2A-FFB4-D3E2-02090B7C0367}"/>
              </a:ext>
            </a:extLst>
          </p:cNvPr>
          <p:cNvSpPr/>
          <p:nvPr/>
        </p:nvSpPr>
        <p:spPr>
          <a:xfrm>
            <a:off x="6827491" y="5397811"/>
            <a:ext cx="1790063" cy="998991"/>
          </a:xfrm>
          <a:prstGeom prst="roundRect">
            <a:avLst/>
          </a:prstGeom>
          <a:solidFill>
            <a:schemeClr val="accent5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Amazon ECR</a:t>
            </a:r>
          </a:p>
          <a:p>
            <a:pPr algn="ctr"/>
            <a:r>
              <a:rPr lang="fr-FR" sz="1600" dirty="0"/>
              <a:t>(Image DBT)</a:t>
            </a:r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701AEC9E-27E0-FAD9-55AB-783DF77255B1}"/>
              </a:ext>
            </a:extLst>
          </p:cNvPr>
          <p:cNvSpPr/>
          <p:nvPr/>
        </p:nvSpPr>
        <p:spPr>
          <a:xfrm>
            <a:off x="4420486" y="4351296"/>
            <a:ext cx="1826728" cy="877188"/>
          </a:xfrm>
          <a:prstGeom prst="roundRect">
            <a:avLst/>
          </a:prstGeom>
          <a:solidFill>
            <a:schemeClr val="accent5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Amazon RDS</a:t>
            </a:r>
          </a:p>
          <a:p>
            <a:pPr algn="ctr"/>
            <a:r>
              <a:rPr lang="fr-FR" dirty="0"/>
              <a:t>(</a:t>
            </a:r>
            <a:r>
              <a:rPr lang="fr-FR" dirty="0" err="1"/>
              <a:t>DataBase</a:t>
            </a:r>
            <a:r>
              <a:rPr lang="fr-FR" dirty="0"/>
              <a:t> PostgreSQL)</a:t>
            </a:r>
          </a:p>
        </p:txBody>
      </p:sp>
      <p:sp>
        <p:nvSpPr>
          <p:cNvPr id="94" name="Rectangle : coins arrondis 93">
            <a:extLst>
              <a:ext uri="{FF2B5EF4-FFF2-40B4-BE49-F238E27FC236}">
                <a16:creationId xmlns:a16="http://schemas.microsoft.com/office/drawing/2014/main" id="{ECABB7B8-27D4-209B-4D49-63181B357F0B}"/>
              </a:ext>
            </a:extLst>
          </p:cNvPr>
          <p:cNvSpPr/>
          <p:nvPr/>
        </p:nvSpPr>
        <p:spPr>
          <a:xfrm>
            <a:off x="10244470" y="885120"/>
            <a:ext cx="1400680" cy="651942"/>
          </a:xfrm>
          <a:prstGeom prst="roundRect">
            <a:avLst/>
          </a:prstGeom>
          <a:solidFill>
            <a:srgbClr val="0070C0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Utilisateur</a:t>
            </a:r>
          </a:p>
        </p:txBody>
      </p:sp>
      <p:cxnSp>
        <p:nvCxnSpPr>
          <p:cNvPr id="95" name="Connecteur : en arc 94">
            <a:extLst>
              <a:ext uri="{FF2B5EF4-FFF2-40B4-BE49-F238E27FC236}">
                <a16:creationId xmlns:a16="http://schemas.microsoft.com/office/drawing/2014/main" id="{E9CBAAA8-1094-91A0-5E73-391C526D6216}"/>
              </a:ext>
            </a:extLst>
          </p:cNvPr>
          <p:cNvCxnSpPr>
            <a:cxnSpLocks/>
            <a:stCxn id="94" idx="2"/>
            <a:endCxn id="28" idx="0"/>
          </p:cNvCxnSpPr>
          <p:nvPr/>
        </p:nvCxnSpPr>
        <p:spPr>
          <a:xfrm rot="5400000">
            <a:off x="9909058" y="1783044"/>
            <a:ext cx="1281734" cy="789771"/>
          </a:xfrm>
          <a:prstGeom prst="curvedConnector3">
            <a:avLst>
              <a:gd name="adj1" fmla="val 50000"/>
            </a:avLst>
          </a:prstGeom>
          <a:ln w="190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 : coins arrondis 100">
            <a:extLst>
              <a:ext uri="{FF2B5EF4-FFF2-40B4-BE49-F238E27FC236}">
                <a16:creationId xmlns:a16="http://schemas.microsoft.com/office/drawing/2014/main" id="{E4F4D53E-6129-C1E6-E279-7FBE0CF1550A}"/>
              </a:ext>
            </a:extLst>
          </p:cNvPr>
          <p:cNvSpPr/>
          <p:nvPr/>
        </p:nvSpPr>
        <p:spPr>
          <a:xfrm>
            <a:off x="9446778" y="4919506"/>
            <a:ext cx="1416523" cy="1081341"/>
          </a:xfrm>
          <a:prstGeom prst="roundRect">
            <a:avLst/>
          </a:prstGeom>
          <a:solidFill>
            <a:srgbClr val="FFC000"/>
          </a:solidFill>
          <a:ln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Docker</a:t>
            </a:r>
          </a:p>
          <a:p>
            <a:pPr algn="ctr"/>
            <a:r>
              <a:rPr lang="fr-FR" dirty="0"/>
              <a:t>(image DBT)</a:t>
            </a:r>
          </a:p>
        </p:txBody>
      </p:sp>
      <p:sp>
        <p:nvSpPr>
          <p:cNvPr id="111" name="ZoneTexte 110">
            <a:extLst>
              <a:ext uri="{FF2B5EF4-FFF2-40B4-BE49-F238E27FC236}">
                <a16:creationId xmlns:a16="http://schemas.microsoft.com/office/drawing/2014/main" id="{3246AB14-889B-076C-7C38-DF5745F68B16}"/>
              </a:ext>
            </a:extLst>
          </p:cNvPr>
          <p:cNvSpPr txBox="1"/>
          <p:nvPr/>
        </p:nvSpPr>
        <p:spPr>
          <a:xfrm>
            <a:off x="10124502" y="4102438"/>
            <a:ext cx="12070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Collecte de données</a:t>
            </a:r>
          </a:p>
        </p:txBody>
      </p:sp>
      <p:cxnSp>
        <p:nvCxnSpPr>
          <p:cNvPr id="114" name="Connecteur : en arc 113">
            <a:extLst>
              <a:ext uri="{FF2B5EF4-FFF2-40B4-BE49-F238E27FC236}">
                <a16:creationId xmlns:a16="http://schemas.microsoft.com/office/drawing/2014/main" id="{6FD5A221-8D44-2653-181F-B8F073D279D1}"/>
              </a:ext>
            </a:extLst>
          </p:cNvPr>
          <p:cNvCxnSpPr>
            <a:cxnSpLocks/>
            <a:stCxn id="101" idx="2"/>
            <a:endCxn id="53" idx="2"/>
          </p:cNvCxnSpPr>
          <p:nvPr/>
        </p:nvCxnSpPr>
        <p:spPr>
          <a:xfrm rot="5400000">
            <a:off x="8740805" y="4982566"/>
            <a:ext cx="395955" cy="2432517"/>
          </a:xfrm>
          <a:prstGeom prst="bentConnector3">
            <a:avLst>
              <a:gd name="adj1" fmla="val 157734"/>
            </a:avLst>
          </a:prstGeom>
          <a:ln w="19050">
            <a:solidFill>
              <a:srgbClr val="EA580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 : en arc 124">
            <a:extLst>
              <a:ext uri="{FF2B5EF4-FFF2-40B4-BE49-F238E27FC236}">
                <a16:creationId xmlns:a16="http://schemas.microsoft.com/office/drawing/2014/main" id="{379120C6-046C-2683-2ED8-3C92B7FB0A8A}"/>
              </a:ext>
            </a:extLst>
          </p:cNvPr>
          <p:cNvCxnSpPr>
            <a:cxnSpLocks/>
            <a:stCxn id="94" idx="3"/>
            <a:endCxn id="101" idx="3"/>
          </p:cNvCxnSpPr>
          <p:nvPr/>
        </p:nvCxnSpPr>
        <p:spPr>
          <a:xfrm flipH="1">
            <a:off x="10863301" y="1211091"/>
            <a:ext cx="781849" cy="4249086"/>
          </a:xfrm>
          <a:prstGeom prst="curvedConnector3">
            <a:avLst>
              <a:gd name="adj1" fmla="val -29238"/>
            </a:avLst>
          </a:prstGeom>
          <a:ln w="190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ZoneTexte 129">
            <a:extLst>
              <a:ext uri="{FF2B5EF4-FFF2-40B4-BE49-F238E27FC236}">
                <a16:creationId xmlns:a16="http://schemas.microsoft.com/office/drawing/2014/main" id="{42B2E01A-3B02-397E-7EBE-1AE98CD44E95}"/>
              </a:ext>
            </a:extLst>
          </p:cNvPr>
          <p:cNvSpPr txBox="1"/>
          <p:nvPr/>
        </p:nvSpPr>
        <p:spPr>
          <a:xfrm>
            <a:off x="10999336" y="3342552"/>
            <a:ext cx="971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Chargement projet DBT</a:t>
            </a:r>
          </a:p>
        </p:txBody>
      </p:sp>
      <p:cxnSp>
        <p:nvCxnSpPr>
          <p:cNvPr id="135" name="Connecteur droit avec flèche 134">
            <a:extLst>
              <a:ext uri="{FF2B5EF4-FFF2-40B4-BE49-F238E27FC236}">
                <a16:creationId xmlns:a16="http://schemas.microsoft.com/office/drawing/2014/main" id="{BE9154C0-AB5E-D647-6252-5BF65EF812FE}"/>
              </a:ext>
            </a:extLst>
          </p:cNvPr>
          <p:cNvCxnSpPr>
            <a:cxnSpLocks/>
            <a:stCxn id="11" idx="1"/>
            <a:endCxn id="76" idx="3"/>
          </p:cNvCxnSpPr>
          <p:nvPr/>
        </p:nvCxnSpPr>
        <p:spPr>
          <a:xfrm flipH="1">
            <a:off x="6247214" y="4789890"/>
            <a:ext cx="595734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Rectangle : coins arrondis 159">
            <a:extLst>
              <a:ext uri="{FF2B5EF4-FFF2-40B4-BE49-F238E27FC236}">
                <a16:creationId xmlns:a16="http://schemas.microsoft.com/office/drawing/2014/main" id="{48B548C5-7251-9AD6-4ED6-75530B7E5DAD}"/>
              </a:ext>
            </a:extLst>
          </p:cNvPr>
          <p:cNvSpPr/>
          <p:nvPr/>
        </p:nvSpPr>
        <p:spPr>
          <a:xfrm>
            <a:off x="3093721" y="5316768"/>
            <a:ext cx="3150364" cy="983803"/>
          </a:xfrm>
          <a:prstGeom prst="roundRect">
            <a:avLst/>
          </a:prstGeom>
          <a:solidFill>
            <a:schemeClr val="accent5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dirty="0"/>
              <a:t>Amazon ECS </a:t>
            </a:r>
            <a:r>
              <a:rPr lang="fr-FR" sz="1600" dirty="0"/>
              <a:t>(conteneur DBT)</a:t>
            </a:r>
            <a:endParaRPr lang="fr-FR" dirty="0"/>
          </a:p>
        </p:txBody>
      </p:sp>
      <p:cxnSp>
        <p:nvCxnSpPr>
          <p:cNvPr id="161" name="Connecteur droit avec flèche 160">
            <a:extLst>
              <a:ext uri="{FF2B5EF4-FFF2-40B4-BE49-F238E27FC236}">
                <a16:creationId xmlns:a16="http://schemas.microsoft.com/office/drawing/2014/main" id="{0ADCC232-050D-FC8E-B50D-9B4A6E0AE766}"/>
              </a:ext>
            </a:extLst>
          </p:cNvPr>
          <p:cNvCxnSpPr>
            <a:cxnSpLocks/>
            <a:stCxn id="53" idx="1"/>
            <a:endCxn id="160" idx="3"/>
          </p:cNvCxnSpPr>
          <p:nvPr/>
        </p:nvCxnSpPr>
        <p:spPr>
          <a:xfrm flipH="1" flipV="1">
            <a:off x="6244085" y="5808670"/>
            <a:ext cx="583406" cy="88637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 : coins arrondis 163">
            <a:extLst>
              <a:ext uri="{FF2B5EF4-FFF2-40B4-BE49-F238E27FC236}">
                <a16:creationId xmlns:a16="http://schemas.microsoft.com/office/drawing/2014/main" id="{4D2B1590-AA9D-89ED-63BF-EA510B53B904}"/>
              </a:ext>
            </a:extLst>
          </p:cNvPr>
          <p:cNvSpPr/>
          <p:nvPr/>
        </p:nvSpPr>
        <p:spPr>
          <a:xfrm>
            <a:off x="4711605" y="5754299"/>
            <a:ext cx="1423082" cy="49309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Tâche </a:t>
            </a:r>
            <a:r>
              <a:rPr lang="fr-FR" sz="1400" dirty="0" err="1"/>
              <a:t>dbt</a:t>
            </a:r>
            <a:r>
              <a:rPr lang="fr-FR" sz="1400" dirty="0"/>
              <a:t> </a:t>
            </a:r>
            <a:r>
              <a:rPr lang="fr-FR" sz="1400" dirty="0" err="1"/>
              <a:t>build</a:t>
            </a:r>
            <a:endParaRPr lang="fr-FR" sz="1400" dirty="0"/>
          </a:p>
        </p:txBody>
      </p:sp>
      <p:sp>
        <p:nvSpPr>
          <p:cNvPr id="165" name="Rectangle : coins arrondis 164">
            <a:extLst>
              <a:ext uri="{FF2B5EF4-FFF2-40B4-BE49-F238E27FC236}">
                <a16:creationId xmlns:a16="http://schemas.microsoft.com/office/drawing/2014/main" id="{592001B6-71FA-4850-E064-71C9A6AD9735}"/>
              </a:ext>
            </a:extLst>
          </p:cNvPr>
          <p:cNvSpPr/>
          <p:nvPr/>
        </p:nvSpPr>
        <p:spPr>
          <a:xfrm>
            <a:off x="3179125" y="5754299"/>
            <a:ext cx="1423082" cy="49309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Service </a:t>
            </a:r>
            <a:r>
              <a:rPr lang="fr-FR" sz="1400" dirty="0" err="1"/>
              <a:t>dbt</a:t>
            </a:r>
            <a:r>
              <a:rPr lang="fr-FR" sz="1400" dirty="0"/>
              <a:t> docs serve</a:t>
            </a:r>
          </a:p>
        </p:txBody>
      </p:sp>
      <p:cxnSp>
        <p:nvCxnSpPr>
          <p:cNvPr id="167" name="Connecteur : en angle 166">
            <a:extLst>
              <a:ext uri="{FF2B5EF4-FFF2-40B4-BE49-F238E27FC236}">
                <a16:creationId xmlns:a16="http://schemas.microsoft.com/office/drawing/2014/main" id="{9EB37687-9E7E-8869-CB33-8F87BBAC04C7}"/>
              </a:ext>
            </a:extLst>
          </p:cNvPr>
          <p:cNvCxnSpPr>
            <a:endCxn id="76" idx="1"/>
          </p:cNvCxnSpPr>
          <p:nvPr/>
        </p:nvCxnSpPr>
        <p:spPr>
          <a:xfrm flipV="1">
            <a:off x="3866168" y="4789890"/>
            <a:ext cx="554318" cy="526878"/>
          </a:xfrm>
          <a:prstGeom prst="bentConnector3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Connecteur droit avec flèche 187">
            <a:extLst>
              <a:ext uri="{FF2B5EF4-FFF2-40B4-BE49-F238E27FC236}">
                <a16:creationId xmlns:a16="http://schemas.microsoft.com/office/drawing/2014/main" id="{02C5E340-ABAB-C032-F4A5-4E4FCE111827}"/>
              </a:ext>
            </a:extLst>
          </p:cNvPr>
          <p:cNvCxnSpPr>
            <a:cxnSpLocks/>
          </p:cNvCxnSpPr>
          <p:nvPr/>
        </p:nvCxnSpPr>
        <p:spPr>
          <a:xfrm flipH="1">
            <a:off x="3451412" y="3522039"/>
            <a:ext cx="2080249" cy="1794729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 : coins arrondis 192">
            <a:extLst>
              <a:ext uri="{FF2B5EF4-FFF2-40B4-BE49-F238E27FC236}">
                <a16:creationId xmlns:a16="http://schemas.microsoft.com/office/drawing/2014/main" id="{97FDACCB-D3A1-DAA6-3D91-772C6CE23ADA}"/>
              </a:ext>
            </a:extLst>
          </p:cNvPr>
          <p:cNvSpPr/>
          <p:nvPr/>
        </p:nvSpPr>
        <p:spPr>
          <a:xfrm>
            <a:off x="2804269" y="2538236"/>
            <a:ext cx="1535292" cy="687891"/>
          </a:xfrm>
          <a:prstGeom prst="roundRect">
            <a:avLst/>
          </a:prstGeom>
          <a:solidFill>
            <a:srgbClr val="00B0F0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AWS Secrets Manager</a:t>
            </a:r>
          </a:p>
        </p:txBody>
      </p:sp>
      <p:cxnSp>
        <p:nvCxnSpPr>
          <p:cNvPr id="197" name="Connecteur droit avec flèche 196">
            <a:extLst>
              <a:ext uri="{FF2B5EF4-FFF2-40B4-BE49-F238E27FC236}">
                <a16:creationId xmlns:a16="http://schemas.microsoft.com/office/drawing/2014/main" id="{A028B9AF-FD41-67FB-2404-4F0FBBED3417}"/>
              </a:ext>
            </a:extLst>
          </p:cNvPr>
          <p:cNvCxnSpPr>
            <a:cxnSpLocks/>
            <a:stCxn id="193" idx="2"/>
          </p:cNvCxnSpPr>
          <p:nvPr/>
        </p:nvCxnSpPr>
        <p:spPr>
          <a:xfrm>
            <a:off x="3571915" y="3226127"/>
            <a:ext cx="1333833" cy="1106838"/>
          </a:xfrm>
          <a:prstGeom prst="straightConnector1">
            <a:avLst/>
          </a:prstGeom>
          <a:ln w="19050">
            <a:solidFill>
              <a:srgbClr val="00206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Connecteur droit avec flèche 199">
            <a:extLst>
              <a:ext uri="{FF2B5EF4-FFF2-40B4-BE49-F238E27FC236}">
                <a16:creationId xmlns:a16="http://schemas.microsoft.com/office/drawing/2014/main" id="{2459CCA1-9CB6-E71E-DC9A-D1C88DC0BE65}"/>
              </a:ext>
            </a:extLst>
          </p:cNvPr>
          <p:cNvCxnSpPr>
            <a:cxnSpLocks/>
          </p:cNvCxnSpPr>
          <p:nvPr/>
        </p:nvCxnSpPr>
        <p:spPr>
          <a:xfrm>
            <a:off x="3571915" y="3238427"/>
            <a:ext cx="227317" cy="2069552"/>
          </a:xfrm>
          <a:prstGeom prst="straightConnector1">
            <a:avLst/>
          </a:prstGeom>
          <a:ln w="19050">
            <a:solidFill>
              <a:srgbClr val="00206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Rectangle : coins arrondis 202">
            <a:extLst>
              <a:ext uri="{FF2B5EF4-FFF2-40B4-BE49-F238E27FC236}">
                <a16:creationId xmlns:a16="http://schemas.microsoft.com/office/drawing/2014/main" id="{2E5C18B9-CD90-D2B1-D4A6-661413D93FE5}"/>
              </a:ext>
            </a:extLst>
          </p:cNvPr>
          <p:cNvSpPr/>
          <p:nvPr/>
        </p:nvSpPr>
        <p:spPr>
          <a:xfrm>
            <a:off x="2671481" y="4070350"/>
            <a:ext cx="6515684" cy="2442979"/>
          </a:xfrm>
          <a:prstGeom prst="round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fr-FR" dirty="0"/>
          </a:p>
        </p:txBody>
      </p:sp>
      <p:pic>
        <p:nvPicPr>
          <p:cNvPr id="1026" name="Picture 2" descr="Network Emoji and Internet Emojis for Communication">
            <a:extLst>
              <a:ext uri="{FF2B5EF4-FFF2-40B4-BE49-F238E27FC236}">
                <a16:creationId xmlns:a16="http://schemas.microsoft.com/office/drawing/2014/main" id="{79625A7D-9AE5-E84D-9A65-815169E43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299" y="4575388"/>
            <a:ext cx="783473" cy="78347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6" name="Connecteur : en arc 205">
            <a:extLst>
              <a:ext uri="{FF2B5EF4-FFF2-40B4-BE49-F238E27FC236}">
                <a16:creationId xmlns:a16="http://schemas.microsoft.com/office/drawing/2014/main" id="{B4247CB9-5571-0DD0-325D-A7F6A054B5E9}"/>
              </a:ext>
            </a:extLst>
          </p:cNvPr>
          <p:cNvCxnSpPr>
            <a:cxnSpLocks/>
            <a:stCxn id="165" idx="1"/>
            <a:endCxn id="1026" idx="2"/>
          </p:cNvCxnSpPr>
          <p:nvPr/>
        </p:nvCxnSpPr>
        <p:spPr>
          <a:xfrm rot="10800000">
            <a:off x="997037" y="5358861"/>
            <a:ext cx="2182089" cy="6419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eur : en arc 209">
            <a:extLst>
              <a:ext uri="{FF2B5EF4-FFF2-40B4-BE49-F238E27FC236}">
                <a16:creationId xmlns:a16="http://schemas.microsoft.com/office/drawing/2014/main" id="{8FA7A2A5-0C15-D573-8995-AB558677D33D}"/>
              </a:ext>
            </a:extLst>
          </p:cNvPr>
          <p:cNvCxnSpPr>
            <a:cxnSpLocks/>
            <a:stCxn id="11" idx="3"/>
            <a:endCxn id="1026" idx="0"/>
          </p:cNvCxnSpPr>
          <p:nvPr/>
        </p:nvCxnSpPr>
        <p:spPr>
          <a:xfrm flipH="1" flipV="1">
            <a:off x="997036" y="4575388"/>
            <a:ext cx="7672640" cy="214502"/>
          </a:xfrm>
          <a:prstGeom prst="bentConnector4">
            <a:avLst>
              <a:gd name="adj1" fmla="val -5550"/>
              <a:gd name="adj2" fmla="val 123885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ZoneTexte 230">
            <a:extLst>
              <a:ext uri="{FF2B5EF4-FFF2-40B4-BE49-F238E27FC236}">
                <a16:creationId xmlns:a16="http://schemas.microsoft.com/office/drawing/2014/main" id="{3ECED0DD-C4F2-3D60-21BD-E7497E838479}"/>
              </a:ext>
            </a:extLst>
          </p:cNvPr>
          <p:cNvSpPr txBox="1"/>
          <p:nvPr/>
        </p:nvSpPr>
        <p:spPr>
          <a:xfrm>
            <a:off x="1023929" y="2114968"/>
            <a:ext cx="15545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Adresse IP publique</a:t>
            </a:r>
          </a:p>
        </p:txBody>
      </p:sp>
      <p:sp>
        <p:nvSpPr>
          <p:cNvPr id="232" name="ZoneTexte 231">
            <a:extLst>
              <a:ext uri="{FF2B5EF4-FFF2-40B4-BE49-F238E27FC236}">
                <a16:creationId xmlns:a16="http://schemas.microsoft.com/office/drawing/2014/main" id="{48A608C9-1A9B-814C-E574-7299C65D1EFD}"/>
              </a:ext>
            </a:extLst>
          </p:cNvPr>
          <p:cNvSpPr txBox="1"/>
          <p:nvPr/>
        </p:nvSpPr>
        <p:spPr>
          <a:xfrm>
            <a:off x="876781" y="5991735"/>
            <a:ext cx="15545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Adresse IP publique</a:t>
            </a:r>
          </a:p>
        </p:txBody>
      </p:sp>
      <p:sp>
        <p:nvSpPr>
          <p:cNvPr id="233" name="ZoneTexte 232">
            <a:extLst>
              <a:ext uri="{FF2B5EF4-FFF2-40B4-BE49-F238E27FC236}">
                <a16:creationId xmlns:a16="http://schemas.microsoft.com/office/drawing/2014/main" id="{AA454100-BD8F-D351-5265-12BBC9EA703F}"/>
              </a:ext>
            </a:extLst>
          </p:cNvPr>
          <p:cNvSpPr txBox="1"/>
          <p:nvPr/>
        </p:nvSpPr>
        <p:spPr>
          <a:xfrm>
            <a:off x="114624" y="4751680"/>
            <a:ext cx="7301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Web</a:t>
            </a:r>
          </a:p>
          <a:p>
            <a:endParaRPr lang="fr-FR" sz="1400" i="1" dirty="0"/>
          </a:p>
        </p:txBody>
      </p:sp>
    </p:spTree>
    <p:extLst>
      <p:ext uri="{BB962C8B-B14F-4D97-AF65-F5344CB8AC3E}">
        <p14:creationId xmlns:p14="http://schemas.microsoft.com/office/powerpoint/2010/main" val="2543947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5CF12D-D102-320A-EC7A-0DF30FDEE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Mise en place </a:t>
            </a:r>
            <a:r>
              <a:rPr lang="fr-FR" dirty="0" err="1"/>
              <a:t>Airbyte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F740C1A-6D00-D21C-6CB7-621BD1285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E466B9-C758-8B6A-7882-571977DF0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16/08/2026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3781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4458A9-6CDC-6BF3-250C-B6E6F2946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6. Mise en place DBT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E1B120-2F32-09E5-8E07-86A7DCFCA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4295062-DAC1-8A8F-28FC-FA10BE7B3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16/08/2026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8749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4CC017-D4E6-EF3B-F567-8E1DF81BE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7. temps accessibilité aux données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5A87D0-4BCC-68DF-11C9-3CB006236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16/08/2026</a:t>
            </a:fld>
            <a:endParaRPr lang="en-US" dirty="0"/>
          </a:p>
        </p:txBody>
      </p:sp>
      <p:pic>
        <p:nvPicPr>
          <p:cNvPr id="5" name="Picture 3" descr="dbt_runtime.png">
            <a:extLst>
              <a:ext uri="{FF2B5EF4-FFF2-40B4-BE49-F238E27FC236}">
                <a16:creationId xmlns:a16="http://schemas.microsoft.com/office/drawing/2014/main" id="{EBDAF90F-5EA1-F0AB-66D7-BD89287195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2873" y="2275065"/>
            <a:ext cx="5648653" cy="3444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061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DFE391-4CF0-758A-E7F4-4B4C889FF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8. Qualité des données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D71A474-61E5-3615-DC06-7E7E4D47E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16/08/2026</a:t>
            </a:fld>
            <a:endParaRPr lang="en-US" dirty="0"/>
          </a:p>
        </p:txBody>
      </p:sp>
      <p:pic>
        <p:nvPicPr>
          <p:cNvPr id="5" name="Picture 3" descr="quality_tests.png">
            <a:extLst>
              <a:ext uri="{FF2B5EF4-FFF2-40B4-BE49-F238E27FC236}">
                <a16:creationId xmlns:a16="http://schemas.microsoft.com/office/drawing/2014/main" id="{7B819B51-3050-BE80-18B4-C6C4357773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4273" y="2437908"/>
            <a:ext cx="5511500" cy="3438973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BE9B2966-6CBF-E60C-08A0-38FA33559832}"/>
              </a:ext>
            </a:extLst>
          </p:cNvPr>
          <p:cNvSpPr txBox="1"/>
          <p:nvPr/>
        </p:nvSpPr>
        <p:spPr>
          <a:xfrm>
            <a:off x="7038808" y="1684468"/>
            <a:ext cx="4572000" cy="32004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defRPr sz="1600" b="0">
                <a:solidFill>
                  <a:srgbClr val="23313D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not_null</a:t>
            </a:r>
            <a:r>
              <a:rPr dirty="0"/>
              <a:t> : </a:t>
            </a:r>
            <a:r>
              <a:rPr dirty="0" err="1"/>
              <a:t>identifiants</a:t>
            </a:r>
            <a:r>
              <a:rPr dirty="0"/>
              <a:t>, </a:t>
            </a:r>
            <a:r>
              <a:rPr dirty="0" err="1"/>
              <a:t>coordonnées</a:t>
            </a:r>
            <a:r>
              <a:rPr dirty="0"/>
              <a:t>, </a:t>
            </a:r>
            <a:r>
              <a:rPr dirty="0" err="1"/>
              <a:t>horodatage</a:t>
            </a:r>
            <a:br>
              <a:rPr dirty="0"/>
            </a:br>
            <a:r>
              <a:rPr dirty="0"/>
              <a:t>• unique : </a:t>
            </a:r>
            <a:r>
              <a:rPr dirty="0" err="1"/>
              <a:t>station_id</a:t>
            </a:r>
            <a:br>
              <a:rPr dirty="0"/>
            </a:br>
            <a:r>
              <a:rPr dirty="0"/>
              <a:t>• relationships : </a:t>
            </a:r>
            <a:r>
              <a:rPr dirty="0" err="1"/>
              <a:t>station_id</a:t>
            </a:r>
            <a:r>
              <a:rPr dirty="0"/>
              <a:t> → dimension</a:t>
            </a:r>
            <a:br>
              <a:rPr dirty="0"/>
            </a:br>
            <a:r>
              <a:rPr dirty="0"/>
              <a:t>• </a:t>
            </a:r>
            <a:r>
              <a:rPr dirty="0" err="1"/>
              <a:t>accepted_values</a:t>
            </a:r>
            <a:r>
              <a:rPr dirty="0"/>
              <a:t> : amateur / </a:t>
            </a:r>
            <a:r>
              <a:rPr dirty="0" err="1"/>
              <a:t>officielle</a:t>
            </a:r>
            <a:br>
              <a:rPr dirty="0"/>
            </a:br>
            <a:r>
              <a:rPr dirty="0"/>
              <a:t>• Tests </a:t>
            </a:r>
            <a:r>
              <a:rPr dirty="0" err="1"/>
              <a:t>spécifiques</a:t>
            </a:r>
            <a:r>
              <a:rPr dirty="0"/>
              <a:t> : </a:t>
            </a:r>
            <a:r>
              <a:rPr dirty="0" err="1"/>
              <a:t>pluie</a:t>
            </a:r>
            <a:r>
              <a:rPr dirty="0"/>
              <a:t>, </a:t>
            </a:r>
            <a:r>
              <a:rPr dirty="0" err="1"/>
              <a:t>température</a:t>
            </a:r>
            <a:r>
              <a:rPr dirty="0"/>
              <a:t>, </a:t>
            </a:r>
            <a:r>
              <a:rPr dirty="0" err="1"/>
              <a:t>humidité</a:t>
            </a:r>
            <a:r>
              <a:rPr dirty="0"/>
              <a:t>, vent</a:t>
            </a:r>
          </a:p>
        </p:txBody>
      </p:sp>
    </p:spTree>
    <p:extLst>
      <p:ext uri="{BB962C8B-B14F-4D97-AF65-F5344CB8AC3E}">
        <p14:creationId xmlns:p14="http://schemas.microsoft.com/office/powerpoint/2010/main" val="1574833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240D08-8ABD-C30D-8619-3A8A24D19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9. Installation Mise en place AWS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591678-97DD-9E5B-55DC-6B9E911348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A525BD-E384-4889-C5DF-7D6D0E560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16/08/2026</a:t>
            </a:fld>
            <a:endParaRPr lang="en-US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E02770F-21A4-2DBE-C359-6DA9D7356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7321" y="2335473"/>
            <a:ext cx="6220720" cy="4088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3117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0B783-63D9-3C4F-1F97-BE5BE401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BF35D9-8257-67C7-C72D-30B59F7C2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7. Réplication des données</a:t>
            </a:r>
            <a:br>
              <a:rPr lang="fr-FR" dirty="0"/>
            </a:br>
            <a:r>
              <a:rPr lang="fr-FR" sz="1800" dirty="0"/>
              <a:t>architecture de la base de données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77BC59-B90E-E8AE-2FDE-E908760E8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C289E735-92AC-B858-5782-A5468B24A706}"/>
              </a:ext>
            </a:extLst>
          </p:cNvPr>
          <p:cNvSpPr/>
          <p:nvPr/>
        </p:nvSpPr>
        <p:spPr>
          <a:xfrm>
            <a:off x="3259666" y="2726528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Serveur Primaire</a:t>
            </a:r>
          </a:p>
          <a:p>
            <a:pPr algn="ctr"/>
            <a:r>
              <a:rPr lang="fr-FR" dirty="0"/>
              <a:t>(MongoDB)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9CB8EC2A-0C81-870B-F4A0-D99424B878C1}"/>
              </a:ext>
            </a:extLst>
          </p:cNvPr>
          <p:cNvSpPr/>
          <p:nvPr/>
        </p:nvSpPr>
        <p:spPr>
          <a:xfrm>
            <a:off x="7428254" y="2726528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Outil BI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92857602-5C8A-BD67-8E8C-B67AA51BD817}"/>
              </a:ext>
            </a:extLst>
          </p:cNvPr>
          <p:cNvSpPr/>
          <p:nvPr/>
        </p:nvSpPr>
        <p:spPr>
          <a:xfrm>
            <a:off x="810806" y="4755802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Serveur secondaire 1 (MongoDB)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2BCA39A0-2C1D-E1C4-795E-0EFCBC17F2C8}"/>
              </a:ext>
            </a:extLst>
          </p:cNvPr>
          <p:cNvSpPr/>
          <p:nvPr/>
        </p:nvSpPr>
        <p:spPr>
          <a:xfrm>
            <a:off x="3475565" y="4749792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Serveur secondaire 2 (MongoDB)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8C0B2301-AFA1-A3E5-0A47-3A3670F844D4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1733673" y="3810262"/>
            <a:ext cx="2448860" cy="945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CC3D96B-2524-9F2C-2E35-FC39E2413B9A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182533" y="3810262"/>
            <a:ext cx="215899" cy="939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2BD6647D-C911-B216-49ED-41B5C13B9C83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105400" y="3268395"/>
            <a:ext cx="23228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2DDECD21-D841-E227-F633-0C5710EAC28D}"/>
              </a:ext>
            </a:extLst>
          </p:cNvPr>
          <p:cNvSpPr txBox="1"/>
          <p:nvPr/>
        </p:nvSpPr>
        <p:spPr>
          <a:xfrm>
            <a:off x="2582333" y="4362794"/>
            <a:ext cx="1354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réplication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3CA9D9E9-649C-3BA2-71CB-333A761B1904}"/>
              </a:ext>
            </a:extLst>
          </p:cNvPr>
          <p:cNvSpPr txBox="1"/>
          <p:nvPr/>
        </p:nvSpPr>
        <p:spPr>
          <a:xfrm>
            <a:off x="4330823" y="4307532"/>
            <a:ext cx="1354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réplication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EF0E01BC-F91E-FB79-8FFE-4C065074C25B}"/>
              </a:ext>
            </a:extLst>
          </p:cNvPr>
          <p:cNvSpPr txBox="1"/>
          <p:nvPr/>
        </p:nvSpPr>
        <p:spPr>
          <a:xfrm>
            <a:off x="5418667" y="2962370"/>
            <a:ext cx="1354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lecture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4EDC755B-B800-4C49-671D-F6457FEF35E6}"/>
              </a:ext>
            </a:extLst>
          </p:cNvPr>
          <p:cNvSpPr/>
          <p:nvPr/>
        </p:nvSpPr>
        <p:spPr>
          <a:xfrm>
            <a:off x="491065" y="2726528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Driver</a:t>
            </a: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05A232EE-39AA-39BD-41FE-38178A8453EF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2336799" y="3268395"/>
            <a:ext cx="9228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>
            <a:extLst>
              <a:ext uri="{FF2B5EF4-FFF2-40B4-BE49-F238E27FC236}">
                <a16:creationId xmlns:a16="http://schemas.microsoft.com/office/drawing/2014/main" id="{2C471F2C-E4A2-3BC9-5543-94E1156D08DF}"/>
              </a:ext>
            </a:extLst>
          </p:cNvPr>
          <p:cNvSpPr txBox="1"/>
          <p:nvPr/>
        </p:nvSpPr>
        <p:spPr>
          <a:xfrm>
            <a:off x="2336800" y="2751185"/>
            <a:ext cx="13546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Lecture</a:t>
            </a:r>
          </a:p>
          <a:p>
            <a:r>
              <a:rPr lang="fr-FR" sz="1400" dirty="0"/>
              <a:t>écriture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01391296-D77B-A72D-BEE4-1265EE123036}"/>
              </a:ext>
            </a:extLst>
          </p:cNvPr>
          <p:cNvSpPr/>
          <p:nvPr/>
        </p:nvSpPr>
        <p:spPr>
          <a:xfrm>
            <a:off x="5947836" y="4749792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Serveur arbitre</a:t>
            </a:r>
          </a:p>
        </p:txBody>
      </p:sp>
      <p:cxnSp>
        <p:nvCxnSpPr>
          <p:cNvPr id="16" name="Connecteur : en angle 15">
            <a:extLst>
              <a:ext uri="{FF2B5EF4-FFF2-40B4-BE49-F238E27FC236}">
                <a16:creationId xmlns:a16="http://schemas.microsoft.com/office/drawing/2014/main" id="{1691C446-C4AB-343C-584A-F93BF6CED243}"/>
              </a:ext>
            </a:extLst>
          </p:cNvPr>
          <p:cNvCxnSpPr>
            <a:cxnSpLocks/>
            <a:stCxn id="12" idx="0"/>
          </p:cNvCxnSpPr>
          <p:nvPr/>
        </p:nvCxnSpPr>
        <p:spPr>
          <a:xfrm rot="16200000" flipV="1">
            <a:off x="5400366" y="3279455"/>
            <a:ext cx="1175371" cy="17653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 : en angle 25">
            <a:extLst>
              <a:ext uri="{FF2B5EF4-FFF2-40B4-BE49-F238E27FC236}">
                <a16:creationId xmlns:a16="http://schemas.microsoft.com/office/drawing/2014/main" id="{F5C68CF9-367B-AA54-F65F-965BA44FD4AC}"/>
              </a:ext>
            </a:extLst>
          </p:cNvPr>
          <p:cNvCxnSpPr>
            <a:cxnSpLocks/>
            <a:stCxn id="12" idx="2"/>
            <a:endCxn id="7" idx="2"/>
          </p:cNvCxnSpPr>
          <p:nvPr/>
        </p:nvCxnSpPr>
        <p:spPr>
          <a:xfrm rot="5400000">
            <a:off x="4299183" y="3268016"/>
            <a:ext cx="6010" cy="5137030"/>
          </a:xfrm>
          <a:prstGeom prst="bentConnector3">
            <a:avLst>
              <a:gd name="adj1" fmla="val 718524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4CBA21BC-2EF8-F444-1022-62FB7A69736C}"/>
              </a:ext>
            </a:extLst>
          </p:cNvPr>
          <p:cNvCxnSpPr>
            <a:cxnSpLocks/>
            <a:stCxn id="12" idx="1"/>
            <a:endCxn id="8" idx="3"/>
          </p:cNvCxnSpPr>
          <p:nvPr/>
        </p:nvCxnSpPr>
        <p:spPr>
          <a:xfrm flipH="1">
            <a:off x="5321299" y="5291659"/>
            <a:ext cx="6265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3039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EA76E-7D6F-3FA0-767A-8C91F13B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E0D19F-0717-29FB-0AFD-6144C1F53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7. Réplication des données</a:t>
            </a:r>
            <a:br>
              <a:rPr lang="fr-FR" dirty="0"/>
            </a:br>
            <a:r>
              <a:rPr lang="fr-FR" sz="1800" dirty="0"/>
              <a:t>Processus pour répliquer</a:t>
            </a:r>
            <a:endParaRPr lang="fr-FR" dirty="0"/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6BC3CFD3-3550-692F-424F-EA419A15366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168728"/>
              </p:ext>
            </p:extLst>
          </p:nvPr>
        </p:nvGraphicFramePr>
        <p:xfrm>
          <a:off x="580858" y="2039556"/>
          <a:ext cx="11029950" cy="4272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6650">
                  <a:extLst>
                    <a:ext uri="{9D8B030D-6E8A-4147-A177-3AD203B41FA5}">
                      <a16:colId xmlns:a16="http://schemas.microsoft.com/office/drawing/2014/main" val="4223413128"/>
                    </a:ext>
                  </a:extLst>
                </a:gridCol>
                <a:gridCol w="5411425">
                  <a:extLst>
                    <a:ext uri="{9D8B030D-6E8A-4147-A177-3AD203B41FA5}">
                      <a16:colId xmlns:a16="http://schemas.microsoft.com/office/drawing/2014/main" val="256063923"/>
                    </a:ext>
                  </a:extLst>
                </a:gridCol>
                <a:gridCol w="1941875">
                  <a:extLst>
                    <a:ext uri="{9D8B030D-6E8A-4147-A177-3AD203B41FA5}">
                      <a16:colId xmlns:a16="http://schemas.microsoft.com/office/drawing/2014/main" val="30646728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Etapes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7014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dirty="0"/>
                        <a:t>Création des répertoires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mkdir</a:t>
                      </a:r>
                      <a:r>
                        <a:rPr lang="fr-FR" sz="1400" dirty="0"/>
                        <a:t> "C:\Users\sebas\Documents\cours </a:t>
                      </a:r>
                      <a:r>
                        <a:rPr lang="fr-FR" sz="1400" dirty="0" err="1"/>
                        <a:t>Openclassrooms</a:t>
                      </a:r>
                      <a:r>
                        <a:rPr lang="fr-FR" sz="1400" dirty="0"/>
                        <a:t>\Data </a:t>
                      </a:r>
                      <a:r>
                        <a:rPr lang="fr-FR" sz="1400" dirty="0" err="1"/>
                        <a:t>Engineer</a:t>
                      </a:r>
                      <a:r>
                        <a:rPr lang="fr-FR" sz="1400" dirty="0"/>
                        <a:t>\projet 7\_data\R0S1"  (</a:t>
                      </a:r>
                      <a:r>
                        <a:rPr lang="fr-FR" sz="1400" dirty="0" err="1"/>
                        <a:t>ReplicatSet</a:t>
                      </a:r>
                      <a:r>
                        <a:rPr lang="fr-FR" sz="1400" dirty="0"/>
                        <a:t> 0 / Serveur 1)</a:t>
                      </a:r>
                    </a:p>
                    <a:p>
                      <a:endParaRPr lang="fr-FR" sz="1400" dirty="0"/>
                    </a:p>
                    <a:p>
                      <a:r>
                        <a:rPr lang="fr-FR" sz="1400" dirty="0" err="1"/>
                        <a:t>mkdir</a:t>
                      </a:r>
                      <a:r>
                        <a:rPr lang="fr-FR" sz="1400" dirty="0"/>
                        <a:t> "C:\Users\sebas\Documents\cours </a:t>
                      </a:r>
                      <a:r>
                        <a:rPr lang="fr-FR" sz="1400" dirty="0" err="1"/>
                        <a:t>Openclassrooms</a:t>
                      </a:r>
                      <a:r>
                        <a:rPr lang="fr-FR" sz="1400" dirty="0"/>
                        <a:t>\Data </a:t>
                      </a:r>
                      <a:r>
                        <a:rPr lang="fr-FR" sz="1400" dirty="0" err="1"/>
                        <a:t>Engineer</a:t>
                      </a:r>
                      <a:r>
                        <a:rPr lang="fr-FR" sz="1400" dirty="0"/>
                        <a:t>\projet 7\_data\R0S2" (</a:t>
                      </a:r>
                      <a:r>
                        <a:rPr lang="fr-FR" sz="1400" dirty="0" err="1"/>
                        <a:t>ReplicatSet</a:t>
                      </a:r>
                      <a:r>
                        <a:rPr lang="fr-FR" sz="1400" dirty="0"/>
                        <a:t> 0 / Serveur 2)</a:t>
                      </a:r>
                    </a:p>
                    <a:p>
                      <a:endParaRPr lang="fr-FR" sz="1400" dirty="0"/>
                    </a:p>
                    <a:p>
                      <a:r>
                        <a:rPr lang="fr-FR" sz="1400" dirty="0" err="1"/>
                        <a:t>mkdir</a:t>
                      </a:r>
                      <a:r>
                        <a:rPr lang="fr-FR" sz="1400" dirty="0"/>
                        <a:t> "C:\Users\sebas\Documents\cours </a:t>
                      </a:r>
                      <a:r>
                        <a:rPr lang="fr-FR" sz="1400" dirty="0" err="1"/>
                        <a:t>Openclassrooms</a:t>
                      </a:r>
                      <a:r>
                        <a:rPr lang="fr-FR" sz="1400" dirty="0"/>
                        <a:t>\Data </a:t>
                      </a:r>
                      <a:r>
                        <a:rPr lang="fr-FR" sz="1400" dirty="0" err="1"/>
                        <a:t>Engineer</a:t>
                      </a:r>
                      <a:r>
                        <a:rPr lang="fr-FR" sz="1400" dirty="0"/>
                        <a:t>\projet 7\_data\R0S3" (</a:t>
                      </a:r>
                      <a:r>
                        <a:rPr lang="fr-FR" sz="1400" dirty="0" err="1"/>
                        <a:t>ReplicatSet</a:t>
                      </a:r>
                      <a:r>
                        <a:rPr lang="fr-FR" sz="1400" dirty="0"/>
                        <a:t> 0 / Serveur 3)</a:t>
                      </a:r>
                    </a:p>
                    <a:p>
                      <a:endParaRPr lang="fr-FR" sz="1400" dirty="0"/>
                    </a:p>
                    <a:p>
                      <a:r>
                        <a:rPr lang="fr-FR" sz="1400" dirty="0" err="1"/>
                        <a:t>mkdir</a:t>
                      </a:r>
                      <a:r>
                        <a:rPr lang="fr-FR" sz="1400" dirty="0"/>
                        <a:t> "C:\Users\sebas\Documents\cours </a:t>
                      </a:r>
                      <a:r>
                        <a:rPr lang="fr-FR" sz="1400" dirty="0" err="1"/>
                        <a:t>Openclassrooms</a:t>
                      </a:r>
                      <a:r>
                        <a:rPr lang="fr-FR" sz="1400" dirty="0"/>
                        <a:t>\Data </a:t>
                      </a:r>
                      <a:r>
                        <a:rPr lang="fr-FR" sz="1400" dirty="0" err="1"/>
                        <a:t>Engineer</a:t>
                      </a:r>
                      <a:r>
                        <a:rPr lang="fr-FR" sz="1400" dirty="0"/>
                        <a:t>\projet 7\_data\arbiter_R0"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Opérations à faire dans l’invite de commande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532797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r>
                        <a:rPr lang="fr-FR" dirty="0"/>
                        <a:t>Lancement serveur 1 primaire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mongod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--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replSet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rs0 --port 27019 --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dbpath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"C:\Users\sebas\Documents\cours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Openclassrooms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\Data Engineer\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projet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7\_data\R0S1"</a:t>
                      </a:r>
                    </a:p>
                    <a:p>
                      <a:endParaRPr lang="fr-FR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Opération à faire dans l’invite de commande. Ne pas fermer la fenêtre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55658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Lancement du </a:t>
                      </a:r>
                      <a:r>
                        <a:rPr lang="fr-FR" sz="1400" dirty="0" err="1"/>
                        <a:t>shell</a:t>
                      </a:r>
                      <a:r>
                        <a:rPr lang="fr-FR" sz="1400" dirty="0"/>
                        <a:t> MongoDB:</a:t>
                      </a:r>
                    </a:p>
                    <a:p>
                      <a:r>
                        <a:rPr lang="fr-FR" sz="1400" dirty="0" err="1"/>
                        <a:t>mongosh</a:t>
                      </a:r>
                      <a:r>
                        <a:rPr lang="fr-FR" sz="1400" dirty="0"/>
                        <a:t> --port 27019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Dans une autre fenêtre invite de commande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0162979"/>
                  </a:ext>
                </a:extLst>
              </a:tr>
            </a:tbl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773433B-58AC-4918-B5EF-CF9A05025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16/08/2026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41425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5D781D-3EDC-7669-0868-1E6B38268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8. Duplication des données</a:t>
            </a:r>
            <a:br>
              <a:rPr lang="fr-FR" dirty="0"/>
            </a:br>
            <a:r>
              <a:rPr lang="fr-FR" sz="1800" dirty="0"/>
              <a:t>architecture duplication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2F905F2-2592-0342-F214-78149512A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4BF5C67-2C22-9BFB-CA48-D40EE3640B97}"/>
              </a:ext>
            </a:extLst>
          </p:cNvPr>
          <p:cNvSpPr/>
          <p:nvPr/>
        </p:nvSpPr>
        <p:spPr>
          <a:xfrm>
            <a:off x="3259666" y="2726528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Routeur mongos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97309BD-1E41-A742-6CC1-B723BEABFC02}"/>
              </a:ext>
            </a:extLst>
          </p:cNvPr>
          <p:cNvSpPr/>
          <p:nvPr/>
        </p:nvSpPr>
        <p:spPr>
          <a:xfrm>
            <a:off x="7428254" y="2726528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Outil BI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07ED84AB-CD40-9206-ED37-CD7A94F09DBD}"/>
              </a:ext>
            </a:extLst>
          </p:cNvPr>
          <p:cNvSpPr/>
          <p:nvPr/>
        </p:nvSpPr>
        <p:spPr>
          <a:xfrm>
            <a:off x="810806" y="4755801"/>
            <a:ext cx="2592794" cy="16681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Shard</a:t>
            </a:r>
            <a:r>
              <a:rPr lang="fr-FR" dirty="0"/>
              <a:t> Paris –rs0</a:t>
            </a:r>
          </a:p>
          <a:p>
            <a:pPr algn="ctr"/>
            <a:r>
              <a:rPr lang="fr-FR" dirty="0"/>
              <a:t>(</a:t>
            </a:r>
            <a:r>
              <a:rPr lang="fr-FR" dirty="0" err="1"/>
              <a:t>ReplicaSet</a:t>
            </a:r>
            <a:r>
              <a:rPr lang="fr-FR" dirty="0"/>
              <a:t>)</a:t>
            </a:r>
          </a:p>
          <a:p>
            <a:pPr algn="ctr"/>
            <a:endParaRPr lang="fr-FR" dirty="0"/>
          </a:p>
          <a:p>
            <a:pPr algn="ctr"/>
            <a:r>
              <a:rPr lang="fr-FR" dirty="0" err="1"/>
              <a:t>property_city</a:t>
            </a:r>
            <a:r>
              <a:rPr lang="fr-FR" dirty="0"/>
              <a:t> = "Paris"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D3A9836-5704-6F41-4A64-008BDD966AEB}"/>
              </a:ext>
            </a:extLst>
          </p:cNvPr>
          <p:cNvSpPr/>
          <p:nvPr/>
        </p:nvSpPr>
        <p:spPr>
          <a:xfrm>
            <a:off x="4730748" y="4749789"/>
            <a:ext cx="2730502" cy="176954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Shard</a:t>
            </a:r>
            <a:r>
              <a:rPr lang="fr-FR" dirty="0"/>
              <a:t> Lyon –</a:t>
            </a:r>
            <a:r>
              <a:rPr lang="fr-FR" dirty="0" err="1"/>
              <a:t>lyonRS</a:t>
            </a:r>
            <a:endParaRPr lang="fr-FR" dirty="0"/>
          </a:p>
          <a:p>
            <a:pPr algn="ctr"/>
            <a:r>
              <a:rPr lang="fr-FR" dirty="0"/>
              <a:t>(</a:t>
            </a:r>
            <a:r>
              <a:rPr lang="fr-FR" dirty="0" err="1"/>
              <a:t>ReplicaSet</a:t>
            </a:r>
            <a:r>
              <a:rPr lang="fr-FR" dirty="0"/>
              <a:t>)</a:t>
            </a:r>
          </a:p>
          <a:p>
            <a:pPr algn="ctr"/>
            <a:endParaRPr lang="fr-FR" dirty="0"/>
          </a:p>
          <a:p>
            <a:pPr algn="ctr"/>
            <a:r>
              <a:rPr lang="fr-FR" dirty="0" err="1"/>
              <a:t>property_city</a:t>
            </a:r>
            <a:r>
              <a:rPr lang="fr-FR" dirty="0"/>
              <a:t> = "Lyon"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2989735D-50A1-C11B-41EE-64B730D52BF3}"/>
              </a:ext>
            </a:extLst>
          </p:cNvPr>
          <p:cNvCxnSpPr>
            <a:cxnSpLocks/>
            <a:stCxn id="6" idx="1"/>
            <a:endCxn id="5" idx="3"/>
          </p:cNvCxnSpPr>
          <p:nvPr/>
        </p:nvCxnSpPr>
        <p:spPr>
          <a:xfrm flipH="1">
            <a:off x="5105400" y="3268395"/>
            <a:ext cx="23228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98143598-8AA4-E343-34C1-4A1BB820A2EA}"/>
              </a:ext>
            </a:extLst>
          </p:cNvPr>
          <p:cNvSpPr txBox="1"/>
          <p:nvPr/>
        </p:nvSpPr>
        <p:spPr>
          <a:xfrm>
            <a:off x="5418667" y="2962370"/>
            <a:ext cx="1354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lecture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473B3AB-7AED-904D-BECE-45968E59159D}"/>
              </a:ext>
            </a:extLst>
          </p:cNvPr>
          <p:cNvSpPr/>
          <p:nvPr/>
        </p:nvSpPr>
        <p:spPr>
          <a:xfrm>
            <a:off x="491065" y="2726528"/>
            <a:ext cx="1845734" cy="10837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Config server</a:t>
            </a:r>
          </a:p>
          <a:p>
            <a:pPr algn="ctr"/>
            <a:r>
              <a:rPr lang="fr-FR" dirty="0"/>
              <a:t>(cluster)</a:t>
            </a:r>
          </a:p>
        </p:txBody>
      </p: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72DD81CB-DF2C-A924-4CE0-996A342B447A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2336799" y="3268395"/>
            <a:ext cx="9228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CC73E5F6-CE9D-E55B-B2F7-A546936A27AC}"/>
              </a:ext>
            </a:extLst>
          </p:cNvPr>
          <p:cNvSpPr txBox="1"/>
          <p:nvPr/>
        </p:nvSpPr>
        <p:spPr>
          <a:xfrm>
            <a:off x="2336800" y="2751185"/>
            <a:ext cx="13546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Lecture</a:t>
            </a:r>
          </a:p>
          <a:p>
            <a:r>
              <a:rPr lang="fr-FR" sz="1400" dirty="0"/>
              <a:t>écriture</a:t>
            </a:r>
          </a:p>
        </p:txBody>
      </p:sp>
      <p:cxnSp>
        <p:nvCxnSpPr>
          <p:cNvPr id="19" name="Connecteur : en angle 18">
            <a:extLst>
              <a:ext uri="{FF2B5EF4-FFF2-40B4-BE49-F238E27FC236}">
                <a16:creationId xmlns:a16="http://schemas.microsoft.com/office/drawing/2014/main" id="{0186AC74-2298-75A9-8D5A-9C2197D88C42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rot="16200000" flipH="1">
            <a:off x="4669503" y="3323292"/>
            <a:ext cx="939527" cy="1913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 : en angle 19">
            <a:extLst>
              <a:ext uri="{FF2B5EF4-FFF2-40B4-BE49-F238E27FC236}">
                <a16:creationId xmlns:a16="http://schemas.microsoft.com/office/drawing/2014/main" id="{E4539072-F0F5-5C24-7EAD-0C663E8DD6B3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rot="5400000">
            <a:off x="2672099" y="3245366"/>
            <a:ext cx="945539" cy="20753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6661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D7FC931-858E-2DB7-4048-52FB41ACE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CEC98BE-FCE2-445F-8146-3A7F8CC3881D}" type="datetime1">
              <a:rPr lang="fr-FR" smtClean="0"/>
              <a:t>16/08/2026</a:t>
            </a:fld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3474F2F-61F5-F692-ADEB-B18AD9569016}"/>
              </a:ext>
            </a:extLst>
          </p:cNvPr>
          <p:cNvSpPr txBox="1"/>
          <p:nvPr/>
        </p:nvSpPr>
        <p:spPr>
          <a:xfrm>
            <a:off x="4978400" y="3190240"/>
            <a:ext cx="32918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chemeClr val="bg1"/>
                </a:solidFill>
              </a:rPr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246472654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773_TF33552983" id="{8919647C-0055-458C-B827-A2A950DB19BD}" vid="{05B00E4D-3D0B-4DF2-A663-65D33D96257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{E5AA1841-0B6B-420C-B166-ADB295CE9748}TF201209c3-d067-44f9-a26f-c8f216c44313bd85a48a_win32-aaf37d2e3a1e</Template>
  <TotalTime>0</TotalTime>
  <Words>692</Words>
  <Application>Microsoft Office PowerPoint</Application>
  <PresentationFormat>Grand écran</PresentationFormat>
  <Paragraphs>156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Consolas</vt:lpstr>
      <vt:lpstr>Franklin Gothic Book</vt:lpstr>
      <vt:lpstr>Franklin Gothic Demi</vt:lpstr>
      <vt:lpstr>Wingdings 2</vt:lpstr>
      <vt:lpstr>DividendVTI</vt:lpstr>
      <vt:lpstr>CONSTRUIRE ET TESTER UNE INFRASTRUCTURE DE DONNEES</vt:lpstr>
      <vt:lpstr>Sommaire</vt:lpstr>
      <vt:lpstr>1 - Contexte et objectif</vt:lpstr>
      <vt:lpstr>2 – Schéma DE LA base de données</vt:lpstr>
      <vt:lpstr>3. PROCESSUS ELT</vt:lpstr>
      <vt:lpstr>4. Schéma d’architecture</vt:lpstr>
      <vt:lpstr>5. Mise en place Airbyte</vt:lpstr>
      <vt:lpstr>6. Mise en place DBT</vt:lpstr>
      <vt:lpstr>7. temps accessibilité aux données</vt:lpstr>
      <vt:lpstr>8. Qualité des données</vt:lpstr>
      <vt:lpstr>9. Installation Mise en place AWS</vt:lpstr>
      <vt:lpstr>7. Réplication des données architecture de la base de données</vt:lpstr>
      <vt:lpstr>7. Réplication des données Processus pour répliquer</vt:lpstr>
      <vt:lpstr>8. Duplication des données architecture duplication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Sébastien Ulésie</dc:creator>
  <cp:lastModifiedBy>Sébastien Ulésie</cp:lastModifiedBy>
  <cp:revision>387</cp:revision>
  <dcterms:created xsi:type="dcterms:W3CDTF">2026-04-28T09:18:39Z</dcterms:created>
  <dcterms:modified xsi:type="dcterms:W3CDTF">2026-08-16T17:29:12Z</dcterms:modified>
</cp:coreProperties>
</file>