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Introduire l’enjeu : enrichir les modèles de prévision de demande avec des observations météo de stations semi-professionnelles.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Relier le besoin technique à la valeur métier : meilleure granularité météo, donc meilleure prévision et moins d’achats d’urgence.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frise présente une démarche progressive : sécuriser la donnée avant de chercher la sophistication du déploiement.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Décrire le flux de gauche à droite. Insister sur le fait que la qualité et la documentation sont des étapes du pipeline, pas des activités séparées.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la frontière VPC et la séparation des rôles : EC2 porte Airbyte, RDS porte la donnée, DBT transforme, BI/ML consomme.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Justifier chaque brique par une responsabilité claire. Le stack reste simple : moins de composants, mais une séparation nette ingestion / stockage / transformation.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C’est la vue de synthèse du déploiement AWS. Préciser que le notebook documente RDS, EC2 et un chemin ECS planifié, mais ne fournit pas de budget chiffré.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Présenter le principe de moindre privilège. Le notebook montre aussi une stratégie de contournement Airbyte Cloud avec RDS public : la qualifier explicitement de compromis à ne pas conserver en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Distinguer les faits mesurés du notebook et les choix d’architecture cible. Le 50 Go est documenté pour EC2 ; ne pas le présenter comme un dimensionnement de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notebook identifie une erreur de conception importante : un Service ECS relançait dbt en boucle. La correction documentée est EventBridge Scheduler + RunTask.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la capture comme support de démonstration : configurer d’abord la destination, puis les sources, et vérifier une table raw avec SELECT.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Expliquer la granularité. La table de faits rassemble les mesures ; la dimension station porte les métadonnées officielles/amateur et la géolocalisation.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temps sont ceux reportés dans le notebook : staging 1,05 s, intermediate 0,73 s, marts 3,92 s. Ils ne sont pas un SLA de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Présenter la qualité comme un garde-fou. Les 9 tests génériques passent ; les tests SQL spécifiques sont également définis pour détecter des valeurs physiques incohérentes.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la documentation comme un livrable : elle explique ce que contient chaque table et comment elle est construite.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Respecter le temps : les captures servent de filet de sécurité si une interface AWS ou Airbyte n’est pas disponible en 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masquer le bug Airbyte : c’est un retour d’expérience utile. La priorité de la suite est de supprimer l’exposition publique et d’instrumenter coûts et SLA.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Conclure sur la promesse tenue : pipeline ELT, modèle analytique en étoile, 9/9 tests et chemin AWS explicite. Ouvrir sur les prochaines étapes de sécurisation et d’observabilité.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78992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3400" b="1">
                <a:solidFill>
                  <a:srgbClr val="F4F7FA"/>
                </a:solidFill>
                <a:latin typeface="Aptos"/>
              </a:defRPr>
            </a:pPr>
            <a:r>
              <a:t>Forecast 2.0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2148840"/>
            <a:ext cx="1097280" cy="91440"/>
          </a:xfrm>
          <a:prstGeom prst="rect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0"/>
            <a:ext cx="731520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200" b="0">
                <a:solidFill>
                  <a:srgbClr val="F4F7FA"/>
                </a:solidFill>
                <a:latin typeface="Aptos"/>
              </a:defRPr>
            </a:pPr>
            <a:r>
              <a:t>Pipeline météo fiable, testé et déployable sur 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794760"/>
            <a:ext cx="6400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F4F7FA"/>
                </a:solidFill>
                <a:latin typeface="Aptos"/>
              </a:defRPr>
            </a:pPr>
            <a:r>
              <a:t>Projet 8 • Présentation de la démarche &amp; démonstration</a:t>
            </a:r>
          </a:p>
        </p:txBody>
      </p:sp>
      <p:pic>
        <p:nvPicPr>
          <p:cNvPr id="6" name="Picture 5" descr="architecture_a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914400"/>
            <a:ext cx="384048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B6B7A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9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800" b="1">
                <a:solidFill>
                  <a:srgbClr val="12304A"/>
                </a:solidFill>
                <a:latin typeface="Aptos"/>
              </a:defRPr>
            </a:pPr>
            <a:r>
              <a:t>Sommaire</a:t>
            </a:r>
          </a:p>
        </p:txBody>
      </p:sp>
      <p:pic>
        <p:nvPicPr>
          <p:cNvPr id="4" name="Picture 3" descr="flow_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1920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657600"/>
            <a:ext cx="6400800" cy="2011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0">
                <a:solidFill>
                  <a:srgbClr val="23313D"/>
                </a:solidFill>
                <a:latin typeface="Aptos"/>
              </a:defRPr>
            </a:pPr>
            <a:r>
              <a:t>• Contexte, objectifs et démarche</a:t>
            </a:r>
            <a:br/>
            <a:r>
              <a:t>• Architecture end-to-end et choix ELT</a:t>
            </a:r>
            <a:br/>
            <a:r>
              <a:t>• Déploiement AWS explicite : réseau, sécurité, exploitation</a:t>
            </a:r>
            <a:br/>
            <a:r>
              <a:t>• Modélisation, DBT, qualité et démonstration</a:t>
            </a:r>
            <a:br/>
            <a:r>
              <a:t>• Limites et prochaines étapes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3657600"/>
            <a:ext cx="3291840" cy="155448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3977639"/>
            <a:ext cx="274320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200" b="1">
                <a:solidFill>
                  <a:srgbClr val="F4F7FA"/>
                </a:solidFill>
                <a:latin typeface="Aptos"/>
              </a:defRPr>
            </a:pPr>
            <a:r>
              <a:t>25 slides</a:t>
            </a:r>
            <a:br/>
            <a:r>
              <a:t>≈ 5 min de démo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B6B7A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9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800" b="1">
                <a:solidFill>
                  <a:srgbClr val="12304A"/>
                </a:solidFill>
                <a:latin typeface="Aptos"/>
              </a:defRPr>
            </a:pPr>
            <a:r>
              <a:t>Contexte métier — Ouly &amp; Forecast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57784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0">
                <a:solidFill>
                  <a:srgbClr val="23313D"/>
                </a:solidFill>
                <a:latin typeface="Aptos"/>
              </a:defRPr>
            </a:pPr>
            <a:r>
              <a:t>• GreenCoop : fournisseur coopératif d’électricité renouvelable</a:t>
            </a:r>
            <a:br/>
            <a:r>
              <a:t>• La demande doit être prévue pour équilibrer le réseau</a:t>
            </a:r>
            <a:br/>
            <a:r>
              <a:t>• Le solaire et l’éolien sont intermittents</a:t>
            </a:r>
            <a:br/>
            <a:r>
              <a:t>• Les données météo locales améliorent les modèles</a:t>
            </a:r>
            <a:br/>
            <a:r>
              <a:t>• Sources ciblées : InfoClimat + Weather Underground</a:t>
            </a:r>
          </a:p>
        </p:txBody>
      </p:sp>
      <p:pic>
        <p:nvPicPr>
          <p:cNvPr id="5" name="Picture 4" descr="sourc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43000"/>
            <a:ext cx="493776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29400" y="5029200"/>
            <a:ext cx="46634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0">
                <a:solidFill>
                  <a:srgbClr val="5B6B7A"/>
                </a:solidFill>
                <a:latin typeface="Aptos"/>
              </a:defRPr>
            </a:pPr>
            <a:r>
              <a:t>Visuel source : notebook / contexte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B6B7A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9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800" b="1">
                <a:solidFill>
                  <a:srgbClr val="12304A"/>
                </a:solidFill>
                <a:latin typeface="Aptos"/>
              </a:defRPr>
            </a:pPr>
            <a:r>
              <a:t>Objectifs &amp; périmètre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000" b="1">
                <a:solidFill>
                  <a:srgbClr val="12304A"/>
                </a:solidFill>
                <a:latin typeface="Aptos"/>
              </a:defRPr>
            </a:pPr>
            <a:r>
              <a:t>Objectifs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743200" cy="2560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23313D"/>
                </a:solidFill>
                <a:latin typeface="Aptos"/>
              </a:defRPr>
            </a:pPr>
            <a:r>
              <a:t>• Ingerer des formats hétérogènes</a:t>
            </a:r>
            <a:br/>
            <a:r>
              <a:t>• Conserver le raw</a:t>
            </a:r>
            <a:br/>
            <a:r>
              <a:t>• Transformer dans PostgreSQL avec DBT</a:t>
            </a:r>
            <a:br/>
            <a:r>
              <a:t>• Tester et documenter</a:t>
            </a:r>
            <a:br/>
            <a:r>
              <a:t>• Rendre les données accessibles au 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508760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000" b="1">
                <a:solidFill>
                  <a:srgbClr val="12304A"/>
                </a:solidFill>
                <a:latin typeface="Aptos"/>
              </a:defRPr>
            </a:pPr>
            <a:r>
              <a:t>Périmètre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011680"/>
            <a:ext cx="2743200" cy="2560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23313D"/>
                </a:solidFill>
                <a:latin typeface="Aptos"/>
              </a:defRPr>
            </a:pPr>
            <a:r>
              <a:t>• 3 sources météo</a:t>
            </a:r>
            <a:br/>
            <a:r>
              <a:t>• Fréquences 10 / 15 / 30 min</a:t>
            </a:r>
            <a:br/>
            <a:r>
              <a:t>• PostgreSQL : raw + analytics</a:t>
            </a:r>
            <a:br/>
            <a:r>
              <a:t>• Étoile : 1 fait + dimensions</a:t>
            </a:r>
            <a:br/>
            <a:r>
              <a:t>• AWS : RDS, EC2, S3, IAM, ECS</a:t>
            </a:r>
          </a:p>
        </p:txBody>
      </p:sp>
      <p:pic>
        <p:nvPicPr>
          <p:cNvPr id="10" name="Picture 9" descr="elt_vs_et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3291840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B6B7A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9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800" b="1">
                <a:solidFill>
                  <a:srgbClr val="12304A"/>
                </a:solidFill>
                <a:latin typeface="Aptos"/>
              </a:defRPr>
            </a:pPr>
            <a:r>
              <a:t>Timeline de la démarche</a:t>
            </a:r>
          </a:p>
        </p:txBody>
      </p:sp>
      <p:pic>
        <p:nvPicPr>
          <p:cNvPr id="4" name="Picture 3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72800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114800"/>
            <a:ext cx="10058400" cy="1463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0">
                <a:solidFill>
                  <a:srgbClr val="23313D"/>
                </a:solidFill>
                <a:latin typeface="Aptos"/>
              </a:defRPr>
            </a:pPr>
            <a:r>
              <a:t>• Cadrage : besoin Forecast 2.0 et sources</a:t>
            </a:r>
            <a:br/>
            <a:r>
              <a:t>• Construction : ingestion et schéma raw</a:t>
            </a:r>
            <a:br/>
            <a:r>
              <a:t>• Industrialisation : modèles DBT et contrôles</a:t>
            </a:r>
            <a:br/>
            <a:r>
              <a:t>• AWS : RDS puis EC2 / ECS planifié</a:t>
            </a:r>
            <a:br/>
            <a:r>
              <a:t>• Restitution : documentation et démonstration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B6B7A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9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800" b="1">
                <a:solidFill>
                  <a:srgbClr val="12304A"/>
                </a:solidFill>
                <a:latin typeface="Aptos"/>
              </a:defRPr>
            </a:pPr>
            <a:r>
              <a:t>Le processus de bout en bout</a:t>
            </a:r>
          </a:p>
        </p:txBody>
      </p:sp>
      <p:pic>
        <p:nvPicPr>
          <p:cNvPr id="4" name="Picture 3" descr="flow_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11247120" cy="2377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251960"/>
            <a:ext cx="6400800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0">
                <a:solidFill>
                  <a:srgbClr val="23313D"/>
                </a:solidFill>
                <a:latin typeface="Aptos"/>
              </a:defRPr>
            </a:pPr>
            <a:r>
              <a:t>• Airbyte centralise les flux vers PostgreSQL</a:t>
            </a:r>
            <a:br/>
            <a:r>
              <a:t>• DBT standardise, unifie puis publie les marts</a:t>
            </a:r>
            <a:br/>
            <a:r>
              <a:t>• Les tests bloquent les régressions critiques</a:t>
            </a:r>
            <a:br/>
            <a:r>
              <a:t>• La documentation rend le lineage exploitable</a:t>
            </a:r>
          </a:p>
        </p:txBody>
      </p:sp>
      <p:pic>
        <p:nvPicPr>
          <p:cNvPr id="6" name="Picture 5" descr="source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931920"/>
            <a:ext cx="3474720" cy="1554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B6B7A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9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800" b="1">
                <a:solidFill>
                  <a:srgbClr val="12304A"/>
                </a:solidFill>
                <a:latin typeface="Aptos"/>
              </a:defRPr>
            </a:pPr>
            <a:r>
              <a:t>Architecture globale end-to-end</a:t>
            </a:r>
          </a:p>
        </p:txBody>
      </p:sp>
      <p:pic>
        <p:nvPicPr>
          <p:cNvPr id="4" name="Picture 3" descr="architecture_a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1106424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B6B7A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9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800" b="1">
                <a:solidFill>
                  <a:srgbClr val="12304A"/>
                </a:solidFill>
                <a:latin typeface="Aptos"/>
              </a:defRPr>
            </a:pPr>
            <a:r>
              <a:t>ELT plutôt que ETL</a:t>
            </a:r>
          </a:p>
        </p:txBody>
      </p:sp>
      <p:pic>
        <p:nvPicPr>
          <p:cNvPr id="4" name="Picture 3" descr="elt_vs_et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640080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234440"/>
            <a:ext cx="3749039" cy="2926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0">
                <a:solidFill>
                  <a:srgbClr val="23313D"/>
                </a:solidFill>
                <a:latin typeface="Aptos"/>
              </a:defRPr>
            </a:pPr>
            <a:r>
              <a:t>• Le raw est conservé dans PostgreSQL</a:t>
            </a:r>
            <a:br/>
            <a:r>
              <a:t>• Les transformations sont versionnées dans DBT</a:t>
            </a:r>
            <a:br/>
            <a:r>
              <a:t>• Les unités sont harmonisées en staging</a:t>
            </a:r>
            <a:br/>
            <a:r>
              <a:t>• Les modèles analytiques sont rejouables</a:t>
            </a:r>
            <a:br/>
            <a:r>
              <a:t>• Le choix facilite l’audit et l’évolution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B6B7A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9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800" b="1">
                <a:solidFill>
                  <a:srgbClr val="12304A"/>
                </a:solidFill>
                <a:latin typeface="Aptos"/>
              </a:defRPr>
            </a:pPr>
            <a:r>
              <a:t>Choix technologiques — une chaîne cohérente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371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1">
                <a:solidFill>
                  <a:srgbClr val="12304A"/>
                </a:solidFill>
                <a:latin typeface="Aptos"/>
              </a:defRPr>
            </a:pPr>
            <a:r>
              <a:t>Airbyte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23313D"/>
                </a:solidFill>
                <a:latin typeface="Aptos"/>
              </a:defRPr>
            </a:pPr>
            <a:r>
              <a:t>connecteurs + sync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691640"/>
            <a:ext cx="16459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500" b="1">
                <a:solidFill>
                  <a:srgbClr val="1F9D8B"/>
                </a:solidFill>
                <a:latin typeface="Aptos"/>
              </a:defRPr>
            </a:pPr>
            <a:r>
              <a:t>ingestion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17320"/>
            <a:ext cx="1371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1">
                <a:solidFill>
                  <a:srgbClr val="12304A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874519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23313D"/>
                </a:solidFill>
                <a:latin typeface="Aptos"/>
              </a:defRPr>
            </a:pPr>
            <a:r>
              <a:t>raw /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691640"/>
            <a:ext cx="16459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500" b="1">
                <a:solidFill>
                  <a:srgbClr val="1F6F9F"/>
                </a:solidFill>
                <a:latin typeface="Aptos"/>
              </a:defRPr>
            </a:pPr>
            <a:r>
              <a:t>stockage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0040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55A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429000"/>
            <a:ext cx="1371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1">
                <a:solidFill>
                  <a:srgbClr val="12304A"/>
                </a:solidFill>
                <a:latin typeface="Aptos"/>
              </a:defRPr>
            </a:pPr>
            <a:r>
              <a:t>DBT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8620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23313D"/>
                </a:solidFill>
                <a:latin typeface="Aptos"/>
              </a:defRPr>
            </a:pPr>
            <a:r>
              <a:t>SQL + lineage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703320"/>
            <a:ext cx="16459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500" b="1">
                <a:solidFill>
                  <a:srgbClr val="55A868"/>
                </a:solidFill>
                <a:latin typeface="Aptos"/>
              </a:defRPr>
            </a:pPr>
            <a:r>
              <a:t>transformation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20040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429000"/>
            <a:ext cx="1371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1">
                <a:solidFill>
                  <a:srgbClr val="12304A"/>
                </a:solidFill>
                <a:latin typeface="Aptos"/>
              </a:defRPr>
            </a:pPr>
            <a:r>
              <a:t>AWS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88620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23313D"/>
                </a:solidFill>
                <a:latin typeface="Aptos"/>
              </a:defRPr>
            </a:pPr>
            <a:r>
              <a:t>RDS / EC2 / ECS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703320"/>
            <a:ext cx="16459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500" b="1">
                <a:solidFill>
                  <a:srgbClr val="D9A441"/>
                </a:solidFill>
                <a:latin typeface="Aptos"/>
              </a:defRPr>
            </a:pPr>
            <a:r>
              <a:t>industrialisation</a:t>
            </a:r>
          </a:p>
        </p:txBody>
      </p:sp>
      <p:pic>
        <p:nvPicPr>
          <p:cNvPr id="20" name="Picture 19" descr="dbt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5212080"/>
            <a:ext cx="6217920" cy="914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B6B7A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9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800" b="1">
                <a:solidFill>
                  <a:srgbClr val="12304A"/>
                </a:solidFill>
                <a:latin typeface="Aptos"/>
              </a:defRPr>
            </a:pPr>
            <a:r>
              <a:t>Déploiement dans le cloud AWS — vue d’ensemble</a:t>
            </a:r>
          </a:p>
        </p:txBody>
      </p:sp>
      <p:pic>
        <p:nvPicPr>
          <p:cNvPr id="4" name="Picture 3" descr="architecture_a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731520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0" y="1143000"/>
            <a:ext cx="32918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1417320"/>
            <a:ext cx="2743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900" b="1">
                <a:solidFill>
                  <a:srgbClr val="12304A"/>
                </a:solidFill>
                <a:latin typeface="Aptos"/>
              </a:defRPr>
            </a:pPr>
            <a:r>
              <a:t>Services 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920240"/>
            <a:ext cx="2651760" cy="2468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23313D"/>
                </a:solidFill>
                <a:latin typeface="Aptos"/>
              </a:defRPr>
            </a:pPr>
            <a:r>
              <a:t>• Amazon RDS PostgreSQL</a:t>
            </a:r>
            <a:br/>
            <a:r>
              <a:t>• Amazon EC2 + Docker + abctl/Airbyte</a:t>
            </a:r>
            <a:br/>
            <a:r>
              <a:t>• Amazon S3 pour artefacts</a:t>
            </a:r>
            <a:br/>
            <a:r>
              <a:t>• IAM + Secrets Manager</a:t>
            </a:r>
            <a:br/>
            <a:r>
              <a:t>• ECR / ECS Fargate pour DBT</a:t>
            </a:r>
            <a:br/>
            <a:r>
              <a:t>• CloudWatch pour les 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892040"/>
            <a:ext cx="25603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C75C5C"/>
                </a:solidFill>
                <a:latin typeface="Aptos"/>
              </a:defRPr>
            </a:pPr>
            <a:r>
              <a:t>Métriques de coût : illustratif — à instrumenter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B6B7A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9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800" b="1">
                <a:solidFill>
                  <a:srgbClr val="12304A"/>
                </a:solidFill>
                <a:latin typeface="Aptos"/>
              </a:defRPr>
            </a:pPr>
            <a:r>
              <a:t>AWS — réseau &amp; sécurité</a:t>
            </a:r>
          </a:p>
        </p:txBody>
      </p:sp>
      <p:pic>
        <p:nvPicPr>
          <p:cNvPr id="4" name="Picture 3" descr="aws_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758952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188720"/>
            <a:ext cx="3108960" cy="34747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23313D"/>
                </a:solidFill>
                <a:latin typeface="Aptos"/>
              </a:defRPr>
            </a:pPr>
            <a:r>
              <a:t>• VPC commun pour EC2 et RDS</a:t>
            </a:r>
            <a:br/>
            <a:r>
              <a:t>• Subnet public : accès contrôlé à EC2</a:t>
            </a:r>
            <a:br/>
            <a:r>
              <a:t>• Subnet privé : RDS non exposé idéalement</a:t>
            </a:r>
            <a:br/>
            <a:r>
              <a:t>• Security Groups : 22 / Airbyte / 5432 ciblés</a:t>
            </a:r>
            <a:br/>
            <a:r>
              <a:t>• IAM et Secrets Manager : pas de secrets en dur</a:t>
            </a:r>
            <a:br/>
            <a:r>
              <a:t>• TLS vérifié sur 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983480"/>
            <a:ext cx="2743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C75C5C"/>
                </a:solidFill>
                <a:latin typeface="Aptos"/>
              </a:defRPr>
            </a:pPr>
            <a:r>
              <a:t>Toute exposition publique : temporaire / à durcir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B6B7A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9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800" b="1">
                <a:solidFill>
                  <a:srgbClr val="12304A"/>
                </a:solidFill>
                <a:latin typeface="Aptos"/>
              </a:defRPr>
            </a:pPr>
            <a:r>
              <a:t>AWS — EC2 héberge Airbyte, RDS porte la donnée</a:t>
            </a:r>
          </a:p>
        </p:txBody>
      </p:sp>
      <p:pic>
        <p:nvPicPr>
          <p:cNvPr id="4" name="Picture 3" descr="source_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512064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097280"/>
            <a:ext cx="50292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42976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900" b="1">
                <a:solidFill>
                  <a:srgbClr val="12304A"/>
                </a:solidFill>
                <a:latin typeface="Aptos"/>
              </a:defRPr>
            </a:pPr>
            <a:r>
              <a:t>Paramètres documentés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389120" cy="2468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23313D"/>
                </a:solidFill>
                <a:latin typeface="Aptos"/>
              </a:defRPr>
            </a:pPr>
            <a:r>
              <a:t>• EC2 Amazon Linux 2023</a:t>
            </a:r>
            <a:br/>
            <a:r>
              <a:t>• Docker 25.0.16 + abctl v0.30.4</a:t>
            </a:r>
            <a:br/>
            <a:r>
              <a:t>• Airbyte accessible via tunnel SSH : port 6598</a:t>
            </a:r>
            <a:br/>
            <a:r>
              <a:t>• RDS PostgreSQL : port 5432 + TLS</a:t>
            </a:r>
            <a:br/>
            <a:r>
              <a:t>• Stockage EC2 : 50 Go (notebook)</a:t>
            </a:r>
            <a:br/>
            <a:r>
              <a:t>• RDS : sauvegardes automatiques + monitoring activés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4754880"/>
            <a:ext cx="43891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C75C5C"/>
                </a:solidFill>
                <a:latin typeface="Aptos"/>
              </a:defRPr>
            </a:pPr>
            <a:r>
              <a:t>Taille / coût cible : illustratif — à instrumenter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B6B7A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9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800" b="1">
                <a:solidFill>
                  <a:srgbClr val="12304A"/>
                </a:solidFill>
                <a:latin typeface="Aptos"/>
              </a:defRPr>
            </a:pPr>
            <a:r>
              <a:t>AWS — exploitation, observabilité &amp; scalabilité</a:t>
            </a:r>
          </a:p>
        </p:txBody>
      </p:sp>
      <p:pic>
        <p:nvPicPr>
          <p:cNvPr id="4" name="Picture 3" descr="source_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521208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234440"/>
            <a:ext cx="4754880" cy="34747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0">
                <a:solidFill>
                  <a:srgbClr val="23313D"/>
                </a:solidFill>
                <a:latin typeface="Aptos"/>
              </a:defRPr>
            </a:pPr>
            <a:r>
              <a:t>• CloudWatch : logs ECS et suivi des runs</a:t>
            </a:r>
            <a:br/>
            <a:r>
              <a:t>• EventBridge Scheduler → ECS RunTask pour le batch</a:t>
            </a:r>
            <a:br/>
            <a:r>
              <a:t>• Éviter un ECS Service pour un job ponctuel</a:t>
            </a:r>
            <a:br/>
            <a:r>
              <a:t>• ECR héberge l’image DBT</a:t>
            </a:r>
            <a:br/>
            <a:r>
              <a:t>• Scalabilité : Fargate à instrumenter selon fréquence</a:t>
            </a:r>
            <a:br/>
            <a:r>
              <a:t>• Coûts AWS : illustratif — à instrumenter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B6B7A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9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800" b="1">
                <a:solidFill>
                  <a:srgbClr val="12304A"/>
                </a:solidFill>
                <a:latin typeface="Aptos"/>
              </a:defRPr>
            </a:pPr>
            <a:r>
              <a:t>Ingestion Airbyte — du fichier au raw</a:t>
            </a:r>
          </a:p>
        </p:txBody>
      </p:sp>
      <p:pic>
        <p:nvPicPr>
          <p:cNvPr id="4" name="Picture 3" descr="sourc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6583680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325880"/>
            <a:ext cx="3840480" cy="2743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0">
                <a:solidFill>
                  <a:srgbClr val="23313D"/>
                </a:solidFill>
                <a:latin typeface="Aptos"/>
              </a:defRPr>
            </a:pPr>
            <a:r>
              <a:t>• Destination : PostgreSQL / base weather_data</a:t>
            </a:r>
            <a:br/>
            <a:r>
              <a:t>• Schéma raw conservé avant transformation</a:t>
            </a:r>
            <a:br/>
            <a:r>
              <a:t>• Sources : fichiers Excel / JSON mis à disposition</a:t>
            </a:r>
            <a:br/>
            <a:r>
              <a:t>• Tables brutes par station et par réseau</a:t>
            </a:r>
            <a:br/>
            <a:r>
              <a:t>• Contrôle de présence via pgAdmin /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B6B7A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9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800" b="1">
                <a:solidFill>
                  <a:srgbClr val="12304A"/>
                </a:solidFill>
                <a:latin typeface="Aptos"/>
              </a:defRPr>
            </a:pPr>
            <a:r>
              <a:t>Schéma de la base de données</a:t>
            </a:r>
          </a:p>
        </p:txBody>
      </p:sp>
      <p:pic>
        <p:nvPicPr>
          <p:cNvPr id="4" name="Picture 3" descr="star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667512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234440"/>
            <a:ext cx="3657600" cy="3291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23313D"/>
                </a:solidFill>
                <a:latin typeface="Aptos"/>
              </a:defRPr>
            </a:pPr>
            <a:r>
              <a:t>• raw : tables d’arrivée des 3 sources</a:t>
            </a:r>
            <a:br/>
            <a:r>
              <a:t>• analytics : objets DBT consommables</a:t>
            </a:r>
            <a:br/>
            <a:r>
              <a:t>• Clé station_id pour relier les observations</a:t>
            </a:r>
            <a:br/>
            <a:r>
              <a:t>• Index sur station_id et observation_time</a:t>
            </a:r>
            <a:br/>
            <a:r>
              <a:t>• Contraintes de domaine : humidité, vent, pression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B6B7A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9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800" b="1">
                <a:solidFill>
                  <a:srgbClr val="12304A"/>
                </a:solidFill>
                <a:latin typeface="Aptos"/>
              </a:defRPr>
            </a:pPr>
            <a:r>
              <a:t>Modèle analytique — schéma en étoile</a:t>
            </a:r>
          </a:p>
        </p:txBody>
      </p:sp>
      <p:pic>
        <p:nvPicPr>
          <p:cNvPr id="4" name="Picture 3" descr="star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7315200" cy="5029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21040" y="1280160"/>
            <a:ext cx="2926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155448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1">
                <a:solidFill>
                  <a:srgbClr val="12304A"/>
                </a:solidFill>
                <a:latin typeface="Aptos"/>
              </a:defRPr>
            </a:pPr>
            <a:r>
              <a:t>Grain du fait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057400"/>
            <a:ext cx="228600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500" b="1">
                <a:solidFill>
                  <a:srgbClr val="1F9D8B"/>
                </a:solidFill>
                <a:latin typeface="Aptos"/>
              </a:defRPr>
            </a:pPr>
            <a:r>
              <a:t>1 observation</a:t>
            </a:r>
            <a:br/>
            <a:r>
              <a:t>par station</a:t>
            </a:r>
            <a:br/>
            <a:r>
              <a:t>et instant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3657600"/>
            <a:ext cx="228600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300" b="1">
                <a:solidFill>
                  <a:srgbClr val="23313D"/>
                </a:solidFill>
                <a:latin typeface="Aptos"/>
              </a:defRPr>
            </a:pPr>
            <a:r>
              <a:t>PK composée :</a:t>
            </a:r>
            <a:br/>
            <a:r>
              <a:t>station_id + observation_time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B6B7A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9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800" b="1">
                <a:solidFill>
                  <a:srgbClr val="12304A"/>
                </a:solidFill>
                <a:latin typeface="Aptos"/>
              </a:defRPr>
            </a:pPr>
            <a:r>
              <a:t>DBT — 3 couches et lineage</a:t>
            </a:r>
          </a:p>
        </p:txBody>
      </p:sp>
      <p:pic>
        <p:nvPicPr>
          <p:cNvPr id="4" name="Picture 3" descr="dbt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10972800" cy="3383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572000"/>
            <a:ext cx="102412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23313D"/>
                </a:solidFill>
                <a:latin typeface="Aptos"/>
              </a:defRPr>
            </a:pPr>
            <a:r>
              <a:t>• Sources : 3 tables raw déclarées</a:t>
            </a:r>
            <a:br/>
            <a:r>
              <a:t>• Staging : renommage, casting, conversion °F → °C</a:t>
            </a:r>
            <a:br/>
            <a:r>
              <a:t>• Intermediate : union des réseaux</a:t>
            </a:r>
            <a:br/>
            <a:r>
              <a:t>• Marts : dim_weather_stations + fact_weather_observations</a:t>
            </a:r>
            <a:br/>
            <a:r>
              <a:t>• dbt docs expose le graphe de dépendances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B6B7A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9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800" b="1">
                <a:solidFill>
                  <a:srgbClr val="12304A"/>
                </a:solidFill>
                <a:latin typeface="Aptos"/>
              </a:defRPr>
            </a:pPr>
            <a:r>
              <a:t>Exécution des transformations — temps mesurés</a:t>
            </a:r>
          </a:p>
        </p:txBody>
      </p:sp>
      <p:pic>
        <p:nvPicPr>
          <p:cNvPr id="4" name="Picture 3" descr="dbt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5486400" cy="4297680"/>
          </a:xfrm>
          <a:prstGeom prst="rect">
            <a:avLst/>
          </a:prstGeom>
        </p:spPr>
      </p:pic>
      <p:pic>
        <p:nvPicPr>
          <p:cNvPr id="5" name="Picture 4" descr="source_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005840"/>
            <a:ext cx="502920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5440680"/>
            <a:ext cx="45720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5B6B7A"/>
                </a:solidFill>
                <a:latin typeface="Aptos"/>
              </a:defRPr>
            </a:pPr>
            <a:r>
              <a:t>Capture terminal dbt —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B6B7A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9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800" b="1">
                <a:solidFill>
                  <a:srgbClr val="12304A"/>
                </a:solidFill>
                <a:latin typeface="Aptos"/>
              </a:defRPr>
            </a:pPr>
            <a:r>
              <a:t>Tests de qualité — 9/9 OK</a:t>
            </a:r>
          </a:p>
        </p:txBody>
      </p:sp>
      <p:pic>
        <p:nvPicPr>
          <p:cNvPr id="4" name="Picture 3" descr="quality_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5669280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1325880"/>
            <a:ext cx="457200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0">
                <a:solidFill>
                  <a:srgbClr val="23313D"/>
                </a:solidFill>
                <a:latin typeface="Aptos"/>
              </a:defRPr>
            </a:pPr>
            <a:r>
              <a:t>• not_null : identifiants, coordonnées, horodatage</a:t>
            </a:r>
            <a:br/>
            <a:r>
              <a:t>• unique : station_id</a:t>
            </a:r>
            <a:br/>
            <a:r>
              <a:t>• relationships : station_id → dimension</a:t>
            </a:r>
            <a:br/>
            <a:r>
              <a:t>• accepted_values : amateur / officielle</a:t>
            </a:r>
            <a:br/>
            <a:r>
              <a:t>• Tests spécifiques : pluie, température, humidité, 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4892040"/>
            <a:ext cx="42062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55A868"/>
                </a:solidFill>
                <a:latin typeface="Aptos"/>
              </a:defRPr>
            </a:pPr>
            <a:r>
              <a:t>Résultat notebook : PASS=9, 0 erreur, 0,97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B6B7A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9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800" b="1">
                <a:solidFill>
                  <a:srgbClr val="12304A"/>
                </a:solidFill>
                <a:latin typeface="Aptos"/>
              </a:defRPr>
            </a:pPr>
            <a:r>
              <a:t>Documentation DBT &amp; lineage</a:t>
            </a:r>
          </a:p>
        </p:txBody>
      </p:sp>
      <p:pic>
        <p:nvPicPr>
          <p:cNvPr id="4" name="Picture 3" descr="source_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6858000" cy="4846320"/>
          </a:xfrm>
          <a:prstGeom prst="rect">
            <a:avLst/>
          </a:prstGeom>
        </p:spPr>
      </p:pic>
      <p:pic>
        <p:nvPicPr>
          <p:cNvPr id="5" name="Picture 4" descr="dbt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234440"/>
            <a:ext cx="3840480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3566160"/>
            <a:ext cx="365760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23313D"/>
                </a:solidFill>
                <a:latin typeface="Aptos"/>
              </a:defRPr>
            </a:pPr>
            <a:r>
              <a:t>• dbt docs generate produit les artefacts JSON</a:t>
            </a:r>
            <a:br/>
            <a:r>
              <a:t>• dbt docs serve rend le catalogue navigable</a:t>
            </a:r>
            <a:br/>
            <a:r>
              <a:t>• Descriptions de modèles et de colonnes</a:t>
            </a:r>
            <a:br/>
            <a:r>
              <a:t>• Lineage visible de source à mart</a:t>
            </a:r>
            <a:br/>
            <a:r>
              <a:t>• Support à l’onboarding et à l’audit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B6B7A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9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800" b="1">
                <a:solidFill>
                  <a:srgbClr val="12304A"/>
                </a:solidFill>
                <a:latin typeface="Aptos"/>
              </a:defRPr>
            </a:pPr>
            <a:r>
              <a:t>Reporting — qualité &amp; délai de mise à disposition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55A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2743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1">
                <a:solidFill>
                  <a:srgbClr val="12304A"/>
                </a:solidFill>
                <a:latin typeface="Aptos"/>
              </a:defRPr>
            </a:pPr>
            <a:r>
              <a:t>Qualité mesurée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274320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3200" b="1">
                <a:solidFill>
                  <a:srgbClr val="55A868"/>
                </a:solidFill>
                <a:latin typeface="Aptos"/>
              </a:defRPr>
            </a:pPr>
            <a:r>
              <a:t>9 / 9</a:t>
            </a:r>
            <a:br/>
            <a:r>
              <a:t>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27432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500" b="1">
                <a:solidFill>
                  <a:srgbClr val="23313D"/>
                </a:solidFill>
                <a:latin typeface="Aptos"/>
              </a:defRPr>
            </a:pPr>
            <a:r>
              <a:t>0 WARN • 0 ERROR</a:t>
            </a:r>
            <a:br/>
            <a:r>
              <a:t>0,97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14300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463040"/>
            <a:ext cx="2743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1">
                <a:solidFill>
                  <a:srgbClr val="12304A"/>
                </a:solidFill>
                <a:latin typeface="Aptos"/>
              </a:defRPr>
            </a:pPr>
            <a:r>
              <a:t>Temps DBT mesurés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011680"/>
            <a:ext cx="27432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300" b="1">
                <a:solidFill>
                  <a:srgbClr val="1F6F9F"/>
                </a:solidFill>
                <a:latin typeface="Aptos"/>
              </a:defRPr>
            </a:pPr>
            <a:r>
              <a:t>1,05 s</a:t>
            </a:r>
            <a:br/>
            <a:r>
              <a:t>0,73 s</a:t>
            </a:r>
            <a:br/>
            <a:r>
              <a:t>3,92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840480"/>
            <a:ext cx="27432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200" b="0">
                <a:solidFill>
                  <a:srgbClr val="5B6B7A"/>
                </a:solidFill>
                <a:latin typeface="Aptos"/>
              </a:defRPr>
            </a:pPr>
            <a:r>
              <a:t>stg • int • marts</a:t>
            </a:r>
          </a:p>
        </p:txBody>
      </p:sp>
      <p:pic>
        <p:nvPicPr>
          <p:cNvPr id="12" name="Picture 11" descr="dbt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3017520" cy="2377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0" y="4160520"/>
            <a:ext cx="28346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100" b="1">
                <a:solidFill>
                  <a:srgbClr val="C75C5C"/>
                </a:solidFill>
                <a:latin typeface="Aptos"/>
              </a:defRPr>
            </a:pPr>
            <a:r>
              <a:t>SLA / fréquence réelle :</a:t>
            </a:r>
            <a:br/>
            <a:r>
              <a:t>illustratif — à instrumenter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B6B7A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9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800" b="1">
                <a:solidFill>
                  <a:srgbClr val="12304A"/>
                </a:solidFill>
                <a:latin typeface="Aptos"/>
              </a:defRPr>
            </a:pPr>
            <a:r>
              <a:t>Déroulé minuté de la démo — 5 minutes</a:t>
            </a:r>
          </a:p>
        </p:txBody>
      </p:sp>
      <p:pic>
        <p:nvPicPr>
          <p:cNvPr id="4" name="Picture 3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10972800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657600"/>
            <a:ext cx="10058400" cy="1554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700" b="0">
                <a:solidFill>
                  <a:srgbClr val="23313D"/>
                </a:solidFill>
                <a:latin typeface="Aptos"/>
              </a:defRPr>
            </a:pPr>
            <a:r>
              <a:t>• 0:00–0:40 — enjeu et architecture AWS</a:t>
            </a:r>
            <a:br/>
            <a:r>
              <a:t>• 0:40–1:30 — Airbyte : source → PostgreSQL raw</a:t>
            </a:r>
            <a:br/>
            <a:r>
              <a:t>• 1:30–2:40 — dbt run : staging → marts</a:t>
            </a:r>
            <a:br/>
            <a:r>
              <a:t>• 2:40–3:30 — dbt test : 9/9 PASS</a:t>
            </a:r>
            <a:br/>
            <a:r>
              <a:t>• 3:30–4:20 — dbt docs / lineage</a:t>
            </a:r>
            <a:br/>
            <a:r>
              <a:t>• 4:20–5:00 — requête finale + limites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B6B7A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9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800" b="1">
                <a:solidFill>
                  <a:srgbClr val="12304A"/>
                </a:solidFill>
                <a:latin typeface="Aptos"/>
              </a:defRPr>
            </a:pPr>
            <a:r>
              <a:t>FAQ technique anticipée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0789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143000"/>
            <a:ext cx="28346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1">
                <a:solidFill>
                  <a:srgbClr val="12304A"/>
                </a:solidFill>
                <a:latin typeface="Aptos"/>
              </a:defRPr>
            </a:pPr>
            <a:r>
              <a:t>Pourquoi garder le raw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143000"/>
            <a:ext cx="70408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23313D"/>
                </a:solidFill>
                <a:latin typeface="Aptos"/>
              </a:defRPr>
            </a:pPr>
            <a:r>
              <a:t>Audit, rejouabilité et nouvelles transformations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B6B7A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10789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28346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1">
                <a:solidFill>
                  <a:srgbClr val="12304A"/>
                </a:solidFill>
                <a:latin typeface="Aptos"/>
              </a:defRPr>
            </a:pPr>
            <a:r>
              <a:t>Pourquoi DBT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103120"/>
            <a:ext cx="70408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23313D"/>
                </a:solidFill>
                <a:latin typeface="Aptos"/>
              </a:defRPr>
            </a:pPr>
            <a:r>
              <a:t>SQL versionné, tests et documentation réunis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B6B7A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10789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063240"/>
            <a:ext cx="28346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1">
                <a:solidFill>
                  <a:srgbClr val="12304A"/>
                </a:solidFill>
                <a:latin typeface="Aptos"/>
              </a:defRPr>
            </a:pPr>
            <a:r>
              <a:t>Comment sécuriser RDS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063240"/>
            <a:ext cx="70408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23313D"/>
                </a:solidFill>
                <a:latin typeface="Aptos"/>
              </a:defRPr>
            </a:pPr>
            <a:r>
              <a:t>Subnet privé, SG ciblé, TLS, Secrets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B6B7A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86200"/>
            <a:ext cx="10789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023360"/>
            <a:ext cx="28346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1">
                <a:solidFill>
                  <a:srgbClr val="12304A"/>
                </a:solidFill>
                <a:latin typeface="Aptos"/>
              </a:defRPr>
            </a:pPr>
            <a:r>
              <a:t>Pourquoi RunTask plutôt qu’un Service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023360"/>
            <a:ext cx="70408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23313D"/>
                </a:solidFill>
                <a:latin typeface="Aptos"/>
              </a:defRPr>
            </a:pPr>
            <a:r>
              <a:t>Le run DBT est un job batch ponctuel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B6B7A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10789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983480"/>
            <a:ext cx="28346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1">
                <a:solidFill>
                  <a:srgbClr val="12304A"/>
                </a:solidFill>
                <a:latin typeface="Aptos"/>
              </a:defRPr>
            </a:pPr>
            <a:r>
              <a:t>Comment gérer les nouvelles stations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4983480"/>
            <a:ext cx="70408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23313D"/>
                </a:solidFill>
                <a:latin typeface="Aptos"/>
              </a:defRPr>
            </a:pPr>
            <a:r>
              <a:t>Ajouter source + staging + tests + dimension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B6B7A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9F"/>
          </a:solidFill>
          <a:ln>
            <a:solidFill>
              <a:srgbClr val="1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800" b="1">
                <a:solidFill>
                  <a:srgbClr val="12304A"/>
                </a:solidFill>
                <a:latin typeface="Aptos"/>
              </a:defRPr>
            </a:pPr>
            <a:r>
              <a:t>Limites &amp; améliorations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7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2976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900" b="1">
                <a:solidFill>
                  <a:srgbClr val="C75C5C"/>
                </a:solidFill>
                <a:latin typeface="Aptos"/>
              </a:defRPr>
            </a:pPr>
            <a:r>
              <a:t>Limites assumées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389120" cy="2743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23313D"/>
                </a:solidFill>
                <a:latin typeface="Aptos"/>
              </a:defRPr>
            </a:pPr>
            <a:r>
              <a:t>• Bug Airbyte après connexion EC2</a:t>
            </a:r>
            <a:br/>
            <a:r>
              <a:t>• Contournement par Airbyte Cloud documenté</a:t>
            </a:r>
            <a:br/>
            <a:r>
              <a:t>• RDS rendu public dans le contournement : à fermer</a:t>
            </a:r>
            <a:br/>
            <a:r>
              <a:t>• Coûts et SLA non mesurés dans le notebook</a:t>
            </a:r>
            <a:br/>
            <a:r>
              <a:t>• Tests spécifiques définis, résultats détaillés à suivre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9728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55A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42976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900" b="1">
                <a:solidFill>
                  <a:srgbClr val="55A868"/>
                </a:solidFill>
                <a:latin typeface="Aptos"/>
              </a:defRPr>
            </a:pPr>
            <a:r>
              <a:t>Améliorations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389120" cy="2743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23313D"/>
                </a:solidFill>
                <a:latin typeface="Aptos"/>
              </a:defRPr>
            </a:pPr>
            <a:r>
              <a:t>• RDS privé + accès via VPC / PrivateLink</a:t>
            </a:r>
            <a:br/>
            <a:r>
              <a:t>• Secrets Manager partout, rotation</a:t>
            </a:r>
            <a:br/>
            <a:r>
              <a:t>• Monitoring et alertes CloudWatch</a:t>
            </a:r>
            <a:br/>
            <a:r>
              <a:t>• EventBridge + ECS RunTask planifié</a:t>
            </a:r>
            <a:br/>
            <a:r>
              <a:t>• CI/CD DBT et tests avant déploiement</a:t>
            </a:r>
          </a:p>
        </p:txBody>
      </p:sp>
      <p:pic>
        <p:nvPicPr>
          <p:cNvPr id="10" name="Picture 9" descr="aws_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251960"/>
            <a:ext cx="2926080" cy="1005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B6B7A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78992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3400" b="1">
                <a:solidFill>
                  <a:srgbClr val="F4F7FA"/>
                </a:solidFill>
                <a:latin typeface="Aptos"/>
              </a:defRPr>
            </a:pPr>
            <a:r>
              <a:t>Conclusion — une base fiable pour Forecast 2.0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2148840"/>
            <a:ext cx="1097280" cy="91440"/>
          </a:xfrm>
          <a:prstGeom prst="rect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low_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886200"/>
            <a:ext cx="1024128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200" b="1">
                <a:solidFill>
                  <a:srgbClr val="F4F7FA"/>
                </a:solidFill>
                <a:latin typeface="Aptos"/>
              </a:defRPr>
            </a:pPr>
            <a:r>
              <a:t>Des sources météo hétérogènes → une donnée analytique testée, documentée et prête pour les modèles.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83480"/>
            <a:ext cx="102412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400" b="0">
                <a:solidFill>
                  <a:srgbClr val="F4F7FA"/>
                </a:solidFill>
                <a:latin typeface="Aptos"/>
              </a:defRPr>
            </a:pPr>
            <a:r>
              <a:t>Message clé : la valeur vient autant de la qualité et de la traçabilité que de l’ingestion.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B6B7A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