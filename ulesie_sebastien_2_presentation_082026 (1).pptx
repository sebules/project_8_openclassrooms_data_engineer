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9"/>
  </p:notesMasterIdLst>
  <p:handoutMasterIdLst>
    <p:handoutMasterId r:id="rId30"/>
  </p:handoutMasterIdLst>
  <p:sldIdLst>
    <p:sldId id="257" r:id="rId2"/>
    <p:sldId id="261" r:id="rId3"/>
    <p:sldId id="259" r:id="rId4"/>
    <p:sldId id="260" r:id="rId5"/>
    <p:sldId id="344" r:id="rId6"/>
    <p:sldId id="345" r:id="rId7"/>
    <p:sldId id="346" r:id="rId8"/>
    <p:sldId id="351" r:id="rId9"/>
    <p:sldId id="352" r:id="rId10"/>
    <p:sldId id="353" r:id="rId11"/>
    <p:sldId id="354" r:id="rId12"/>
    <p:sldId id="356" r:id="rId13"/>
    <p:sldId id="347" r:id="rId14"/>
    <p:sldId id="358" r:id="rId15"/>
    <p:sldId id="357" r:id="rId16"/>
    <p:sldId id="368" r:id="rId17"/>
    <p:sldId id="359" r:id="rId18"/>
    <p:sldId id="360" r:id="rId19"/>
    <p:sldId id="348" r:id="rId20"/>
    <p:sldId id="349" r:id="rId21"/>
    <p:sldId id="350" r:id="rId22"/>
    <p:sldId id="363" r:id="rId23"/>
    <p:sldId id="364" r:id="rId24"/>
    <p:sldId id="365" r:id="rId25"/>
    <p:sldId id="366" r:id="rId26"/>
    <p:sldId id="282" r:id="rId27"/>
    <p:sldId id="299" r:id="rId28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Ulésie" initials="SU" lastIdx="1" clrIdx="0">
    <p:extLst>
      <p:ext uri="{19B8F6BF-5375-455C-9EA6-DF929625EA0E}">
        <p15:presenceInfo xmlns:p15="http://schemas.microsoft.com/office/powerpoint/2012/main" userId="341bc60b6eabda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333"/>
    <a:srgbClr val="61D0CE"/>
    <a:srgbClr val="F6A2F8"/>
    <a:srgbClr val="D9F0F0"/>
    <a:srgbClr val="996633"/>
    <a:srgbClr val="CCCC00"/>
    <a:srgbClr val="B3FFD5"/>
    <a:srgbClr val="B3E7FF"/>
    <a:srgbClr val="FAE6B8"/>
    <a:srgbClr val="2DA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612ED-5876-4919-BCC8-600F5B229E7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ACF00B4C-E6D7-4CF7-AFA6-22ECB4A54A6A}">
      <dgm:prSet phldrT="[Texte]" phldr="0"/>
      <dgm:spPr/>
      <dgm:t>
        <a:bodyPr/>
        <a:lstStyle/>
        <a:p>
          <a:r>
            <a:rPr lang="fr-FR" dirty="0"/>
            <a:t>1- Contexte &amp; Objectif</a:t>
          </a:r>
        </a:p>
      </dgm:t>
    </dgm:pt>
    <dgm:pt modelId="{FDD0A571-75BF-47A0-B20D-C0A8085AC3A7}" type="parTrans" cxnId="{9B4DC1D0-0933-42AD-B402-BAE36805541F}">
      <dgm:prSet/>
      <dgm:spPr/>
      <dgm:t>
        <a:bodyPr/>
        <a:lstStyle/>
        <a:p>
          <a:endParaRPr lang="fr-FR"/>
        </a:p>
      </dgm:t>
    </dgm:pt>
    <dgm:pt modelId="{F49AE16D-0DC3-4DA7-9732-CC9EE6A681A0}" type="sibTrans" cxnId="{9B4DC1D0-0933-42AD-B402-BAE36805541F}">
      <dgm:prSet/>
      <dgm:spPr/>
      <dgm:t>
        <a:bodyPr/>
        <a:lstStyle/>
        <a:p>
          <a:endParaRPr lang="fr-FR"/>
        </a:p>
      </dgm:t>
    </dgm:pt>
    <dgm:pt modelId="{09562225-7FCE-4E93-8C05-403975C5475D}">
      <dgm:prSet phldrT="[Texte]" phldr="0"/>
      <dgm:spPr/>
      <dgm:t>
        <a:bodyPr/>
        <a:lstStyle/>
        <a:p>
          <a:r>
            <a:rPr lang="fr-FR" dirty="0"/>
            <a:t>4- Schéma d’architecture</a:t>
          </a:r>
        </a:p>
      </dgm:t>
    </dgm:pt>
    <dgm:pt modelId="{0781F10D-ED0A-48FE-B536-0CE0EEFECEC3}" type="parTrans" cxnId="{F64BF8E3-3C7F-43B9-85CA-B98717DDCE52}">
      <dgm:prSet/>
      <dgm:spPr/>
      <dgm:t>
        <a:bodyPr/>
        <a:lstStyle/>
        <a:p>
          <a:endParaRPr lang="fr-FR"/>
        </a:p>
      </dgm:t>
    </dgm:pt>
    <dgm:pt modelId="{A16D4EFB-D346-4379-AC60-BC2431B43AE4}" type="sibTrans" cxnId="{F64BF8E3-3C7F-43B9-85CA-B98717DDCE52}">
      <dgm:prSet/>
      <dgm:spPr/>
      <dgm:t>
        <a:bodyPr/>
        <a:lstStyle/>
        <a:p>
          <a:endParaRPr lang="fr-FR"/>
        </a:p>
      </dgm:t>
    </dgm:pt>
    <dgm:pt modelId="{91C5EE06-7918-4F4E-ABC8-78B22D3546A2}">
      <dgm:prSet phldrT="[Texte]" phldr="0"/>
      <dgm:spPr/>
      <dgm:t>
        <a:bodyPr/>
        <a:lstStyle/>
        <a:p>
          <a:r>
            <a:rPr lang="fr-FR" dirty="0"/>
            <a:t>3- Processus collecter, transformer, stocker et tester les données</a:t>
          </a:r>
        </a:p>
      </dgm:t>
    </dgm:pt>
    <dgm:pt modelId="{F8E08B12-C3B4-44EB-8CAC-1ED61F0F2D2E}" type="parTrans" cxnId="{BA2CB65B-D598-4090-8A83-B9D804C83F04}">
      <dgm:prSet/>
      <dgm:spPr/>
      <dgm:t>
        <a:bodyPr/>
        <a:lstStyle/>
        <a:p>
          <a:endParaRPr lang="fr-FR"/>
        </a:p>
      </dgm:t>
    </dgm:pt>
    <dgm:pt modelId="{E6385450-D9A5-4D9C-B992-73589E40A9D7}" type="sibTrans" cxnId="{BA2CB65B-D598-4090-8A83-B9D804C83F04}">
      <dgm:prSet/>
      <dgm:spPr/>
      <dgm:t>
        <a:bodyPr/>
        <a:lstStyle/>
        <a:p>
          <a:endParaRPr lang="fr-FR"/>
        </a:p>
      </dgm:t>
    </dgm:pt>
    <dgm:pt modelId="{137669DF-45F8-40AE-925B-B1ADA604DE22}">
      <dgm:prSet phldrT="[Texte]" phldr="0"/>
      <dgm:spPr/>
      <dgm:t>
        <a:bodyPr/>
        <a:lstStyle/>
        <a:p>
          <a:r>
            <a:rPr lang="fr-FR" b="0" dirty="0"/>
            <a:t>2- Schéma de la base de données</a:t>
          </a:r>
        </a:p>
      </dgm:t>
    </dgm:pt>
    <dgm:pt modelId="{6B54155B-5F84-497A-BFEF-EA323E20BA10}" type="parTrans" cxnId="{8D0E12F4-8B86-4A1B-98D0-2FAA70F1362B}">
      <dgm:prSet/>
      <dgm:spPr/>
      <dgm:t>
        <a:bodyPr/>
        <a:lstStyle/>
        <a:p>
          <a:endParaRPr lang="fr-FR"/>
        </a:p>
      </dgm:t>
    </dgm:pt>
    <dgm:pt modelId="{2F249443-FEF1-43B6-A7E1-9A73B0A25AE0}" type="sibTrans" cxnId="{8D0E12F4-8B86-4A1B-98D0-2FAA70F1362B}">
      <dgm:prSet/>
      <dgm:spPr/>
      <dgm:t>
        <a:bodyPr/>
        <a:lstStyle/>
        <a:p>
          <a:endParaRPr lang="fr-FR"/>
        </a:p>
      </dgm:t>
    </dgm:pt>
    <dgm:pt modelId="{10F4FD06-E452-44ED-A921-58727BCB960A}">
      <dgm:prSet phldrT="[Texte]" phldr="0"/>
      <dgm:spPr/>
      <dgm:t>
        <a:bodyPr/>
        <a:lstStyle/>
        <a:p>
          <a:r>
            <a:rPr lang="fr-FR" dirty="0"/>
            <a:t>5- Mise en place </a:t>
          </a:r>
          <a:r>
            <a:rPr lang="fr-FR" dirty="0" err="1"/>
            <a:t>Airbyte</a:t>
          </a:r>
          <a:endParaRPr lang="fr-FR" dirty="0"/>
        </a:p>
      </dgm:t>
    </dgm:pt>
    <dgm:pt modelId="{B7E01A7A-0B52-49F1-9D84-3CDC11E7F5E7}" type="parTrans" cxnId="{8B050C56-35A9-489A-B54E-3E969E6E5C65}">
      <dgm:prSet/>
      <dgm:spPr/>
      <dgm:t>
        <a:bodyPr/>
        <a:lstStyle/>
        <a:p>
          <a:endParaRPr lang="fr-FR"/>
        </a:p>
      </dgm:t>
    </dgm:pt>
    <dgm:pt modelId="{BF084CD2-773F-4397-B5DA-1C0C0BAF6D87}" type="sibTrans" cxnId="{8B050C56-35A9-489A-B54E-3E969E6E5C65}">
      <dgm:prSet/>
      <dgm:spPr/>
      <dgm:t>
        <a:bodyPr/>
        <a:lstStyle/>
        <a:p>
          <a:endParaRPr lang="fr-FR"/>
        </a:p>
      </dgm:t>
    </dgm:pt>
    <dgm:pt modelId="{C5B30B90-4036-464E-A28E-383F3D5B746F}">
      <dgm:prSet phldrT="[Texte]" phldr="0"/>
      <dgm:spPr/>
      <dgm:t>
        <a:bodyPr/>
        <a:lstStyle/>
        <a:p>
          <a:r>
            <a:rPr lang="fr-FR" dirty="0"/>
            <a:t>6- Mise en place DBT</a:t>
          </a:r>
        </a:p>
      </dgm:t>
    </dgm:pt>
    <dgm:pt modelId="{1F871E0C-41C6-460A-8D72-F79549FEE94E}" type="parTrans" cxnId="{60AB59C1-93C6-4A83-820B-AF25EED12C2A}">
      <dgm:prSet/>
      <dgm:spPr/>
      <dgm:t>
        <a:bodyPr/>
        <a:lstStyle/>
        <a:p>
          <a:endParaRPr lang="fr-FR"/>
        </a:p>
      </dgm:t>
    </dgm:pt>
    <dgm:pt modelId="{B8E65884-E0EE-41D7-9E11-32E3A03763CD}" type="sibTrans" cxnId="{60AB59C1-93C6-4A83-820B-AF25EED12C2A}">
      <dgm:prSet/>
      <dgm:spPr/>
      <dgm:t>
        <a:bodyPr/>
        <a:lstStyle/>
        <a:p>
          <a:endParaRPr lang="fr-FR"/>
        </a:p>
      </dgm:t>
    </dgm:pt>
    <dgm:pt modelId="{7B991E51-EA9F-4EA3-999C-494E52148DFB}">
      <dgm:prSet phldrT="[Texte]" phldr="0"/>
      <dgm:spPr/>
      <dgm:t>
        <a:bodyPr/>
        <a:lstStyle/>
        <a:p>
          <a:r>
            <a:rPr lang="fr-FR" dirty="0"/>
            <a:t>7- Temps accessibilité aux données</a:t>
          </a:r>
        </a:p>
      </dgm:t>
    </dgm:pt>
    <dgm:pt modelId="{89EBD24B-A965-4033-A3A8-D26BBD8F9C55}" type="parTrans" cxnId="{ACBF787A-C137-4F23-B827-1003E2B82B44}">
      <dgm:prSet/>
      <dgm:spPr/>
      <dgm:t>
        <a:bodyPr/>
        <a:lstStyle/>
        <a:p>
          <a:endParaRPr lang="fr-FR"/>
        </a:p>
      </dgm:t>
    </dgm:pt>
    <dgm:pt modelId="{51CD5044-32D5-4267-9452-9F02006ACD1D}" type="sibTrans" cxnId="{ACBF787A-C137-4F23-B827-1003E2B82B44}">
      <dgm:prSet/>
      <dgm:spPr/>
      <dgm:t>
        <a:bodyPr/>
        <a:lstStyle/>
        <a:p>
          <a:endParaRPr lang="fr-FR"/>
        </a:p>
      </dgm:t>
    </dgm:pt>
    <dgm:pt modelId="{BB40B4F6-4EB6-4EBF-9E1B-B9D404846270}">
      <dgm:prSet phldrT="[Texte]" phldr="0"/>
      <dgm:spPr/>
      <dgm:t>
        <a:bodyPr/>
        <a:lstStyle/>
        <a:p>
          <a:r>
            <a:rPr lang="fr-FR" dirty="0"/>
            <a:t>8- Qualité des données</a:t>
          </a:r>
        </a:p>
      </dgm:t>
    </dgm:pt>
    <dgm:pt modelId="{907C754D-DDD4-4E71-AFE2-02BB244F0F38}" type="parTrans" cxnId="{8A736A9F-65F0-4A55-9A3F-CCF416234F97}">
      <dgm:prSet/>
      <dgm:spPr/>
      <dgm:t>
        <a:bodyPr/>
        <a:lstStyle/>
        <a:p>
          <a:endParaRPr lang="fr-FR"/>
        </a:p>
      </dgm:t>
    </dgm:pt>
    <dgm:pt modelId="{FAB9DC6E-0691-4B3E-84B9-DFFF68013930}" type="sibTrans" cxnId="{8A736A9F-65F0-4A55-9A3F-CCF416234F97}">
      <dgm:prSet/>
      <dgm:spPr/>
      <dgm:t>
        <a:bodyPr/>
        <a:lstStyle/>
        <a:p>
          <a:endParaRPr lang="fr-FR"/>
        </a:p>
      </dgm:t>
    </dgm:pt>
    <dgm:pt modelId="{3CD23260-9728-4408-BFD6-CE02FEDB8461}">
      <dgm:prSet phldrT="[Texte]" phldr="0"/>
      <dgm:spPr/>
      <dgm:t>
        <a:bodyPr/>
        <a:lstStyle/>
        <a:p>
          <a:r>
            <a:rPr lang="fr-FR" dirty="0"/>
            <a:t>9- Mise en place AWS</a:t>
          </a:r>
        </a:p>
      </dgm:t>
    </dgm:pt>
    <dgm:pt modelId="{B46BBC53-87DA-461B-A8AE-AC308B5637EE}" type="parTrans" cxnId="{DCFE94A2-0395-4927-9F3F-AF2253C34E08}">
      <dgm:prSet/>
      <dgm:spPr/>
    </dgm:pt>
    <dgm:pt modelId="{6DD7A032-6B21-43D6-BF72-FE2756121EE7}" type="sibTrans" cxnId="{DCFE94A2-0395-4927-9F3F-AF2253C34E08}">
      <dgm:prSet/>
      <dgm:spPr/>
    </dgm:pt>
    <dgm:pt modelId="{BB89F849-78B2-43DF-933A-2353D297DD5D}" type="pres">
      <dgm:prSet presAssocID="{2A0612ED-5876-4919-BCC8-600F5B229E71}" presName="linear" presStyleCnt="0">
        <dgm:presLayoutVars>
          <dgm:animLvl val="lvl"/>
          <dgm:resizeHandles val="exact"/>
        </dgm:presLayoutVars>
      </dgm:prSet>
      <dgm:spPr/>
    </dgm:pt>
    <dgm:pt modelId="{BB92269C-473B-4581-93AF-AD006B94C36C}" type="pres">
      <dgm:prSet presAssocID="{ACF00B4C-E6D7-4CF7-AFA6-22ECB4A54A6A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4B66C130-72C2-4DC4-9911-87CBCB4195E5}" type="pres">
      <dgm:prSet presAssocID="{F49AE16D-0DC3-4DA7-9732-CC9EE6A681A0}" presName="spacer" presStyleCnt="0"/>
      <dgm:spPr/>
    </dgm:pt>
    <dgm:pt modelId="{90650EEF-1F9D-463E-A867-D4AB9F2E38B6}" type="pres">
      <dgm:prSet presAssocID="{137669DF-45F8-40AE-925B-B1ADA604DE22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6F1EB67-BED4-4BFF-8AB0-2EA5A3B31FFE}" type="pres">
      <dgm:prSet presAssocID="{2F249443-FEF1-43B6-A7E1-9A73B0A25AE0}" presName="spacer" presStyleCnt="0"/>
      <dgm:spPr/>
    </dgm:pt>
    <dgm:pt modelId="{C0F2F60F-49A7-486C-BA84-7742A146D8C7}" type="pres">
      <dgm:prSet presAssocID="{91C5EE06-7918-4F4E-ABC8-78B22D3546A2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0D1D8BE0-65D2-40B4-9127-53B188EBFA7A}" type="pres">
      <dgm:prSet presAssocID="{E6385450-D9A5-4D9C-B992-73589E40A9D7}" presName="spacer" presStyleCnt="0"/>
      <dgm:spPr/>
    </dgm:pt>
    <dgm:pt modelId="{188E501D-B60D-4714-8E70-1CD5D6D0CD0B}" type="pres">
      <dgm:prSet presAssocID="{09562225-7FCE-4E93-8C05-403975C5475D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1202958-3686-43FE-B599-602B95F887BF}" type="pres">
      <dgm:prSet presAssocID="{A16D4EFB-D346-4379-AC60-BC2431B43AE4}" presName="spacer" presStyleCnt="0"/>
      <dgm:spPr/>
    </dgm:pt>
    <dgm:pt modelId="{DF10A574-F3D9-4FC2-A6EE-E7E8311CF638}" type="pres">
      <dgm:prSet presAssocID="{10F4FD06-E452-44ED-A921-58727BCB960A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F15F21A4-6B6A-46CD-A116-A9F8B39033B5}" type="pres">
      <dgm:prSet presAssocID="{BF084CD2-773F-4397-B5DA-1C0C0BAF6D87}" presName="spacer" presStyleCnt="0"/>
      <dgm:spPr/>
    </dgm:pt>
    <dgm:pt modelId="{9F5EF941-1609-4E21-A343-705F89535533}" type="pres">
      <dgm:prSet presAssocID="{C5B30B90-4036-464E-A28E-383F3D5B746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314F175-4D44-4C42-9CA6-E436348A0F9A}" type="pres">
      <dgm:prSet presAssocID="{B8E65884-E0EE-41D7-9E11-32E3A03763CD}" presName="spacer" presStyleCnt="0"/>
      <dgm:spPr/>
    </dgm:pt>
    <dgm:pt modelId="{F241338E-DAFB-437E-BAC6-556E992CF66B}" type="pres">
      <dgm:prSet presAssocID="{7B991E51-EA9F-4EA3-999C-494E52148DFB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9D02E02-2418-40A3-B359-C1BC5D14D341}" type="pres">
      <dgm:prSet presAssocID="{51CD5044-32D5-4267-9452-9F02006ACD1D}" presName="spacer" presStyleCnt="0"/>
      <dgm:spPr/>
    </dgm:pt>
    <dgm:pt modelId="{1FDD8F32-99D9-4BBE-AF0A-DA191E5D1B76}" type="pres">
      <dgm:prSet presAssocID="{BB40B4F6-4EB6-4EBF-9E1B-B9D404846270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22C40D4C-2771-429E-B890-4635503557F1}" type="pres">
      <dgm:prSet presAssocID="{FAB9DC6E-0691-4B3E-84B9-DFFF68013930}" presName="spacer" presStyleCnt="0"/>
      <dgm:spPr/>
    </dgm:pt>
    <dgm:pt modelId="{B65EB578-92C6-4AE5-8CB8-023DE47A0834}" type="pres">
      <dgm:prSet presAssocID="{3CD23260-9728-4408-BFD6-CE02FEDB8461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72D84625-8B4D-4B3B-B34F-C7465EF419B4}" type="presOf" srcId="{09562225-7FCE-4E93-8C05-403975C5475D}" destId="{188E501D-B60D-4714-8E70-1CD5D6D0CD0B}" srcOrd="0" destOrd="0" presId="urn:microsoft.com/office/officeart/2005/8/layout/vList2"/>
    <dgm:cxn modelId="{CF650333-ECB8-4CAD-90C5-194AFE26462D}" type="presOf" srcId="{C5B30B90-4036-464E-A28E-383F3D5B746F}" destId="{9F5EF941-1609-4E21-A343-705F89535533}" srcOrd="0" destOrd="0" presId="urn:microsoft.com/office/officeart/2005/8/layout/vList2"/>
    <dgm:cxn modelId="{BA2CB65B-D598-4090-8A83-B9D804C83F04}" srcId="{2A0612ED-5876-4919-BCC8-600F5B229E71}" destId="{91C5EE06-7918-4F4E-ABC8-78B22D3546A2}" srcOrd="2" destOrd="0" parTransId="{F8E08B12-C3B4-44EB-8CAC-1ED61F0F2D2E}" sibTransId="{E6385450-D9A5-4D9C-B992-73589E40A9D7}"/>
    <dgm:cxn modelId="{B440795D-9897-4394-885B-8552AAFE099C}" type="presOf" srcId="{BB40B4F6-4EB6-4EBF-9E1B-B9D404846270}" destId="{1FDD8F32-99D9-4BBE-AF0A-DA191E5D1B76}" srcOrd="0" destOrd="0" presId="urn:microsoft.com/office/officeart/2005/8/layout/vList2"/>
    <dgm:cxn modelId="{8B050C56-35A9-489A-B54E-3E969E6E5C65}" srcId="{2A0612ED-5876-4919-BCC8-600F5B229E71}" destId="{10F4FD06-E452-44ED-A921-58727BCB960A}" srcOrd="4" destOrd="0" parTransId="{B7E01A7A-0B52-49F1-9D84-3CDC11E7F5E7}" sibTransId="{BF084CD2-773F-4397-B5DA-1C0C0BAF6D87}"/>
    <dgm:cxn modelId="{22157357-0815-4091-B96F-71DED9F79FC1}" type="presOf" srcId="{7B991E51-EA9F-4EA3-999C-494E52148DFB}" destId="{F241338E-DAFB-437E-BAC6-556E992CF66B}" srcOrd="0" destOrd="0" presId="urn:microsoft.com/office/officeart/2005/8/layout/vList2"/>
    <dgm:cxn modelId="{BB8CFB59-ECE7-4CBC-9556-8A3CF9727DDA}" type="presOf" srcId="{ACF00B4C-E6D7-4CF7-AFA6-22ECB4A54A6A}" destId="{BB92269C-473B-4581-93AF-AD006B94C36C}" srcOrd="0" destOrd="0" presId="urn:microsoft.com/office/officeart/2005/8/layout/vList2"/>
    <dgm:cxn modelId="{ACBF787A-C137-4F23-B827-1003E2B82B44}" srcId="{2A0612ED-5876-4919-BCC8-600F5B229E71}" destId="{7B991E51-EA9F-4EA3-999C-494E52148DFB}" srcOrd="6" destOrd="0" parTransId="{89EBD24B-A965-4033-A3A8-D26BBD8F9C55}" sibTransId="{51CD5044-32D5-4267-9452-9F02006ACD1D}"/>
    <dgm:cxn modelId="{DB10A97E-ED05-4997-B914-A888129BEA2A}" type="presOf" srcId="{3CD23260-9728-4408-BFD6-CE02FEDB8461}" destId="{B65EB578-92C6-4AE5-8CB8-023DE47A0834}" srcOrd="0" destOrd="0" presId="urn:microsoft.com/office/officeart/2005/8/layout/vList2"/>
    <dgm:cxn modelId="{8A736A9F-65F0-4A55-9A3F-CCF416234F97}" srcId="{2A0612ED-5876-4919-BCC8-600F5B229E71}" destId="{BB40B4F6-4EB6-4EBF-9E1B-B9D404846270}" srcOrd="7" destOrd="0" parTransId="{907C754D-DDD4-4E71-AFE2-02BB244F0F38}" sibTransId="{FAB9DC6E-0691-4B3E-84B9-DFFF68013930}"/>
    <dgm:cxn modelId="{DCFE94A2-0395-4927-9F3F-AF2253C34E08}" srcId="{2A0612ED-5876-4919-BCC8-600F5B229E71}" destId="{3CD23260-9728-4408-BFD6-CE02FEDB8461}" srcOrd="8" destOrd="0" parTransId="{B46BBC53-87DA-461B-A8AE-AC308B5637EE}" sibTransId="{6DD7A032-6B21-43D6-BF72-FE2756121EE7}"/>
    <dgm:cxn modelId="{9D92CEA4-472E-4B56-8712-594017CD6C24}" type="presOf" srcId="{10F4FD06-E452-44ED-A921-58727BCB960A}" destId="{DF10A574-F3D9-4FC2-A6EE-E7E8311CF638}" srcOrd="0" destOrd="0" presId="urn:microsoft.com/office/officeart/2005/8/layout/vList2"/>
    <dgm:cxn modelId="{1FA19BB3-7E11-45B8-93CE-4B2E16B76669}" type="presOf" srcId="{2A0612ED-5876-4919-BCC8-600F5B229E71}" destId="{BB89F849-78B2-43DF-933A-2353D297DD5D}" srcOrd="0" destOrd="0" presId="urn:microsoft.com/office/officeart/2005/8/layout/vList2"/>
    <dgm:cxn modelId="{60AB59C1-93C6-4A83-820B-AF25EED12C2A}" srcId="{2A0612ED-5876-4919-BCC8-600F5B229E71}" destId="{C5B30B90-4036-464E-A28E-383F3D5B746F}" srcOrd="5" destOrd="0" parTransId="{1F871E0C-41C6-460A-8D72-F79549FEE94E}" sibTransId="{B8E65884-E0EE-41D7-9E11-32E3A03763CD}"/>
    <dgm:cxn modelId="{1AF982C7-C8EE-4870-AABC-FB5147AC9A32}" type="presOf" srcId="{137669DF-45F8-40AE-925B-B1ADA604DE22}" destId="{90650EEF-1F9D-463E-A867-D4AB9F2E38B6}" srcOrd="0" destOrd="0" presId="urn:microsoft.com/office/officeart/2005/8/layout/vList2"/>
    <dgm:cxn modelId="{9B4DC1D0-0933-42AD-B402-BAE36805541F}" srcId="{2A0612ED-5876-4919-BCC8-600F5B229E71}" destId="{ACF00B4C-E6D7-4CF7-AFA6-22ECB4A54A6A}" srcOrd="0" destOrd="0" parTransId="{FDD0A571-75BF-47A0-B20D-C0A8085AC3A7}" sibTransId="{F49AE16D-0DC3-4DA7-9732-CC9EE6A681A0}"/>
    <dgm:cxn modelId="{F64BF8E3-3C7F-43B9-85CA-B98717DDCE52}" srcId="{2A0612ED-5876-4919-BCC8-600F5B229E71}" destId="{09562225-7FCE-4E93-8C05-403975C5475D}" srcOrd="3" destOrd="0" parTransId="{0781F10D-ED0A-48FE-B536-0CE0EEFECEC3}" sibTransId="{A16D4EFB-D346-4379-AC60-BC2431B43AE4}"/>
    <dgm:cxn modelId="{8D0E12F4-8B86-4A1B-98D0-2FAA70F1362B}" srcId="{2A0612ED-5876-4919-BCC8-600F5B229E71}" destId="{137669DF-45F8-40AE-925B-B1ADA604DE22}" srcOrd="1" destOrd="0" parTransId="{6B54155B-5F84-497A-BFEF-EA323E20BA10}" sibTransId="{2F249443-FEF1-43B6-A7E1-9A73B0A25AE0}"/>
    <dgm:cxn modelId="{4E34AAF5-1699-46BD-92E5-02366CEB6C2B}" type="presOf" srcId="{91C5EE06-7918-4F4E-ABC8-78B22D3546A2}" destId="{C0F2F60F-49A7-486C-BA84-7742A146D8C7}" srcOrd="0" destOrd="0" presId="urn:microsoft.com/office/officeart/2005/8/layout/vList2"/>
    <dgm:cxn modelId="{32BC9673-159F-477D-812B-1E5F3FE83DAD}" type="presParOf" srcId="{BB89F849-78B2-43DF-933A-2353D297DD5D}" destId="{BB92269C-473B-4581-93AF-AD006B94C36C}" srcOrd="0" destOrd="0" presId="urn:microsoft.com/office/officeart/2005/8/layout/vList2"/>
    <dgm:cxn modelId="{A28352EE-237E-4724-8018-9BD872C31A3B}" type="presParOf" srcId="{BB89F849-78B2-43DF-933A-2353D297DD5D}" destId="{4B66C130-72C2-4DC4-9911-87CBCB4195E5}" srcOrd="1" destOrd="0" presId="urn:microsoft.com/office/officeart/2005/8/layout/vList2"/>
    <dgm:cxn modelId="{5CB68A64-ED28-4F71-8174-2BD319D43FD1}" type="presParOf" srcId="{BB89F849-78B2-43DF-933A-2353D297DD5D}" destId="{90650EEF-1F9D-463E-A867-D4AB9F2E38B6}" srcOrd="2" destOrd="0" presId="urn:microsoft.com/office/officeart/2005/8/layout/vList2"/>
    <dgm:cxn modelId="{663B79CA-AF34-42CE-ABD1-1397810ACF3B}" type="presParOf" srcId="{BB89F849-78B2-43DF-933A-2353D297DD5D}" destId="{B6F1EB67-BED4-4BFF-8AB0-2EA5A3B31FFE}" srcOrd="3" destOrd="0" presId="urn:microsoft.com/office/officeart/2005/8/layout/vList2"/>
    <dgm:cxn modelId="{42CC9DDE-BC30-4FD8-8FDD-4AFDD000929E}" type="presParOf" srcId="{BB89F849-78B2-43DF-933A-2353D297DD5D}" destId="{C0F2F60F-49A7-486C-BA84-7742A146D8C7}" srcOrd="4" destOrd="0" presId="urn:microsoft.com/office/officeart/2005/8/layout/vList2"/>
    <dgm:cxn modelId="{9BFAF73C-FF3F-4500-8FD0-55592E017415}" type="presParOf" srcId="{BB89F849-78B2-43DF-933A-2353D297DD5D}" destId="{0D1D8BE0-65D2-40B4-9127-53B188EBFA7A}" srcOrd="5" destOrd="0" presId="urn:microsoft.com/office/officeart/2005/8/layout/vList2"/>
    <dgm:cxn modelId="{722F17F9-025F-4A00-8C4F-4AD0DED9C8D9}" type="presParOf" srcId="{BB89F849-78B2-43DF-933A-2353D297DD5D}" destId="{188E501D-B60D-4714-8E70-1CD5D6D0CD0B}" srcOrd="6" destOrd="0" presId="urn:microsoft.com/office/officeart/2005/8/layout/vList2"/>
    <dgm:cxn modelId="{7E3B1C48-B0EC-471B-84F4-F66A169FC015}" type="presParOf" srcId="{BB89F849-78B2-43DF-933A-2353D297DD5D}" destId="{01202958-3686-43FE-B599-602B95F887BF}" srcOrd="7" destOrd="0" presId="urn:microsoft.com/office/officeart/2005/8/layout/vList2"/>
    <dgm:cxn modelId="{A86046FE-DA09-46BB-9435-870181EB0DD1}" type="presParOf" srcId="{BB89F849-78B2-43DF-933A-2353D297DD5D}" destId="{DF10A574-F3D9-4FC2-A6EE-E7E8311CF638}" srcOrd="8" destOrd="0" presId="urn:microsoft.com/office/officeart/2005/8/layout/vList2"/>
    <dgm:cxn modelId="{F47D4C76-5BF7-4F2A-B8B6-B7FFF8D39703}" type="presParOf" srcId="{BB89F849-78B2-43DF-933A-2353D297DD5D}" destId="{F15F21A4-6B6A-46CD-A116-A9F8B39033B5}" srcOrd="9" destOrd="0" presId="urn:microsoft.com/office/officeart/2005/8/layout/vList2"/>
    <dgm:cxn modelId="{4144A78D-BD0B-4E3C-8DC6-310FF6CA2D80}" type="presParOf" srcId="{BB89F849-78B2-43DF-933A-2353D297DD5D}" destId="{9F5EF941-1609-4E21-A343-705F89535533}" srcOrd="10" destOrd="0" presId="urn:microsoft.com/office/officeart/2005/8/layout/vList2"/>
    <dgm:cxn modelId="{37A54790-8C4C-4815-83F9-6AA82C644739}" type="presParOf" srcId="{BB89F849-78B2-43DF-933A-2353D297DD5D}" destId="{4314F175-4D44-4C42-9CA6-E436348A0F9A}" srcOrd="11" destOrd="0" presId="urn:microsoft.com/office/officeart/2005/8/layout/vList2"/>
    <dgm:cxn modelId="{83F96F77-1304-406F-B044-FDA6F253D8EA}" type="presParOf" srcId="{BB89F849-78B2-43DF-933A-2353D297DD5D}" destId="{F241338E-DAFB-437E-BAC6-556E992CF66B}" srcOrd="12" destOrd="0" presId="urn:microsoft.com/office/officeart/2005/8/layout/vList2"/>
    <dgm:cxn modelId="{89070E65-CB06-46BC-8828-A6A194CFD53B}" type="presParOf" srcId="{BB89F849-78B2-43DF-933A-2353D297DD5D}" destId="{99D02E02-2418-40A3-B359-C1BC5D14D341}" srcOrd="13" destOrd="0" presId="urn:microsoft.com/office/officeart/2005/8/layout/vList2"/>
    <dgm:cxn modelId="{0EA99179-2EB5-4B06-AD79-2011946C006C}" type="presParOf" srcId="{BB89F849-78B2-43DF-933A-2353D297DD5D}" destId="{1FDD8F32-99D9-4BBE-AF0A-DA191E5D1B76}" srcOrd="14" destOrd="0" presId="urn:microsoft.com/office/officeart/2005/8/layout/vList2"/>
    <dgm:cxn modelId="{B71ADAED-8DAB-404E-877A-8A1551EA11C8}" type="presParOf" srcId="{BB89F849-78B2-43DF-933A-2353D297DD5D}" destId="{22C40D4C-2771-429E-B890-4635503557F1}" srcOrd="15" destOrd="0" presId="urn:microsoft.com/office/officeart/2005/8/layout/vList2"/>
    <dgm:cxn modelId="{AB1E2936-FCDF-48A0-B231-6C06B89AF1E1}" type="presParOf" srcId="{BB89F849-78B2-43DF-933A-2353D297DD5D}" destId="{B65EB578-92C6-4AE5-8CB8-023DE47A0834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5CF17-EFD1-4CB7-B633-3BFB5E6F1D40}" type="doc">
      <dgm:prSet loTypeId="urn:microsoft.com/office/officeart/2008/layout/AlternatingHexagons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637B7BD1-6FE4-4F79-B085-330B55BDE317}">
      <dgm:prSet phldrT="[Texte]"/>
      <dgm:spPr/>
      <dgm:t>
        <a:bodyPr/>
        <a:lstStyle/>
        <a:p>
          <a:pPr algn="ctr"/>
          <a:r>
            <a:rPr lang="fr-FR" b="1" dirty="0"/>
            <a:t>CONTEXTE</a:t>
          </a:r>
        </a:p>
      </dgm:t>
    </dgm:pt>
    <dgm:pt modelId="{58F8FECE-2B90-4CC8-994A-71D18C28288E}" type="parTrans" cxnId="{DE039029-7054-4681-8A74-F981C9FC437A}">
      <dgm:prSet/>
      <dgm:spPr/>
      <dgm:t>
        <a:bodyPr/>
        <a:lstStyle/>
        <a:p>
          <a:endParaRPr lang="fr-FR"/>
        </a:p>
      </dgm:t>
    </dgm:pt>
    <dgm:pt modelId="{BAAAB516-174F-4396-83ED-099C68A09F32}" type="sibTrans" cxnId="{DE039029-7054-4681-8A74-F981C9FC437A}">
      <dgm:prSet/>
      <dgm:spPr>
        <a:solidFill>
          <a:srgbClr val="FFC000"/>
        </a:solidFill>
      </dgm:spPr>
      <dgm:t>
        <a:bodyPr/>
        <a:lstStyle/>
        <a:p>
          <a:endParaRPr lang="fr-FR"/>
        </a:p>
      </dgm:t>
    </dgm:pt>
    <dgm:pt modelId="{AC29BA73-9A8E-4DD8-9338-B4E11418CE49}">
      <dgm:prSet phldrT="[Texte]" phldr="0"/>
      <dgm:spPr>
        <a:solidFill>
          <a:srgbClr val="00B050"/>
        </a:solidFill>
      </dgm:spPr>
      <dgm:t>
        <a:bodyPr/>
        <a:lstStyle/>
        <a:p>
          <a:pPr algn="ctr"/>
          <a:r>
            <a:rPr lang="fr-FR" b="1" dirty="0"/>
            <a:t>OBJECTIF</a:t>
          </a:r>
        </a:p>
      </dgm:t>
    </dgm:pt>
    <dgm:pt modelId="{0A28FCE7-3469-46D1-A8A0-DD116B553255}" type="parTrans" cxnId="{49E9F931-B205-4748-BCDB-FF1BB41F94FE}">
      <dgm:prSet/>
      <dgm:spPr/>
      <dgm:t>
        <a:bodyPr/>
        <a:lstStyle/>
        <a:p>
          <a:endParaRPr lang="fr-FR"/>
        </a:p>
      </dgm:t>
    </dgm:pt>
    <dgm:pt modelId="{536F5F02-EADD-4809-AD98-9B2EB9A00C9A}" type="sibTrans" cxnId="{49E9F931-B205-4748-BCDB-FF1BB41F94FE}">
      <dgm:prSet/>
      <dgm:spPr>
        <a:solidFill>
          <a:srgbClr val="FF9900"/>
        </a:solidFill>
      </dgm:spPr>
      <dgm:t>
        <a:bodyPr/>
        <a:lstStyle/>
        <a:p>
          <a:endParaRPr lang="fr-FR"/>
        </a:p>
      </dgm:t>
    </dgm:pt>
    <dgm:pt modelId="{DDD1A813-A5E6-4960-B20A-DEC5A896AAA8}">
      <dgm:prSet phldrT="[Texte]" custT="1"/>
      <dgm:spPr/>
      <dgm:t>
        <a:bodyPr/>
        <a:lstStyle/>
        <a:p>
          <a:pPr algn="l"/>
          <a:r>
            <a:rPr lang="fr-FR" sz="1600" b="1" kern="1200" dirty="0"/>
            <a:t>L’entreprise </a:t>
          </a:r>
          <a:r>
            <a:rPr lang="fr-FR" sz="1600" b="1" kern="1200" dirty="0" err="1"/>
            <a:t>GreenCoop</a:t>
          </a:r>
          <a:r>
            <a:rPr lang="fr-FR" sz="1600" b="1" kern="1200" dirty="0"/>
            <a:t> est un fournisseur coopératif français d’électricité d’origine renouvelable dans les Hauts-de-France. </a:t>
          </a:r>
          <a:r>
            <a:rPr lang="fr-FR" sz="1600" b="1" i="0" kern="1200" dirty="0"/>
            <a:t>Les Data Scientists veulent enrichir leurs modèles de prévisions météo avec des données de stations officielles et semi-professionnelles.</a:t>
          </a:r>
          <a:endParaRPr lang="fr-FR" sz="16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ranklin Gothic Book" panose="020B0502020104020203"/>
            <a:ea typeface="+mn-ea"/>
            <a:cs typeface="+mn-cs"/>
          </a:endParaRPr>
        </a:p>
      </dgm:t>
    </dgm:pt>
    <dgm:pt modelId="{78552606-3A5A-44B2-A4F5-0D90125EC683}" type="parTrans" cxnId="{BE3AAC36-17EF-4FEF-B583-A73D20B3390A}">
      <dgm:prSet/>
      <dgm:spPr/>
      <dgm:t>
        <a:bodyPr/>
        <a:lstStyle/>
        <a:p>
          <a:endParaRPr lang="fr-FR"/>
        </a:p>
      </dgm:t>
    </dgm:pt>
    <dgm:pt modelId="{76993FA3-4444-4186-8121-5D37EFD900AC}" type="sibTrans" cxnId="{BE3AAC36-17EF-4FEF-B583-A73D20B3390A}">
      <dgm:prSet/>
      <dgm:spPr/>
      <dgm:t>
        <a:bodyPr/>
        <a:lstStyle/>
        <a:p>
          <a:endParaRPr lang="fr-FR"/>
        </a:p>
      </dgm:t>
    </dgm:pt>
    <dgm:pt modelId="{CFF3B573-BAC6-426A-BDAA-76B161A76E5A}">
      <dgm:prSet phldrT="[Texte]" phldr="0"/>
      <dgm:spPr/>
      <dgm:t>
        <a:bodyPr/>
        <a:lstStyle/>
        <a:p>
          <a:pPr algn="l"/>
          <a:r>
            <a:rPr lang="fr-FR" b="1" i="0" dirty="0"/>
            <a:t>Ingérer des formats hétérogènes</a:t>
          </a:r>
          <a:br>
            <a:rPr lang="fr-FR" b="1" i="0" dirty="0"/>
          </a:br>
          <a:r>
            <a:rPr lang="fr-FR" b="1" i="0" dirty="0"/>
            <a:t>Conserver les données brutes</a:t>
          </a:r>
          <a:br>
            <a:rPr lang="fr-FR" b="1" i="0" dirty="0"/>
          </a:br>
          <a:r>
            <a:rPr lang="fr-FR" b="1" i="0" dirty="0"/>
            <a:t>Transformer dans PostgreSQL avec DBT</a:t>
          </a:r>
          <a:br>
            <a:rPr lang="fr-FR" b="1" i="0" dirty="0"/>
          </a:br>
          <a:r>
            <a:rPr lang="fr-FR" b="1" i="0" dirty="0"/>
            <a:t>Tester et documenter</a:t>
          </a:r>
          <a:br>
            <a:rPr lang="fr-FR" b="1" i="0" dirty="0"/>
          </a:br>
          <a:r>
            <a:rPr lang="fr-FR" b="1" i="0" dirty="0"/>
            <a:t>Rendre les données accessibles au ML</a:t>
          </a:r>
          <a:endParaRPr lang="fr-FR" b="1" dirty="0"/>
        </a:p>
      </dgm:t>
    </dgm:pt>
    <dgm:pt modelId="{F9B79AD1-50FF-414D-81B9-1B2CD8ABBD6E}" type="parTrans" cxnId="{E2D4328E-E76D-400A-B9C5-C1B03247293D}">
      <dgm:prSet/>
      <dgm:spPr/>
      <dgm:t>
        <a:bodyPr/>
        <a:lstStyle/>
        <a:p>
          <a:endParaRPr lang="fr-FR"/>
        </a:p>
      </dgm:t>
    </dgm:pt>
    <dgm:pt modelId="{7CCFC6D4-D5BB-46DE-B5DF-430E1A748403}" type="sibTrans" cxnId="{E2D4328E-E76D-400A-B9C5-C1B03247293D}">
      <dgm:prSet/>
      <dgm:spPr/>
      <dgm:t>
        <a:bodyPr/>
        <a:lstStyle/>
        <a:p>
          <a:endParaRPr lang="fr-FR"/>
        </a:p>
      </dgm:t>
    </dgm:pt>
    <dgm:pt modelId="{70E376D1-A4CD-42B5-93F4-3F937F8760F9}" type="pres">
      <dgm:prSet presAssocID="{8D05CF17-EFD1-4CB7-B633-3BFB5E6F1D40}" presName="Name0" presStyleCnt="0">
        <dgm:presLayoutVars>
          <dgm:chMax/>
          <dgm:chPref/>
          <dgm:dir/>
          <dgm:animLvl val="lvl"/>
        </dgm:presLayoutVars>
      </dgm:prSet>
      <dgm:spPr/>
    </dgm:pt>
    <dgm:pt modelId="{DAB1C598-7380-4205-A199-304DB9D9AA18}" type="pres">
      <dgm:prSet presAssocID="{637B7BD1-6FE4-4F79-B085-330B55BDE317}" presName="composite" presStyleCnt="0"/>
      <dgm:spPr/>
    </dgm:pt>
    <dgm:pt modelId="{56A13A4E-84D7-4D91-BEDB-90F24C5C496A}" type="pres">
      <dgm:prSet presAssocID="{637B7BD1-6FE4-4F79-B085-330B55BDE317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9B056C53-7419-4F9C-91E4-BA19F0141D87}" type="pres">
      <dgm:prSet presAssocID="{637B7BD1-6FE4-4F79-B085-330B55BDE317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6F53C1AC-6895-430E-BA0D-360B017D4D9E}" type="pres">
      <dgm:prSet presAssocID="{637B7BD1-6FE4-4F79-B085-330B55BDE317}" presName="BalanceSpacing" presStyleCnt="0"/>
      <dgm:spPr/>
    </dgm:pt>
    <dgm:pt modelId="{EDA89EB7-457B-4BA5-82D3-E999EDF663ED}" type="pres">
      <dgm:prSet presAssocID="{637B7BD1-6FE4-4F79-B085-330B55BDE317}" presName="BalanceSpacing1" presStyleCnt="0"/>
      <dgm:spPr/>
    </dgm:pt>
    <dgm:pt modelId="{6999D6AC-DDB9-4FD7-AFBB-DD7E27F8F5BE}" type="pres">
      <dgm:prSet presAssocID="{BAAAB516-174F-4396-83ED-099C68A09F32}" presName="Accent1Text" presStyleLbl="node1" presStyleIdx="1" presStyleCnt="4"/>
      <dgm:spPr/>
    </dgm:pt>
    <dgm:pt modelId="{12C40042-6A22-4C0C-8624-51D90A259334}" type="pres">
      <dgm:prSet presAssocID="{BAAAB516-174F-4396-83ED-099C68A09F32}" presName="spaceBetweenRectangles" presStyleCnt="0"/>
      <dgm:spPr/>
    </dgm:pt>
    <dgm:pt modelId="{E18AD5E0-511D-4DD1-9F6C-A3FEB4015259}" type="pres">
      <dgm:prSet presAssocID="{AC29BA73-9A8E-4DD8-9338-B4E11418CE49}" presName="composite" presStyleCnt="0"/>
      <dgm:spPr/>
    </dgm:pt>
    <dgm:pt modelId="{DC18BF4A-2A0F-46C3-B95A-6DD9B50BD378}" type="pres">
      <dgm:prSet presAssocID="{AC29BA73-9A8E-4DD8-9338-B4E11418CE49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1248949E-B79E-4EED-9628-C52D6386C977}" type="pres">
      <dgm:prSet presAssocID="{AC29BA73-9A8E-4DD8-9338-B4E11418CE49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04B8B441-F20F-4D86-A38D-6BFFF682C23B}" type="pres">
      <dgm:prSet presAssocID="{AC29BA73-9A8E-4DD8-9338-B4E11418CE49}" presName="BalanceSpacing" presStyleCnt="0"/>
      <dgm:spPr/>
    </dgm:pt>
    <dgm:pt modelId="{DFF4F660-0F2C-47B9-9BDF-2EA18224B174}" type="pres">
      <dgm:prSet presAssocID="{AC29BA73-9A8E-4DD8-9338-B4E11418CE49}" presName="BalanceSpacing1" presStyleCnt="0"/>
      <dgm:spPr/>
    </dgm:pt>
    <dgm:pt modelId="{50931873-200F-47FE-9D6F-FC2A93EFCE66}" type="pres">
      <dgm:prSet presAssocID="{536F5F02-EADD-4809-AD98-9B2EB9A00C9A}" presName="Accent1Text" presStyleLbl="node1" presStyleIdx="3" presStyleCnt="4"/>
      <dgm:spPr/>
    </dgm:pt>
  </dgm:ptLst>
  <dgm:cxnLst>
    <dgm:cxn modelId="{DC623A0E-398D-42CD-B596-7E8E6292A830}" type="presOf" srcId="{DDD1A813-A5E6-4960-B20A-DEC5A896AAA8}" destId="{9B056C53-7419-4F9C-91E4-BA19F0141D87}" srcOrd="0" destOrd="0" presId="urn:microsoft.com/office/officeart/2008/layout/AlternatingHexagons"/>
    <dgm:cxn modelId="{DE039029-7054-4681-8A74-F981C9FC437A}" srcId="{8D05CF17-EFD1-4CB7-B633-3BFB5E6F1D40}" destId="{637B7BD1-6FE4-4F79-B085-330B55BDE317}" srcOrd="0" destOrd="0" parTransId="{58F8FECE-2B90-4CC8-994A-71D18C28288E}" sibTransId="{BAAAB516-174F-4396-83ED-099C68A09F32}"/>
    <dgm:cxn modelId="{49E9F931-B205-4748-BCDB-FF1BB41F94FE}" srcId="{8D05CF17-EFD1-4CB7-B633-3BFB5E6F1D40}" destId="{AC29BA73-9A8E-4DD8-9338-B4E11418CE49}" srcOrd="1" destOrd="0" parTransId="{0A28FCE7-3469-46D1-A8A0-DD116B553255}" sibTransId="{536F5F02-EADD-4809-AD98-9B2EB9A00C9A}"/>
    <dgm:cxn modelId="{BE3AAC36-17EF-4FEF-B583-A73D20B3390A}" srcId="{637B7BD1-6FE4-4F79-B085-330B55BDE317}" destId="{DDD1A813-A5E6-4960-B20A-DEC5A896AAA8}" srcOrd="0" destOrd="0" parTransId="{78552606-3A5A-44B2-A4F5-0D90125EC683}" sibTransId="{76993FA3-4444-4186-8121-5D37EFD900AC}"/>
    <dgm:cxn modelId="{D0B4197E-38F3-4303-8784-0C02C3140386}" type="presOf" srcId="{536F5F02-EADD-4809-AD98-9B2EB9A00C9A}" destId="{50931873-200F-47FE-9D6F-FC2A93EFCE66}" srcOrd="0" destOrd="0" presId="urn:microsoft.com/office/officeart/2008/layout/AlternatingHexagons"/>
    <dgm:cxn modelId="{E2D4328E-E76D-400A-B9C5-C1B03247293D}" srcId="{AC29BA73-9A8E-4DD8-9338-B4E11418CE49}" destId="{CFF3B573-BAC6-426A-BDAA-76B161A76E5A}" srcOrd="0" destOrd="0" parTransId="{F9B79AD1-50FF-414D-81B9-1B2CD8ABBD6E}" sibTransId="{7CCFC6D4-D5BB-46DE-B5DF-430E1A748403}"/>
    <dgm:cxn modelId="{C77D5FBE-FA3C-4F5D-A191-76D54E9BC433}" type="presOf" srcId="{8D05CF17-EFD1-4CB7-B633-3BFB5E6F1D40}" destId="{70E376D1-A4CD-42B5-93F4-3F937F8760F9}" srcOrd="0" destOrd="0" presId="urn:microsoft.com/office/officeart/2008/layout/AlternatingHexagons"/>
    <dgm:cxn modelId="{D09DC1D5-0FBB-42FC-ADB6-D55D62E31B30}" type="presOf" srcId="{CFF3B573-BAC6-426A-BDAA-76B161A76E5A}" destId="{1248949E-B79E-4EED-9628-C52D6386C977}" srcOrd="0" destOrd="0" presId="urn:microsoft.com/office/officeart/2008/layout/AlternatingHexagons"/>
    <dgm:cxn modelId="{503D3EF4-7711-4570-B979-4C2F3FCCD613}" type="presOf" srcId="{BAAAB516-174F-4396-83ED-099C68A09F32}" destId="{6999D6AC-DDB9-4FD7-AFBB-DD7E27F8F5BE}" srcOrd="0" destOrd="0" presId="urn:microsoft.com/office/officeart/2008/layout/AlternatingHexagons"/>
    <dgm:cxn modelId="{91F6B2FF-BFC6-4DBE-AEF5-D9B36F7F5950}" type="presOf" srcId="{637B7BD1-6FE4-4F79-B085-330B55BDE317}" destId="{56A13A4E-84D7-4D91-BEDB-90F24C5C496A}" srcOrd="0" destOrd="0" presId="urn:microsoft.com/office/officeart/2008/layout/AlternatingHexagons"/>
    <dgm:cxn modelId="{14DBFBFF-624D-4700-AD81-7FBDA7141C78}" type="presOf" srcId="{AC29BA73-9A8E-4DD8-9338-B4E11418CE49}" destId="{DC18BF4A-2A0F-46C3-B95A-6DD9B50BD378}" srcOrd="0" destOrd="0" presId="urn:microsoft.com/office/officeart/2008/layout/AlternatingHexagons"/>
    <dgm:cxn modelId="{0E6669B4-3C05-48BC-A166-2D79458D7DA4}" type="presParOf" srcId="{70E376D1-A4CD-42B5-93F4-3F937F8760F9}" destId="{DAB1C598-7380-4205-A199-304DB9D9AA18}" srcOrd="0" destOrd="0" presId="urn:microsoft.com/office/officeart/2008/layout/AlternatingHexagons"/>
    <dgm:cxn modelId="{9A12199C-B1C9-4AC1-8883-0EF640B172BF}" type="presParOf" srcId="{DAB1C598-7380-4205-A199-304DB9D9AA18}" destId="{56A13A4E-84D7-4D91-BEDB-90F24C5C496A}" srcOrd="0" destOrd="0" presId="urn:microsoft.com/office/officeart/2008/layout/AlternatingHexagons"/>
    <dgm:cxn modelId="{22B74AE0-75F9-4FD2-8BF3-B9A7DA0E0F6F}" type="presParOf" srcId="{DAB1C598-7380-4205-A199-304DB9D9AA18}" destId="{9B056C53-7419-4F9C-91E4-BA19F0141D87}" srcOrd="1" destOrd="0" presId="urn:microsoft.com/office/officeart/2008/layout/AlternatingHexagons"/>
    <dgm:cxn modelId="{FD829948-16CB-49E9-9A04-F11162A84B62}" type="presParOf" srcId="{DAB1C598-7380-4205-A199-304DB9D9AA18}" destId="{6F53C1AC-6895-430E-BA0D-360B017D4D9E}" srcOrd="2" destOrd="0" presId="urn:microsoft.com/office/officeart/2008/layout/AlternatingHexagons"/>
    <dgm:cxn modelId="{F61CFB38-A64A-4445-AA0A-0CC7AA08792D}" type="presParOf" srcId="{DAB1C598-7380-4205-A199-304DB9D9AA18}" destId="{EDA89EB7-457B-4BA5-82D3-E999EDF663ED}" srcOrd="3" destOrd="0" presId="urn:microsoft.com/office/officeart/2008/layout/AlternatingHexagons"/>
    <dgm:cxn modelId="{A0C28BE9-3495-4121-833D-21DC062C9D6C}" type="presParOf" srcId="{DAB1C598-7380-4205-A199-304DB9D9AA18}" destId="{6999D6AC-DDB9-4FD7-AFBB-DD7E27F8F5BE}" srcOrd="4" destOrd="0" presId="urn:microsoft.com/office/officeart/2008/layout/AlternatingHexagons"/>
    <dgm:cxn modelId="{79259858-C7AE-42B5-8EFB-CD3C1697AA9E}" type="presParOf" srcId="{70E376D1-A4CD-42B5-93F4-3F937F8760F9}" destId="{12C40042-6A22-4C0C-8624-51D90A259334}" srcOrd="1" destOrd="0" presId="urn:microsoft.com/office/officeart/2008/layout/AlternatingHexagons"/>
    <dgm:cxn modelId="{8E11024F-AD1D-41E1-A907-6A80C35C9BF0}" type="presParOf" srcId="{70E376D1-A4CD-42B5-93F4-3F937F8760F9}" destId="{E18AD5E0-511D-4DD1-9F6C-A3FEB4015259}" srcOrd="2" destOrd="0" presId="urn:microsoft.com/office/officeart/2008/layout/AlternatingHexagons"/>
    <dgm:cxn modelId="{0A7C8B23-2275-4A7B-8F9D-C13655D6F0CF}" type="presParOf" srcId="{E18AD5E0-511D-4DD1-9F6C-A3FEB4015259}" destId="{DC18BF4A-2A0F-46C3-B95A-6DD9B50BD378}" srcOrd="0" destOrd="0" presId="urn:microsoft.com/office/officeart/2008/layout/AlternatingHexagons"/>
    <dgm:cxn modelId="{3E688AF3-8FE0-4E88-B67B-C656EEADC0E7}" type="presParOf" srcId="{E18AD5E0-511D-4DD1-9F6C-A3FEB4015259}" destId="{1248949E-B79E-4EED-9628-C52D6386C977}" srcOrd="1" destOrd="0" presId="urn:microsoft.com/office/officeart/2008/layout/AlternatingHexagons"/>
    <dgm:cxn modelId="{22FE1075-5BFB-461D-8167-A87972DDC0C4}" type="presParOf" srcId="{E18AD5E0-511D-4DD1-9F6C-A3FEB4015259}" destId="{04B8B441-F20F-4D86-A38D-6BFFF682C23B}" srcOrd="2" destOrd="0" presId="urn:microsoft.com/office/officeart/2008/layout/AlternatingHexagons"/>
    <dgm:cxn modelId="{313F630A-6343-46BC-BE06-2F90BC97D0FB}" type="presParOf" srcId="{E18AD5E0-511D-4DD1-9F6C-A3FEB4015259}" destId="{DFF4F660-0F2C-47B9-9BDF-2EA18224B174}" srcOrd="3" destOrd="0" presId="urn:microsoft.com/office/officeart/2008/layout/AlternatingHexagons"/>
    <dgm:cxn modelId="{455D0DEA-5E93-4BB9-B426-06DF78477668}" type="presParOf" srcId="{E18AD5E0-511D-4DD1-9F6C-A3FEB4015259}" destId="{50931873-200F-47FE-9D6F-FC2A93EFCE6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2269C-473B-4581-93AF-AD006B94C36C}">
      <dsp:nvSpPr>
        <dsp:cNvPr id="0" name=""/>
        <dsp:cNvSpPr/>
      </dsp:nvSpPr>
      <dsp:spPr>
        <a:xfrm>
          <a:off x="0" y="3676"/>
          <a:ext cx="11348215" cy="479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1- Contexte &amp; Objectif</a:t>
          </a:r>
        </a:p>
      </dsp:txBody>
      <dsp:txXfrm>
        <a:off x="23388" y="27064"/>
        <a:ext cx="11301439" cy="432338"/>
      </dsp:txXfrm>
    </dsp:sp>
    <dsp:sp modelId="{90650EEF-1F9D-463E-A867-D4AB9F2E38B6}">
      <dsp:nvSpPr>
        <dsp:cNvPr id="0" name=""/>
        <dsp:cNvSpPr/>
      </dsp:nvSpPr>
      <dsp:spPr>
        <a:xfrm>
          <a:off x="0" y="543271"/>
          <a:ext cx="11348215" cy="47911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0" kern="1200" dirty="0"/>
            <a:t>2- Schéma de la base de données</a:t>
          </a:r>
        </a:p>
      </dsp:txBody>
      <dsp:txXfrm>
        <a:off x="23388" y="566659"/>
        <a:ext cx="11301439" cy="432338"/>
      </dsp:txXfrm>
    </dsp:sp>
    <dsp:sp modelId="{C0F2F60F-49A7-486C-BA84-7742A146D8C7}">
      <dsp:nvSpPr>
        <dsp:cNvPr id="0" name=""/>
        <dsp:cNvSpPr/>
      </dsp:nvSpPr>
      <dsp:spPr>
        <a:xfrm>
          <a:off x="0" y="1082866"/>
          <a:ext cx="11348215" cy="47911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3- Processus collecter, transformer, stocker et tester les données</a:t>
          </a:r>
        </a:p>
      </dsp:txBody>
      <dsp:txXfrm>
        <a:off x="23388" y="1106254"/>
        <a:ext cx="11301439" cy="432338"/>
      </dsp:txXfrm>
    </dsp:sp>
    <dsp:sp modelId="{188E501D-B60D-4714-8E70-1CD5D6D0CD0B}">
      <dsp:nvSpPr>
        <dsp:cNvPr id="0" name=""/>
        <dsp:cNvSpPr/>
      </dsp:nvSpPr>
      <dsp:spPr>
        <a:xfrm>
          <a:off x="0" y="1622461"/>
          <a:ext cx="11348215" cy="479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4- Schéma d’architecture</a:t>
          </a:r>
        </a:p>
      </dsp:txBody>
      <dsp:txXfrm>
        <a:off x="23388" y="1645849"/>
        <a:ext cx="11301439" cy="432338"/>
      </dsp:txXfrm>
    </dsp:sp>
    <dsp:sp modelId="{DF10A574-F3D9-4FC2-A6EE-E7E8311CF638}">
      <dsp:nvSpPr>
        <dsp:cNvPr id="0" name=""/>
        <dsp:cNvSpPr/>
      </dsp:nvSpPr>
      <dsp:spPr>
        <a:xfrm>
          <a:off x="0" y="2162056"/>
          <a:ext cx="11348215" cy="47911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5- Mise en place </a:t>
          </a:r>
          <a:r>
            <a:rPr lang="fr-FR" sz="2100" kern="1200" dirty="0" err="1"/>
            <a:t>Airbyte</a:t>
          </a:r>
          <a:endParaRPr lang="fr-FR" sz="2100" kern="1200" dirty="0"/>
        </a:p>
      </dsp:txBody>
      <dsp:txXfrm>
        <a:off x="23388" y="2185444"/>
        <a:ext cx="11301439" cy="432338"/>
      </dsp:txXfrm>
    </dsp:sp>
    <dsp:sp modelId="{9F5EF941-1609-4E21-A343-705F89535533}">
      <dsp:nvSpPr>
        <dsp:cNvPr id="0" name=""/>
        <dsp:cNvSpPr/>
      </dsp:nvSpPr>
      <dsp:spPr>
        <a:xfrm>
          <a:off x="0" y="2701651"/>
          <a:ext cx="11348215" cy="479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6- Mise en place DBT</a:t>
          </a:r>
        </a:p>
      </dsp:txBody>
      <dsp:txXfrm>
        <a:off x="23388" y="2725039"/>
        <a:ext cx="11301439" cy="432338"/>
      </dsp:txXfrm>
    </dsp:sp>
    <dsp:sp modelId="{F241338E-DAFB-437E-BAC6-556E992CF66B}">
      <dsp:nvSpPr>
        <dsp:cNvPr id="0" name=""/>
        <dsp:cNvSpPr/>
      </dsp:nvSpPr>
      <dsp:spPr>
        <a:xfrm>
          <a:off x="0" y="3241246"/>
          <a:ext cx="11348215" cy="47911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7- Temps accessibilité aux données</a:t>
          </a:r>
        </a:p>
      </dsp:txBody>
      <dsp:txXfrm>
        <a:off x="23388" y="3264634"/>
        <a:ext cx="11301439" cy="432338"/>
      </dsp:txXfrm>
    </dsp:sp>
    <dsp:sp modelId="{1FDD8F32-99D9-4BBE-AF0A-DA191E5D1B76}">
      <dsp:nvSpPr>
        <dsp:cNvPr id="0" name=""/>
        <dsp:cNvSpPr/>
      </dsp:nvSpPr>
      <dsp:spPr>
        <a:xfrm>
          <a:off x="0" y="3780841"/>
          <a:ext cx="11348215" cy="47911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8- Qualité des données</a:t>
          </a:r>
        </a:p>
      </dsp:txBody>
      <dsp:txXfrm>
        <a:off x="23388" y="3804229"/>
        <a:ext cx="11301439" cy="432338"/>
      </dsp:txXfrm>
    </dsp:sp>
    <dsp:sp modelId="{B65EB578-92C6-4AE5-8CB8-023DE47A0834}">
      <dsp:nvSpPr>
        <dsp:cNvPr id="0" name=""/>
        <dsp:cNvSpPr/>
      </dsp:nvSpPr>
      <dsp:spPr>
        <a:xfrm>
          <a:off x="0" y="4320436"/>
          <a:ext cx="11348215" cy="479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9- Mise en place AWS</a:t>
          </a:r>
        </a:p>
      </dsp:txBody>
      <dsp:txXfrm>
        <a:off x="23388" y="4343824"/>
        <a:ext cx="11301439" cy="4323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13A4E-84D7-4D91-BEDB-90F24C5C496A}">
      <dsp:nvSpPr>
        <dsp:cNvPr id="0" name=""/>
        <dsp:cNvSpPr/>
      </dsp:nvSpPr>
      <dsp:spPr>
        <a:xfrm rot="5400000">
          <a:off x="4020074" y="1229516"/>
          <a:ext cx="2637221" cy="229438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CONTEXTE</a:t>
          </a:r>
        </a:p>
      </dsp:txBody>
      <dsp:txXfrm rot="-5400000">
        <a:off x="4549034" y="1469064"/>
        <a:ext cx="1579300" cy="1815287"/>
      </dsp:txXfrm>
    </dsp:sp>
    <dsp:sp modelId="{9B056C53-7419-4F9C-91E4-BA19F0141D87}">
      <dsp:nvSpPr>
        <dsp:cNvPr id="0" name=""/>
        <dsp:cNvSpPr/>
      </dsp:nvSpPr>
      <dsp:spPr>
        <a:xfrm>
          <a:off x="6555499" y="1585541"/>
          <a:ext cx="2943139" cy="15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/>
            <a:t>L’entreprise </a:t>
          </a:r>
          <a:r>
            <a:rPr lang="fr-FR" sz="1600" b="1" kern="1200" dirty="0" err="1"/>
            <a:t>GreenCoop</a:t>
          </a:r>
          <a:r>
            <a:rPr lang="fr-FR" sz="1600" b="1" kern="1200" dirty="0"/>
            <a:t> est un fournisseur coopératif français d’électricité d’origine renouvelable dans les Hauts-de-France. </a:t>
          </a:r>
          <a:r>
            <a:rPr lang="fr-FR" sz="1600" b="1" i="0" kern="1200" dirty="0"/>
            <a:t>Les Data Scientists veulent enrichir leurs modèles de prévisions météo avec des données de stations officielles et semi-professionnelles.</a:t>
          </a:r>
          <a:endParaRPr lang="fr-FR" sz="16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Franklin Gothic Book" panose="020B0502020104020203"/>
            <a:ea typeface="+mn-ea"/>
            <a:cs typeface="+mn-cs"/>
          </a:endParaRPr>
        </a:p>
      </dsp:txBody>
      <dsp:txXfrm>
        <a:off x="6555499" y="1585541"/>
        <a:ext cx="2943139" cy="1582333"/>
      </dsp:txXfrm>
    </dsp:sp>
    <dsp:sp modelId="{6999D6AC-DDB9-4FD7-AFBB-DD7E27F8F5BE}">
      <dsp:nvSpPr>
        <dsp:cNvPr id="0" name=""/>
        <dsp:cNvSpPr/>
      </dsp:nvSpPr>
      <dsp:spPr>
        <a:xfrm rot="5400000">
          <a:off x="1542140" y="1229516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FFC00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2071100" y="1469064"/>
        <a:ext cx="1579300" cy="1815287"/>
      </dsp:txXfrm>
    </dsp:sp>
    <dsp:sp modelId="{DC18BF4A-2A0F-46C3-B95A-6DD9B50BD378}">
      <dsp:nvSpPr>
        <dsp:cNvPr id="0" name=""/>
        <dsp:cNvSpPr/>
      </dsp:nvSpPr>
      <dsp:spPr>
        <a:xfrm rot="5400000">
          <a:off x="2776360" y="3467989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00B05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OBJECTIF</a:t>
          </a:r>
        </a:p>
      </dsp:txBody>
      <dsp:txXfrm rot="-5400000">
        <a:off x="3305320" y="3707537"/>
        <a:ext cx="1579300" cy="1815287"/>
      </dsp:txXfrm>
    </dsp:sp>
    <dsp:sp modelId="{1248949E-B79E-4EED-9628-C52D6386C977}">
      <dsp:nvSpPr>
        <dsp:cNvPr id="0" name=""/>
        <dsp:cNvSpPr/>
      </dsp:nvSpPr>
      <dsp:spPr>
        <a:xfrm>
          <a:off x="4640" y="3824014"/>
          <a:ext cx="2848199" cy="15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i="0" kern="1200" dirty="0"/>
            <a:t>Ingérer des formats hétérogènes</a:t>
          </a:r>
          <a:br>
            <a:rPr lang="fr-FR" sz="1500" b="1" i="0" kern="1200" dirty="0"/>
          </a:br>
          <a:r>
            <a:rPr lang="fr-FR" sz="1500" b="1" i="0" kern="1200" dirty="0"/>
            <a:t>Conserver les données brutes</a:t>
          </a:r>
          <a:br>
            <a:rPr lang="fr-FR" sz="1500" b="1" i="0" kern="1200" dirty="0"/>
          </a:br>
          <a:r>
            <a:rPr lang="fr-FR" sz="1500" b="1" i="0" kern="1200" dirty="0"/>
            <a:t>Transformer dans PostgreSQL avec DBT</a:t>
          </a:r>
          <a:br>
            <a:rPr lang="fr-FR" sz="1500" b="1" i="0" kern="1200" dirty="0"/>
          </a:br>
          <a:r>
            <a:rPr lang="fr-FR" sz="1500" b="1" i="0" kern="1200" dirty="0"/>
            <a:t>Tester et documenter</a:t>
          </a:r>
          <a:br>
            <a:rPr lang="fr-FR" sz="1500" b="1" i="0" kern="1200" dirty="0"/>
          </a:br>
          <a:r>
            <a:rPr lang="fr-FR" sz="1500" b="1" i="0" kern="1200" dirty="0"/>
            <a:t>Rendre les données accessibles au ML</a:t>
          </a:r>
          <a:endParaRPr lang="fr-FR" sz="1500" b="1" kern="1200" dirty="0"/>
        </a:p>
      </dsp:txBody>
      <dsp:txXfrm>
        <a:off x="4640" y="3824014"/>
        <a:ext cx="2848199" cy="1582333"/>
      </dsp:txXfrm>
    </dsp:sp>
    <dsp:sp modelId="{50931873-200F-47FE-9D6F-FC2A93EFCE66}">
      <dsp:nvSpPr>
        <dsp:cNvPr id="0" name=""/>
        <dsp:cNvSpPr/>
      </dsp:nvSpPr>
      <dsp:spPr>
        <a:xfrm rot="5400000">
          <a:off x="5254293" y="3467989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FF990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5783253" y="3707537"/>
        <a:ext cx="1579300" cy="1815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FC74BDE-6627-49B6-90F1-0334E723F64C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8DAF60-E56A-4648-8936-22D801672B6C}" type="datetime1">
              <a:rPr lang="fr-FR" smtClean="0"/>
              <a:t>25/08/2026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41DF6C-ECED-4BD8-8025-73323DD5D35C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255F31-5DB3-4925-BA87-822F5B17A2F1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4EF44C-5F50-4A80-A957-57B3338337C0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D0F46D-59FD-4484-924E-E79DD516B5ED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AEC910-4AAA-42A1-A49C-7DDC64BC53C6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EC98BE-FCE2-445F-8146-3A7F8CC3881D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6D0953DD-A6BD-427D-B7A8-BDE378B2E678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E77B56-6788-4F40-A65E-12AFEB3AC095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5B03D9-FC89-4784-BD60-336471BA7724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216CB3-B929-446C-876F-83C9B86D9FDE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69A0D1A-B1A6-4A33-B3AE-513EF3B4A7E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airbyte.com/platform/using-airbyte/getting-started/oss-quickstar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CONSTRUIRE ET TESTER UNE INFRASTRUCTURE DE DONNEES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2671524"/>
            <a:ext cx="10993546" cy="468233"/>
          </a:xfrm>
        </p:spPr>
        <p:txBody>
          <a:bodyPr rtlCol="0">
            <a:normAutofit fontScale="85000" lnSpcReduction="20000"/>
          </a:bodyPr>
          <a:lstStyle/>
          <a:p>
            <a:pPr rtl="0"/>
            <a:endParaRPr lang="fr" sz="900" dirty="0"/>
          </a:p>
          <a:p>
            <a:pPr rtl="0"/>
            <a:r>
              <a:rPr lang="fr" sz="1300" dirty="0"/>
              <a:t>SEBASTIEN ULESIE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Image 5" descr="Zoom sur un logo&#10;&#10;Description générée automatiquemen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8906A09D-B10A-9A50-1CC7-7616EDB4E8D4}"/>
              </a:ext>
            </a:extLst>
          </p:cNvPr>
          <p:cNvSpPr/>
          <p:nvPr/>
        </p:nvSpPr>
        <p:spPr>
          <a:xfrm>
            <a:off x="1705076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69A5CB0-EC5A-12ED-6B1D-F8B2213D4A8E}"/>
              </a:ext>
            </a:extLst>
          </p:cNvPr>
          <p:cNvSpPr/>
          <p:nvPr/>
        </p:nvSpPr>
        <p:spPr>
          <a:xfrm>
            <a:off x="17050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Airbyte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5101B1-43B4-333F-BF3E-755660DEE995}"/>
              </a:ext>
            </a:extLst>
          </p:cNvPr>
          <p:cNvSpPr/>
          <p:nvPr/>
        </p:nvSpPr>
        <p:spPr>
          <a:xfrm>
            <a:off x="37624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6CD8C8F-B0CC-67AC-347D-D164238EDFB1}"/>
              </a:ext>
            </a:extLst>
          </p:cNvPr>
          <p:cNvSpPr/>
          <p:nvPr/>
        </p:nvSpPr>
        <p:spPr>
          <a:xfrm>
            <a:off x="5819876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A0F1F9C-CF71-8CEF-2184-C9097D5932A9}"/>
              </a:ext>
            </a:extLst>
          </p:cNvPr>
          <p:cNvSpPr/>
          <p:nvPr/>
        </p:nvSpPr>
        <p:spPr>
          <a:xfrm>
            <a:off x="58198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5411994-A2F5-1A64-4D0F-610038279EAD}"/>
              </a:ext>
            </a:extLst>
          </p:cNvPr>
          <p:cNvSpPr/>
          <p:nvPr/>
        </p:nvSpPr>
        <p:spPr>
          <a:xfrm>
            <a:off x="78772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Pytest</a:t>
            </a:r>
            <a:endParaRPr lang="en-US" sz="1200" dirty="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F4ABF44D-AF35-3FF3-5241-42BC10644812}"/>
              </a:ext>
            </a:extLst>
          </p:cNvPr>
          <p:cNvSpPr/>
          <p:nvPr/>
        </p:nvSpPr>
        <p:spPr>
          <a:xfrm>
            <a:off x="9911130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FFC000"/>
          </a:solidFill>
          <a:ln/>
        </p:spPr>
        <p:txBody>
          <a:bodyPr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581BB-D273-2748-59E2-5B1D678D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C0FBDBC2-024B-60B6-BEE4-9D4312913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457093"/>
              </p:ext>
            </p:extLst>
          </p:nvPr>
        </p:nvGraphicFramePr>
        <p:xfrm>
          <a:off x="581192" y="1985811"/>
          <a:ext cx="11348216" cy="4803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99B3D-02B8-72CA-5973-9E0DC630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4004857" cy="365125"/>
          </a:xfrm>
        </p:spPr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10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E28E8F6D-02FF-3D2F-AC7C-9E6FA4F04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522826"/>
              </p:ext>
            </p:extLst>
          </p:nvPr>
        </p:nvGraphicFramePr>
        <p:xfrm>
          <a:off x="1030794" y="833616"/>
          <a:ext cx="9503279" cy="6991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4D5943B5-2F35-F9C9-051D-7DF4E321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1 - Contexte et objectif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45894-BF0A-B7E8-B359-57B63E4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4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F029E-C20D-FC80-6B16-21EC7B08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fr-FR" dirty="0"/>
              <a:t>2. Schéma DE LA base de données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7D3905-5571-80C8-8D93-3691E4B9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22897033-9A55-4DAC-991D-1FF1921C78B7}" type="datetime1">
              <a:rPr lang="fr-FR" smtClean="0"/>
              <a:pPr/>
              <a:t>25/08/2026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EF4C45-6790-7893-FAD2-D1507F362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949" y="1813712"/>
            <a:ext cx="6302101" cy="504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6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4ED0F-FEE1-6287-7A99-C6369609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3. PROCESSUS collecter, transformer, stocker et tester les données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B69C16-A160-1EAA-9A69-2F3B43D1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grpSp>
        <p:nvGrpSpPr>
          <p:cNvPr id="54" name="Groupe 53">
            <a:extLst>
              <a:ext uri="{FF2B5EF4-FFF2-40B4-BE49-F238E27FC236}">
                <a16:creationId xmlns:a16="http://schemas.microsoft.com/office/drawing/2014/main" id="{DB34A6D1-A609-0C22-EB3F-D61F9EF883E2}"/>
              </a:ext>
            </a:extLst>
          </p:cNvPr>
          <p:cNvGrpSpPr/>
          <p:nvPr/>
        </p:nvGrpSpPr>
        <p:grpSpPr>
          <a:xfrm>
            <a:off x="716989" y="2154754"/>
            <a:ext cx="10330116" cy="4184937"/>
            <a:chOff x="716989" y="2154754"/>
            <a:chExt cx="10330116" cy="4184937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A6E636DF-6A4B-6970-47DD-DF403631F929}"/>
                </a:ext>
              </a:extLst>
            </p:cNvPr>
            <p:cNvGrpSpPr/>
            <p:nvPr/>
          </p:nvGrpSpPr>
          <p:grpSpPr>
            <a:xfrm>
              <a:off x="716989" y="2154754"/>
              <a:ext cx="10330116" cy="4184937"/>
              <a:chOff x="218230" y="2154754"/>
              <a:chExt cx="10330116" cy="418493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11B60FC-FD80-D85B-D625-6670147D1715}"/>
                  </a:ext>
                </a:extLst>
              </p:cNvPr>
              <p:cNvSpPr/>
              <p:nvPr/>
            </p:nvSpPr>
            <p:spPr>
              <a:xfrm>
                <a:off x="218230" y="2339787"/>
                <a:ext cx="1719730" cy="337090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CF1574-EB91-B853-4DC0-DB197D620272}"/>
                  </a:ext>
                </a:extLst>
              </p:cNvPr>
              <p:cNvSpPr/>
              <p:nvPr/>
            </p:nvSpPr>
            <p:spPr>
              <a:xfrm>
                <a:off x="5386713" y="2154754"/>
                <a:ext cx="3542135" cy="381981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Text 38">
                <a:extLst>
                  <a:ext uri="{FF2B5EF4-FFF2-40B4-BE49-F238E27FC236}">
                    <a16:creationId xmlns:a16="http://schemas.microsoft.com/office/drawing/2014/main" id="{F56F12FC-33C9-5EC9-86D9-8EBD16A1C8F4}"/>
                  </a:ext>
                </a:extLst>
              </p:cNvPr>
              <p:cNvSpPr/>
              <p:nvPr/>
            </p:nvSpPr>
            <p:spPr>
              <a:xfrm>
                <a:off x="345439" y="5709571"/>
                <a:ext cx="1372687" cy="36512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i="1" dirty="0">
                    <a:solidFill>
                      <a:schemeClr val="accent5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GitHub/S3</a:t>
                </a:r>
                <a:endParaRPr lang="en-US" sz="12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3533824B-B001-59A5-6458-595BD4F937E1}"/>
                  </a:ext>
                </a:extLst>
              </p:cNvPr>
              <p:cNvGrpSpPr/>
              <p:nvPr/>
            </p:nvGrpSpPr>
            <p:grpSpPr>
              <a:xfrm>
                <a:off x="345439" y="2468880"/>
                <a:ext cx="10202907" cy="3870811"/>
                <a:chOff x="1512345" y="2666104"/>
                <a:chExt cx="8595361" cy="3657596"/>
              </a:xfrm>
            </p:grpSpPr>
            <p:sp>
              <p:nvSpPr>
                <p:cNvPr id="7" name="Shape 3">
                  <a:extLst>
                    <a:ext uri="{FF2B5EF4-FFF2-40B4-BE49-F238E27FC236}">
                      <a16:creationId xmlns:a16="http://schemas.microsoft.com/office/drawing/2014/main" id="{D496A681-B39F-7591-F54F-F4D481474C56}"/>
                    </a:ext>
                  </a:extLst>
                </p:cNvPr>
                <p:cNvSpPr/>
                <p:nvPr/>
              </p:nvSpPr>
              <p:spPr>
                <a:xfrm>
                  <a:off x="151234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" name="Shape 4">
                  <a:extLst>
                    <a:ext uri="{FF2B5EF4-FFF2-40B4-BE49-F238E27FC236}">
                      <a16:creationId xmlns:a16="http://schemas.microsoft.com/office/drawing/2014/main" id="{C5C7E39A-7E5C-6DFD-1053-740C5498CC3B}"/>
                    </a:ext>
                  </a:extLst>
                </p:cNvPr>
                <p:cNvSpPr/>
                <p:nvPr/>
              </p:nvSpPr>
              <p:spPr>
                <a:xfrm>
                  <a:off x="1512345" y="2666104"/>
                  <a:ext cx="1280160" cy="640080"/>
                </a:xfrm>
                <a:prstGeom prst="rect">
                  <a:avLst/>
                </a:prstGeom>
                <a:solidFill>
                  <a:srgbClr val="2563EB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" name="Text 5">
                  <a:extLst>
                    <a:ext uri="{FF2B5EF4-FFF2-40B4-BE49-F238E27FC236}">
                      <a16:creationId xmlns:a16="http://schemas.microsoft.com/office/drawing/2014/main" id="{D3FC5034-5A09-BD5F-B0B9-7237B2729A63}"/>
                    </a:ext>
                  </a:extLst>
                </p:cNvPr>
                <p:cNvSpPr/>
                <p:nvPr/>
              </p:nvSpPr>
              <p:spPr>
                <a:xfrm>
                  <a:off x="1512345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1</a:t>
                  </a:r>
                  <a:endParaRPr lang="en-US" sz="2000" dirty="0"/>
                </a:p>
              </p:txBody>
            </p:sp>
            <p:sp>
              <p:nvSpPr>
                <p:cNvPr id="10" name="Text 6">
                  <a:extLst>
                    <a:ext uri="{FF2B5EF4-FFF2-40B4-BE49-F238E27FC236}">
                      <a16:creationId xmlns:a16="http://schemas.microsoft.com/office/drawing/2014/main" id="{DA92446F-E3BC-D51B-4B94-69DB1F200C7D}"/>
                    </a:ext>
                  </a:extLst>
                </p:cNvPr>
                <p:cNvSpPr/>
                <p:nvPr/>
              </p:nvSpPr>
              <p:spPr>
                <a:xfrm>
                  <a:off x="151234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Source Données</a:t>
                  </a:r>
                  <a:endParaRPr lang="en-US" sz="1200" dirty="0"/>
                </a:p>
              </p:txBody>
            </p:sp>
            <p:sp>
              <p:nvSpPr>
                <p:cNvPr id="11" name="Text 7">
                  <a:extLst>
                    <a:ext uri="{FF2B5EF4-FFF2-40B4-BE49-F238E27FC236}">
                      <a16:creationId xmlns:a16="http://schemas.microsoft.com/office/drawing/2014/main" id="{AA8B544B-1801-D67F-C04A-BB28FB2B4FEF}"/>
                    </a:ext>
                  </a:extLst>
                </p:cNvPr>
                <p:cNvSpPr/>
                <p:nvPr/>
              </p:nvSpPr>
              <p:spPr>
                <a:xfrm>
                  <a:off x="155806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InfoClimat.json</a:t>
                  </a:r>
                  <a:r>
                    <a:rPr lang="en-US" sz="1400" dirty="0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, Weather Underground.xlsx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Calendar.csv</a:t>
                  </a:r>
                  <a:endParaRPr lang="en-US" sz="1400" dirty="0"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" name="Shape 8">
                  <a:extLst>
                    <a:ext uri="{FF2B5EF4-FFF2-40B4-BE49-F238E27FC236}">
                      <a16:creationId xmlns:a16="http://schemas.microsoft.com/office/drawing/2014/main" id="{881C72EE-9DDB-7F55-EC16-2C2BA838B14B}"/>
                    </a:ext>
                  </a:extLst>
                </p:cNvPr>
                <p:cNvSpPr/>
                <p:nvPr/>
              </p:nvSpPr>
              <p:spPr>
                <a:xfrm>
                  <a:off x="279250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" name="Shape 9">
                  <a:extLst>
                    <a:ext uri="{FF2B5EF4-FFF2-40B4-BE49-F238E27FC236}">
                      <a16:creationId xmlns:a16="http://schemas.microsoft.com/office/drawing/2014/main" id="{A612F5D8-4A0E-23DE-9152-F36FAA5B8C16}"/>
                    </a:ext>
                  </a:extLst>
                </p:cNvPr>
                <p:cNvSpPr/>
                <p:nvPr/>
              </p:nvSpPr>
              <p:spPr>
                <a:xfrm>
                  <a:off x="297538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4" name="Shape 10">
                  <a:extLst>
                    <a:ext uri="{FF2B5EF4-FFF2-40B4-BE49-F238E27FC236}">
                      <a16:creationId xmlns:a16="http://schemas.microsoft.com/office/drawing/2014/main" id="{6D0796B2-F490-25EF-3E5F-25EB223C3BC8}"/>
                    </a:ext>
                  </a:extLst>
                </p:cNvPr>
                <p:cNvSpPr/>
                <p:nvPr/>
              </p:nvSpPr>
              <p:spPr>
                <a:xfrm>
                  <a:off x="2975386" y="2666104"/>
                  <a:ext cx="1280160" cy="64008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txBody>
                <a:bodyPr/>
                <a:lstStyle/>
                <a:p>
                  <a:endParaRPr lang="fr-FR" dirty="0"/>
                </a:p>
              </p:txBody>
            </p:sp>
            <p:sp>
              <p:nvSpPr>
                <p:cNvPr id="15" name="Text 11">
                  <a:extLst>
                    <a:ext uri="{FF2B5EF4-FFF2-40B4-BE49-F238E27FC236}">
                      <a16:creationId xmlns:a16="http://schemas.microsoft.com/office/drawing/2014/main" id="{A87B13CC-335B-078F-4257-D374DF19F4EF}"/>
                    </a:ext>
                  </a:extLst>
                </p:cNvPr>
                <p:cNvSpPr/>
                <p:nvPr/>
              </p:nvSpPr>
              <p:spPr>
                <a:xfrm>
                  <a:off x="297538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</a:t>
                  </a:r>
                  <a:endParaRPr lang="en-US" sz="2000" dirty="0"/>
                </a:p>
              </p:txBody>
            </p:sp>
            <p:sp>
              <p:nvSpPr>
                <p:cNvPr id="16" name="Text 12">
                  <a:extLst>
                    <a:ext uri="{FF2B5EF4-FFF2-40B4-BE49-F238E27FC236}">
                      <a16:creationId xmlns:a16="http://schemas.microsoft.com/office/drawing/2014/main" id="{7D736573-C80A-FB4C-0954-E1C57A56EC0D}"/>
                    </a:ext>
                  </a:extLst>
                </p:cNvPr>
                <p:cNvSpPr/>
                <p:nvPr/>
              </p:nvSpPr>
              <p:spPr>
                <a:xfrm>
                  <a:off x="297538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Collecte</a:t>
                  </a:r>
                  <a:endParaRPr lang="en-US" sz="1200" dirty="0"/>
                </a:p>
              </p:txBody>
            </p:sp>
            <p:sp>
              <p:nvSpPr>
                <p:cNvPr id="17" name="Text 13">
                  <a:extLst>
                    <a:ext uri="{FF2B5EF4-FFF2-40B4-BE49-F238E27FC236}">
                      <a16:creationId xmlns:a16="http://schemas.microsoft.com/office/drawing/2014/main" id="{15800591-7DDC-9B1A-792E-127642FBA676}"/>
                    </a:ext>
                  </a:extLst>
                </p:cNvPr>
                <p:cNvSpPr/>
                <p:nvPr/>
              </p:nvSpPr>
              <p:spPr>
                <a:xfrm>
                  <a:off x="302110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/>
                  <a:r>
                    <a:rPr lang="en-US" sz="14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Airbyte</a:t>
                  </a:r>
                  <a:endParaRPr lang="en-US" sz="1400" dirty="0">
                    <a:solidFill>
                      <a:srgbClr val="1E293B"/>
                    </a:solidFill>
                    <a:ea typeface="Consolas" pitchFamily="34" charset="-122"/>
                    <a:cs typeface="Consolas" pitchFamily="34" charset="-120"/>
                  </a:endParaRP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Sources </a:t>
                  </a:r>
                  <a:r>
                    <a:rPr lang="en-US" sz="1400" dirty="0" err="1">
                      <a:solidFill>
                        <a:srgbClr val="1E293B"/>
                      </a:solidFill>
                    </a:rPr>
                    <a:t>Connecteurs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Flux </a:t>
                  </a:r>
                  <a:r>
                    <a:rPr lang="en-US" sz="1400" dirty="0" err="1">
                      <a:solidFill>
                        <a:srgbClr val="1E293B"/>
                      </a:solidFill>
                    </a:rPr>
                    <a:t>vers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PostgreSQL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Full refresh - Overwrite</a:t>
                  </a:r>
                  <a:endParaRPr lang="en-US" sz="1400" dirty="0"/>
                </a:p>
              </p:txBody>
            </p:sp>
            <p:sp>
              <p:nvSpPr>
                <p:cNvPr id="18" name="Shape 14">
                  <a:extLst>
                    <a:ext uri="{FF2B5EF4-FFF2-40B4-BE49-F238E27FC236}">
                      <a16:creationId xmlns:a16="http://schemas.microsoft.com/office/drawing/2014/main" id="{65AC3DD2-C05C-08B8-C2BD-4B4E52EC0802}"/>
                    </a:ext>
                  </a:extLst>
                </p:cNvPr>
                <p:cNvSpPr/>
                <p:nvPr/>
              </p:nvSpPr>
              <p:spPr>
                <a:xfrm>
                  <a:off x="425554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" name="Shape 15">
                  <a:extLst>
                    <a:ext uri="{FF2B5EF4-FFF2-40B4-BE49-F238E27FC236}">
                      <a16:creationId xmlns:a16="http://schemas.microsoft.com/office/drawing/2014/main" id="{D3A9531D-E4CE-6543-B261-9C79F5D57871}"/>
                    </a:ext>
                  </a:extLst>
                </p:cNvPr>
                <p:cNvSpPr/>
                <p:nvPr/>
              </p:nvSpPr>
              <p:spPr>
                <a:xfrm>
                  <a:off x="443842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 dirty="0"/>
                </a:p>
              </p:txBody>
            </p:sp>
            <p:sp>
              <p:nvSpPr>
                <p:cNvPr id="20" name="Shape 16">
                  <a:extLst>
                    <a:ext uri="{FF2B5EF4-FFF2-40B4-BE49-F238E27FC236}">
                      <a16:creationId xmlns:a16="http://schemas.microsoft.com/office/drawing/2014/main" id="{9598B81C-A802-7114-4090-0E1AA07B575C}"/>
                    </a:ext>
                  </a:extLst>
                </p:cNvPr>
                <p:cNvSpPr/>
                <p:nvPr/>
              </p:nvSpPr>
              <p:spPr>
                <a:xfrm>
                  <a:off x="4438426" y="2666104"/>
                  <a:ext cx="1280160" cy="640080"/>
                </a:xfrm>
                <a:prstGeom prst="rect">
                  <a:avLst/>
                </a:prstGeom>
                <a:solidFill>
                  <a:srgbClr val="00B4D8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1" name="Text 17">
                  <a:extLst>
                    <a:ext uri="{FF2B5EF4-FFF2-40B4-BE49-F238E27FC236}">
                      <a16:creationId xmlns:a16="http://schemas.microsoft.com/office/drawing/2014/main" id="{91FC1ED8-0510-6F85-AB75-1D06C6D40AC9}"/>
                    </a:ext>
                  </a:extLst>
                </p:cNvPr>
                <p:cNvSpPr/>
                <p:nvPr/>
              </p:nvSpPr>
              <p:spPr>
                <a:xfrm>
                  <a:off x="443842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3</a:t>
                  </a:r>
                  <a:endParaRPr lang="en-US" sz="2000" dirty="0"/>
                </a:p>
              </p:txBody>
            </p:sp>
            <p:sp>
              <p:nvSpPr>
                <p:cNvPr id="22" name="Text 18">
                  <a:extLst>
                    <a:ext uri="{FF2B5EF4-FFF2-40B4-BE49-F238E27FC236}">
                      <a16:creationId xmlns:a16="http://schemas.microsoft.com/office/drawing/2014/main" id="{D0A30543-CD57-DB32-3FEF-BECB806A2BBA}"/>
                    </a:ext>
                  </a:extLst>
                </p:cNvPr>
                <p:cNvSpPr/>
                <p:nvPr/>
              </p:nvSpPr>
              <p:spPr>
                <a:xfrm>
                  <a:off x="443842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Stockage</a:t>
                  </a:r>
                  <a:endParaRPr lang="en-US" sz="1200" dirty="0"/>
                </a:p>
              </p:txBody>
            </p:sp>
            <p:sp>
              <p:nvSpPr>
                <p:cNvPr id="23" name="Text 19">
                  <a:extLst>
                    <a:ext uri="{FF2B5EF4-FFF2-40B4-BE49-F238E27FC236}">
                      <a16:creationId xmlns:a16="http://schemas.microsoft.com/office/drawing/2014/main" id="{09DB78B2-87DA-35C2-DA6C-59742666853C}"/>
                    </a:ext>
                  </a:extLst>
                </p:cNvPr>
                <p:cNvSpPr/>
                <p:nvPr/>
              </p:nvSpPr>
              <p:spPr>
                <a:xfrm>
                  <a:off x="448414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</a:rPr>
                    <a:t>Schéma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raw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PostgreSQL </a:t>
                  </a:r>
                  <a:endParaRPr lang="en-US" sz="1400" dirty="0"/>
                </a:p>
              </p:txBody>
            </p:sp>
            <p:sp>
              <p:nvSpPr>
                <p:cNvPr id="24" name="Shape 20">
                  <a:extLst>
                    <a:ext uri="{FF2B5EF4-FFF2-40B4-BE49-F238E27FC236}">
                      <a16:creationId xmlns:a16="http://schemas.microsoft.com/office/drawing/2014/main" id="{3AFC5285-7202-1B52-179C-D7D0C3340EF8}"/>
                    </a:ext>
                  </a:extLst>
                </p:cNvPr>
                <p:cNvSpPr/>
                <p:nvPr/>
              </p:nvSpPr>
              <p:spPr>
                <a:xfrm>
                  <a:off x="571858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5" name="Shape 21">
                  <a:extLst>
                    <a:ext uri="{FF2B5EF4-FFF2-40B4-BE49-F238E27FC236}">
                      <a16:creationId xmlns:a16="http://schemas.microsoft.com/office/drawing/2014/main" id="{9CC3BFC5-A4D2-E311-01DA-A1253B2D7608}"/>
                    </a:ext>
                  </a:extLst>
                </p:cNvPr>
                <p:cNvSpPr/>
                <p:nvPr/>
              </p:nvSpPr>
              <p:spPr>
                <a:xfrm>
                  <a:off x="590146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6" name="Shape 22">
                  <a:extLst>
                    <a:ext uri="{FF2B5EF4-FFF2-40B4-BE49-F238E27FC236}">
                      <a16:creationId xmlns:a16="http://schemas.microsoft.com/office/drawing/2014/main" id="{1BFB54FF-7330-18A2-0A5F-1B8753C1C935}"/>
                    </a:ext>
                  </a:extLst>
                </p:cNvPr>
                <p:cNvSpPr/>
                <p:nvPr/>
              </p:nvSpPr>
              <p:spPr>
                <a:xfrm>
                  <a:off x="5901466" y="2666104"/>
                  <a:ext cx="1280160" cy="640080"/>
                </a:xfrm>
                <a:prstGeom prst="rect">
                  <a:avLst/>
                </a:prstGeom>
                <a:solidFill>
                  <a:srgbClr val="16A34A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7" name="Text 23">
                  <a:extLst>
                    <a:ext uri="{FF2B5EF4-FFF2-40B4-BE49-F238E27FC236}">
                      <a16:creationId xmlns:a16="http://schemas.microsoft.com/office/drawing/2014/main" id="{A8D87525-D2A3-7F6E-11D5-A104A835F26F}"/>
                    </a:ext>
                  </a:extLst>
                </p:cNvPr>
                <p:cNvSpPr/>
                <p:nvPr/>
              </p:nvSpPr>
              <p:spPr>
                <a:xfrm>
                  <a:off x="590146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4</a:t>
                  </a:r>
                  <a:endParaRPr lang="en-US" sz="2000" dirty="0"/>
                </a:p>
              </p:txBody>
            </p:sp>
            <p:sp>
              <p:nvSpPr>
                <p:cNvPr id="28" name="Text 24">
                  <a:extLst>
                    <a:ext uri="{FF2B5EF4-FFF2-40B4-BE49-F238E27FC236}">
                      <a16:creationId xmlns:a16="http://schemas.microsoft.com/office/drawing/2014/main" id="{169A9ED4-E76F-A1E2-6F6C-B96B14259C8B}"/>
                    </a:ext>
                  </a:extLst>
                </p:cNvPr>
                <p:cNvSpPr/>
                <p:nvPr/>
              </p:nvSpPr>
              <p:spPr>
                <a:xfrm>
                  <a:off x="590146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Transformation</a:t>
                  </a:r>
                  <a:endParaRPr lang="en-US" sz="1200" dirty="0"/>
                </a:p>
              </p:txBody>
            </p:sp>
            <p:sp>
              <p:nvSpPr>
                <p:cNvPr id="29" name="Text 25">
                  <a:extLst>
                    <a:ext uri="{FF2B5EF4-FFF2-40B4-BE49-F238E27FC236}">
                      <a16:creationId xmlns:a16="http://schemas.microsoft.com/office/drawing/2014/main" id="{48243563-7F5F-CC00-D295-BD72D646D5EF}"/>
                    </a:ext>
                  </a:extLst>
                </p:cNvPr>
                <p:cNvSpPr/>
                <p:nvPr/>
              </p:nvSpPr>
              <p:spPr>
                <a:xfrm>
                  <a:off x="594718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dbt</a:t>
                  </a:r>
                  <a:r>
                    <a:rPr lang="en-US" sz="12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 seed </a:t>
                  </a:r>
                </a:p>
                <a:p>
                  <a:pPr marL="0" indent="0" algn="ctr">
                    <a:buNone/>
                  </a:pPr>
                  <a:r>
                    <a:rPr lang="en-US" sz="12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dbt</a:t>
                  </a:r>
                  <a:r>
                    <a:rPr lang="en-US" sz="12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 run</a:t>
                  </a:r>
                </a:p>
                <a:p>
                  <a:pPr marL="0" indent="0" algn="ctr">
                    <a:buNone/>
                  </a:pPr>
                  <a:r>
                    <a:rPr lang="en-US" sz="1200" dirty="0" err="1">
                      <a:solidFill>
                        <a:srgbClr val="1E293B"/>
                      </a:solidFill>
                    </a:rPr>
                    <a:t>Schema.yml</a:t>
                  </a:r>
                  <a:endParaRPr lang="en-US" sz="1200" dirty="0">
                    <a:solidFill>
                      <a:srgbClr val="1E293B"/>
                    </a:solidFill>
                  </a:endParaRPr>
                </a:p>
                <a:p>
                  <a:pPr marL="0" indent="0" algn="ctr">
                    <a:buNone/>
                  </a:pPr>
                  <a:r>
                    <a:rPr lang="en-US" sz="1200" dirty="0">
                      <a:solidFill>
                        <a:srgbClr val="1E293B"/>
                      </a:solidFill>
                    </a:rPr>
                    <a:t>Models (staging, intermediate, marts)</a:t>
                  </a:r>
                </a:p>
                <a:p>
                  <a:pPr algn="ctr"/>
                  <a:r>
                    <a:rPr lang="en-US" sz="1200" dirty="0">
                      <a:solidFill>
                        <a:srgbClr val="1E293B"/>
                      </a:solidFill>
                    </a:rPr>
                    <a:t>Seed (</a:t>
                  </a:r>
                  <a:r>
                    <a:rPr lang="en-US" sz="1200" dirty="0">
                      <a:solidFill>
                        <a:srgbClr val="1E293B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Metadonnee_stations.csv, </a:t>
                  </a:r>
                </a:p>
                <a:p>
                  <a:pPr marL="0" indent="0" algn="ctr">
                    <a:buNone/>
                  </a:pPr>
                  <a:r>
                    <a:rPr lang="en-US" sz="1200" dirty="0"/>
                    <a:t>time.csv)</a:t>
                  </a:r>
                </a:p>
              </p:txBody>
            </p:sp>
            <p:sp>
              <p:nvSpPr>
                <p:cNvPr id="30" name="Shape 26">
                  <a:extLst>
                    <a:ext uri="{FF2B5EF4-FFF2-40B4-BE49-F238E27FC236}">
                      <a16:creationId xmlns:a16="http://schemas.microsoft.com/office/drawing/2014/main" id="{63179906-4D4F-C04F-8521-173161C90476}"/>
                    </a:ext>
                  </a:extLst>
                </p:cNvPr>
                <p:cNvSpPr/>
                <p:nvPr/>
              </p:nvSpPr>
              <p:spPr>
                <a:xfrm>
                  <a:off x="7181626" y="4129144"/>
                  <a:ext cx="182880" cy="0"/>
                </a:xfrm>
                <a:prstGeom prst="line">
                  <a:avLst/>
                </a:prstGeom>
                <a:noFill/>
                <a:ln w="19050">
                  <a:solidFill>
                    <a:srgbClr val="64748B"/>
                  </a:solidFill>
                  <a:prstDash val="soli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1" name="Shape 27">
                  <a:extLst>
                    <a:ext uri="{FF2B5EF4-FFF2-40B4-BE49-F238E27FC236}">
                      <a16:creationId xmlns:a16="http://schemas.microsoft.com/office/drawing/2014/main" id="{5A852564-766B-1B91-E7CC-97914C594F3E}"/>
                    </a:ext>
                  </a:extLst>
                </p:cNvPr>
                <p:cNvSpPr/>
                <p:nvPr/>
              </p:nvSpPr>
              <p:spPr>
                <a:xfrm>
                  <a:off x="736450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2" name="Shape 28">
                  <a:extLst>
                    <a:ext uri="{FF2B5EF4-FFF2-40B4-BE49-F238E27FC236}">
                      <a16:creationId xmlns:a16="http://schemas.microsoft.com/office/drawing/2014/main" id="{B69EE9B9-4ADF-3842-0C83-ECA7BB04D6C3}"/>
                    </a:ext>
                  </a:extLst>
                </p:cNvPr>
                <p:cNvSpPr/>
                <p:nvPr/>
              </p:nvSpPr>
              <p:spPr>
                <a:xfrm>
                  <a:off x="7364506" y="2666104"/>
                  <a:ext cx="1280160" cy="640080"/>
                </a:xfrm>
                <a:prstGeom prst="rect">
                  <a:avLst/>
                </a:prstGeom>
                <a:solidFill>
                  <a:srgbClr val="7C3AED"/>
                </a:solidFill>
                <a:ln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3" name="Text 29">
                  <a:extLst>
                    <a:ext uri="{FF2B5EF4-FFF2-40B4-BE49-F238E27FC236}">
                      <a16:creationId xmlns:a16="http://schemas.microsoft.com/office/drawing/2014/main" id="{43F1433F-DB01-264D-F203-9931C1CD6C9D}"/>
                    </a:ext>
                  </a:extLst>
                </p:cNvPr>
                <p:cNvSpPr/>
                <p:nvPr/>
              </p:nvSpPr>
              <p:spPr>
                <a:xfrm>
                  <a:off x="736450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5</a:t>
                  </a:r>
                  <a:endParaRPr lang="en-US" sz="2000" dirty="0"/>
                </a:p>
              </p:txBody>
            </p:sp>
            <p:sp>
              <p:nvSpPr>
                <p:cNvPr id="34" name="Text 30">
                  <a:extLst>
                    <a:ext uri="{FF2B5EF4-FFF2-40B4-BE49-F238E27FC236}">
                      <a16:creationId xmlns:a16="http://schemas.microsoft.com/office/drawing/2014/main" id="{A8281D4E-BC15-4BEF-4A39-7F2E43B920C8}"/>
                    </a:ext>
                  </a:extLst>
                </p:cNvPr>
                <p:cNvSpPr/>
                <p:nvPr/>
              </p:nvSpPr>
              <p:spPr>
                <a:xfrm>
                  <a:off x="736450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Tests</a:t>
                  </a:r>
                  <a:endParaRPr lang="en-US" sz="1200" dirty="0"/>
                </a:p>
              </p:txBody>
            </p:sp>
            <p:sp>
              <p:nvSpPr>
                <p:cNvPr id="35" name="Text 31">
                  <a:extLst>
                    <a:ext uri="{FF2B5EF4-FFF2-40B4-BE49-F238E27FC236}">
                      <a16:creationId xmlns:a16="http://schemas.microsoft.com/office/drawing/2014/main" id="{D7AB8FDA-E494-3ABE-86F7-D4F2C7FDC2D8}"/>
                    </a:ext>
                  </a:extLst>
                </p:cNvPr>
                <p:cNvSpPr/>
                <p:nvPr/>
              </p:nvSpPr>
              <p:spPr>
                <a:xfrm>
                  <a:off x="741022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</a:rPr>
                    <a:t>dbt</a:t>
                  </a:r>
                  <a:r>
                    <a:rPr lang="en-US" sz="1400" dirty="0">
                      <a:solidFill>
                        <a:srgbClr val="1E293B"/>
                      </a:solidFill>
                    </a:rPr>
                    <a:t> test</a:t>
                  </a:r>
                </a:p>
                <a:p>
                  <a:pPr marL="0" indent="0" algn="ctr">
                    <a:buNone/>
                  </a:pPr>
                  <a:r>
                    <a:rPr lang="en-US" sz="1200" dirty="0" err="1"/>
                    <a:t>Schema.yml</a:t>
                  </a:r>
                  <a:r>
                    <a:rPr lang="en-US" sz="1200" dirty="0"/>
                    <a:t> (</a:t>
                  </a:r>
                  <a:r>
                    <a:rPr lang="en-US" sz="1200" dirty="0" err="1"/>
                    <a:t>data_test</a:t>
                  </a:r>
                  <a:r>
                    <a:rPr lang="en-US" sz="1200" dirty="0"/>
                    <a:t> unique, </a:t>
                  </a:r>
                  <a:r>
                    <a:rPr lang="en-US" sz="1200" dirty="0" err="1"/>
                    <a:t>not_null</a:t>
                  </a:r>
                  <a:r>
                    <a:rPr lang="en-US" sz="1200" dirty="0"/>
                    <a:t>)</a:t>
                  </a:r>
                </a:p>
                <a:p>
                  <a:pPr marL="0" indent="0" algn="ctr">
                    <a:buNone/>
                  </a:pPr>
                  <a:r>
                    <a:rPr lang="en-US" sz="1200" dirty="0"/>
                    <a:t>Scripts test SQL</a:t>
                  </a:r>
                </a:p>
              </p:txBody>
            </p:sp>
            <p:sp>
              <p:nvSpPr>
                <p:cNvPr id="36" name="Shape 33">
                  <a:extLst>
                    <a:ext uri="{FF2B5EF4-FFF2-40B4-BE49-F238E27FC236}">
                      <a16:creationId xmlns:a16="http://schemas.microsoft.com/office/drawing/2014/main" id="{0F50A386-B6F8-F937-5A8B-912C02340B1B}"/>
                    </a:ext>
                  </a:extLst>
                </p:cNvPr>
                <p:cNvSpPr/>
                <p:nvPr/>
              </p:nvSpPr>
              <p:spPr>
                <a:xfrm>
                  <a:off x="8827546" y="2666104"/>
                  <a:ext cx="1280160" cy="292608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2E8F0"/>
                  </a:solidFill>
                  <a:prstDash val="solid"/>
                </a:ln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7" name="Shape 34">
                  <a:extLst>
                    <a:ext uri="{FF2B5EF4-FFF2-40B4-BE49-F238E27FC236}">
                      <a16:creationId xmlns:a16="http://schemas.microsoft.com/office/drawing/2014/main" id="{65FC14F8-09E2-A577-CA3F-8A92551CB821}"/>
                    </a:ext>
                  </a:extLst>
                </p:cNvPr>
                <p:cNvSpPr/>
                <p:nvPr/>
              </p:nvSpPr>
              <p:spPr>
                <a:xfrm>
                  <a:off x="8827546" y="2666104"/>
                  <a:ext cx="1280160" cy="640080"/>
                </a:xfrm>
                <a:prstGeom prst="rect">
                  <a:avLst/>
                </a:prstGeom>
                <a:solidFill>
                  <a:srgbClr val="EA580C"/>
                </a:solidFill>
                <a:ln/>
              </p:spPr>
              <p:txBody>
                <a:bodyPr/>
                <a:lstStyle/>
                <a:p>
                  <a:endParaRPr lang="fr-FR" sz="2400"/>
                </a:p>
              </p:txBody>
            </p:sp>
            <p:sp>
              <p:nvSpPr>
                <p:cNvPr id="38" name="Text 35">
                  <a:extLst>
                    <a:ext uri="{FF2B5EF4-FFF2-40B4-BE49-F238E27FC236}">
                      <a16:creationId xmlns:a16="http://schemas.microsoft.com/office/drawing/2014/main" id="{FDB3A2AB-CA3D-BB10-831F-C983F921219D}"/>
                    </a:ext>
                  </a:extLst>
                </p:cNvPr>
                <p:cNvSpPr/>
                <p:nvPr/>
              </p:nvSpPr>
              <p:spPr>
                <a:xfrm>
                  <a:off x="8827546" y="2684392"/>
                  <a:ext cx="1280160" cy="3200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6</a:t>
                  </a:r>
                  <a:endParaRPr lang="en-US" sz="2000" dirty="0"/>
                </a:p>
              </p:txBody>
            </p:sp>
            <p:sp>
              <p:nvSpPr>
                <p:cNvPr id="39" name="Text 36">
                  <a:extLst>
                    <a:ext uri="{FF2B5EF4-FFF2-40B4-BE49-F238E27FC236}">
                      <a16:creationId xmlns:a16="http://schemas.microsoft.com/office/drawing/2014/main" id="{CDA76EFA-4598-7703-CAC0-13D5D0999367}"/>
                    </a:ext>
                  </a:extLst>
                </p:cNvPr>
                <p:cNvSpPr/>
                <p:nvPr/>
              </p:nvSpPr>
              <p:spPr>
                <a:xfrm>
                  <a:off x="8827546" y="3013576"/>
                  <a:ext cx="12801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Documentation</a:t>
                  </a:r>
                  <a:endParaRPr lang="en-US" sz="1200" dirty="0"/>
                </a:p>
              </p:txBody>
            </p:sp>
            <p:sp>
              <p:nvSpPr>
                <p:cNvPr id="40" name="Text 37">
                  <a:extLst>
                    <a:ext uri="{FF2B5EF4-FFF2-40B4-BE49-F238E27FC236}">
                      <a16:creationId xmlns:a16="http://schemas.microsoft.com/office/drawing/2014/main" id="{6360764F-7F11-F7D3-C593-06A5AD0D007D}"/>
                    </a:ext>
                  </a:extLst>
                </p:cNvPr>
                <p:cNvSpPr/>
                <p:nvPr/>
              </p:nvSpPr>
              <p:spPr>
                <a:xfrm>
                  <a:off x="8873266" y="3397624"/>
                  <a:ext cx="1188720" cy="21031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dirty="0" err="1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dbt</a:t>
                  </a:r>
                  <a:r>
                    <a:rPr lang="en-US" sz="1400" dirty="0">
                      <a:solidFill>
                        <a:srgbClr val="1E293B"/>
                      </a:solidFill>
                      <a:ea typeface="Consolas" pitchFamily="34" charset="-122"/>
                      <a:cs typeface="Consolas" pitchFamily="34" charset="-120"/>
                    </a:rPr>
                    <a:t> docs serve</a:t>
                  </a:r>
                </a:p>
                <a:p>
                  <a:pPr marL="0" indent="0" algn="ctr">
                    <a:buNone/>
                  </a:pPr>
                  <a:r>
                    <a:rPr lang="en-US" sz="1400" dirty="0">
                      <a:solidFill>
                        <a:srgbClr val="1E293B"/>
                      </a:solidFill>
                    </a:rPr>
                    <a:t>Lineage Graph</a:t>
                  </a:r>
                  <a:endParaRPr lang="en-US" sz="1400" dirty="0"/>
                </a:p>
              </p:txBody>
            </p:sp>
            <p:sp>
              <p:nvSpPr>
                <p:cNvPr id="41" name="Text 38">
                  <a:extLst>
                    <a:ext uri="{FF2B5EF4-FFF2-40B4-BE49-F238E27FC236}">
                      <a16:creationId xmlns:a16="http://schemas.microsoft.com/office/drawing/2014/main" id="{797E561A-2620-B675-90DE-F83DB62411F3}"/>
                    </a:ext>
                  </a:extLst>
                </p:cNvPr>
                <p:cNvSpPr/>
                <p:nvPr/>
              </p:nvSpPr>
              <p:spPr>
                <a:xfrm>
                  <a:off x="5672865" y="5978687"/>
                  <a:ext cx="3070506" cy="345013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200" i="1" dirty="0">
                      <a:solidFill>
                        <a:srgbClr val="64748B"/>
                      </a:solidFill>
                      <a:latin typeface="Consolas" pitchFamily="34" charset="0"/>
                      <a:ea typeface="Consolas" pitchFamily="34" charset="-122"/>
                      <a:cs typeface="Consolas" pitchFamily="34" charset="-120"/>
                    </a:rPr>
                    <a:t>Image Docker</a:t>
                  </a:r>
                  <a:endParaRPr lang="en-US" sz="1200" dirty="0"/>
                </a:p>
              </p:txBody>
            </p:sp>
          </p:grpSp>
        </p:grp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59E4B186-6106-469A-D2B8-31C656FD0D84}"/>
                </a:ext>
              </a:extLst>
            </p:cNvPr>
            <p:cNvSpPr/>
            <p:nvPr/>
          </p:nvSpPr>
          <p:spPr>
            <a:xfrm>
              <a:off x="9316350" y="4048375"/>
              <a:ext cx="217083" cy="0"/>
            </a:xfrm>
            <a:prstGeom prst="line">
              <a:avLst/>
            </a:prstGeom>
            <a:noFill/>
            <a:ln w="1905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1542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1F5BA-E577-F62C-A8BA-39055919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Schéma d’architecture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115EB6-7708-939B-C1B6-96C90CDC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5"/>
            <a:ext cx="4299619" cy="362368"/>
          </a:xfrm>
        </p:spPr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6" name="Rectangle : avec coins arrondis en diagonale 5">
            <a:extLst>
              <a:ext uri="{FF2B5EF4-FFF2-40B4-BE49-F238E27FC236}">
                <a16:creationId xmlns:a16="http://schemas.microsoft.com/office/drawing/2014/main" id="{2DAA7FAA-ADE0-3C40-D309-2B7629D32982}"/>
              </a:ext>
            </a:extLst>
          </p:cNvPr>
          <p:cNvSpPr/>
          <p:nvPr/>
        </p:nvSpPr>
        <p:spPr>
          <a:xfrm>
            <a:off x="2578507" y="1971700"/>
            <a:ext cx="6697819" cy="4751829"/>
          </a:xfrm>
          <a:prstGeom prst="round2DiagRect">
            <a:avLst/>
          </a:prstGeom>
          <a:solidFill>
            <a:srgbClr val="EDE9B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b="1" dirty="0"/>
              <a:t>								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82BC14F-9EB6-3025-5512-C65F6E53733E}"/>
              </a:ext>
            </a:extLst>
          </p:cNvPr>
          <p:cNvSpPr/>
          <p:nvPr/>
        </p:nvSpPr>
        <p:spPr>
          <a:xfrm>
            <a:off x="4716002" y="2381513"/>
            <a:ext cx="4222978" cy="1494240"/>
          </a:xfrm>
          <a:prstGeom prst="roundRect">
            <a:avLst/>
          </a:prstGeom>
          <a:solidFill>
            <a:srgbClr val="FCBFB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Sécurité et surveillance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02D6208-B2BF-48A8-80F6-465D44378916}"/>
              </a:ext>
            </a:extLst>
          </p:cNvPr>
          <p:cNvSpPr/>
          <p:nvPr/>
        </p:nvSpPr>
        <p:spPr>
          <a:xfrm>
            <a:off x="2804270" y="4216423"/>
            <a:ext cx="6205262" cy="2183117"/>
          </a:xfrm>
          <a:custGeom>
            <a:avLst/>
            <a:gdLst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4 w 6187334"/>
              <a:gd name="connsiteY4" fmla="*/ 1819257 h 2183117"/>
              <a:gd name="connsiteX5" fmla="*/ 5823474 w 6187334"/>
              <a:gd name="connsiteY5" fmla="*/ 2183117 h 2183117"/>
              <a:gd name="connsiteX6" fmla="*/ 363860 w 6187334"/>
              <a:gd name="connsiteY6" fmla="*/ 2183117 h 2183117"/>
              <a:gd name="connsiteX7" fmla="*/ 0 w 6187334"/>
              <a:gd name="connsiteY7" fmla="*/ 1819257 h 2183117"/>
              <a:gd name="connsiteX8" fmla="*/ 0 w 6187334"/>
              <a:gd name="connsiteY8" fmla="*/ 363860 h 2183117"/>
              <a:gd name="connsiteX0" fmla="*/ 0 w 6187334"/>
              <a:gd name="connsiteY0" fmla="*/ 363860 h 2184378"/>
              <a:gd name="connsiteX1" fmla="*/ 363860 w 6187334"/>
              <a:gd name="connsiteY1" fmla="*/ 0 h 2184378"/>
              <a:gd name="connsiteX2" fmla="*/ 5823474 w 6187334"/>
              <a:gd name="connsiteY2" fmla="*/ 0 h 2184378"/>
              <a:gd name="connsiteX3" fmla="*/ 6187334 w 6187334"/>
              <a:gd name="connsiteY3" fmla="*/ 363860 h 2184378"/>
              <a:gd name="connsiteX4" fmla="*/ 6187334 w 6187334"/>
              <a:gd name="connsiteY4" fmla="*/ 1819257 h 2184378"/>
              <a:gd name="connsiteX5" fmla="*/ 5823474 w 6187334"/>
              <a:gd name="connsiteY5" fmla="*/ 2183117 h 2184378"/>
              <a:gd name="connsiteX6" fmla="*/ 4098555 w 6187334"/>
              <a:gd name="connsiteY6" fmla="*/ 2184378 h 2184378"/>
              <a:gd name="connsiteX7" fmla="*/ 363860 w 6187334"/>
              <a:gd name="connsiteY7" fmla="*/ 2183117 h 2184378"/>
              <a:gd name="connsiteX8" fmla="*/ 0 w 6187334"/>
              <a:gd name="connsiteY8" fmla="*/ 1819257 h 2184378"/>
              <a:gd name="connsiteX9" fmla="*/ 0 w 6187334"/>
              <a:gd name="connsiteY9" fmla="*/ 363860 h 2184378"/>
              <a:gd name="connsiteX0" fmla="*/ 0 w 6205263"/>
              <a:gd name="connsiteY0" fmla="*/ 363860 h 2184378"/>
              <a:gd name="connsiteX1" fmla="*/ 363860 w 6205263"/>
              <a:gd name="connsiteY1" fmla="*/ 0 h 2184378"/>
              <a:gd name="connsiteX2" fmla="*/ 5823474 w 6205263"/>
              <a:gd name="connsiteY2" fmla="*/ 0 h 2184378"/>
              <a:gd name="connsiteX3" fmla="*/ 6187334 w 6205263"/>
              <a:gd name="connsiteY3" fmla="*/ 363860 h 2184378"/>
              <a:gd name="connsiteX4" fmla="*/ 6205263 w 6205263"/>
              <a:gd name="connsiteY4" fmla="*/ 1012434 h 2184378"/>
              <a:gd name="connsiteX5" fmla="*/ 5823474 w 6205263"/>
              <a:gd name="connsiteY5" fmla="*/ 2183117 h 2184378"/>
              <a:gd name="connsiteX6" fmla="*/ 4098555 w 6205263"/>
              <a:gd name="connsiteY6" fmla="*/ 2184378 h 2184378"/>
              <a:gd name="connsiteX7" fmla="*/ 363860 w 6205263"/>
              <a:gd name="connsiteY7" fmla="*/ 2183117 h 2184378"/>
              <a:gd name="connsiteX8" fmla="*/ 0 w 6205263"/>
              <a:gd name="connsiteY8" fmla="*/ 1819257 h 2184378"/>
              <a:gd name="connsiteX9" fmla="*/ 0 w 6205263"/>
              <a:gd name="connsiteY9" fmla="*/ 363860 h 2184378"/>
              <a:gd name="connsiteX0" fmla="*/ 0 w 6205263"/>
              <a:gd name="connsiteY0" fmla="*/ 363860 h 2184378"/>
              <a:gd name="connsiteX1" fmla="*/ 363860 w 6205263"/>
              <a:gd name="connsiteY1" fmla="*/ 0 h 2184378"/>
              <a:gd name="connsiteX2" fmla="*/ 5823474 w 6205263"/>
              <a:gd name="connsiteY2" fmla="*/ 0 h 2184378"/>
              <a:gd name="connsiteX3" fmla="*/ 6187334 w 6205263"/>
              <a:gd name="connsiteY3" fmla="*/ 363860 h 2184378"/>
              <a:gd name="connsiteX4" fmla="*/ 6205263 w 6205263"/>
              <a:gd name="connsiteY4" fmla="*/ 1012434 h 2184378"/>
              <a:gd name="connsiteX5" fmla="*/ 3905027 w 6205263"/>
              <a:gd name="connsiteY5" fmla="*/ 1053564 h 2184378"/>
              <a:gd name="connsiteX6" fmla="*/ 4098555 w 6205263"/>
              <a:gd name="connsiteY6" fmla="*/ 2184378 h 2184378"/>
              <a:gd name="connsiteX7" fmla="*/ 363860 w 6205263"/>
              <a:gd name="connsiteY7" fmla="*/ 2183117 h 2184378"/>
              <a:gd name="connsiteX8" fmla="*/ 0 w 6205263"/>
              <a:gd name="connsiteY8" fmla="*/ 1819257 h 2184378"/>
              <a:gd name="connsiteX9" fmla="*/ 0 w 6205263"/>
              <a:gd name="connsiteY9" fmla="*/ 363860 h 2184378"/>
              <a:gd name="connsiteX0" fmla="*/ 0 w 6214227"/>
              <a:gd name="connsiteY0" fmla="*/ 363860 h 2184378"/>
              <a:gd name="connsiteX1" fmla="*/ 363860 w 6214227"/>
              <a:gd name="connsiteY1" fmla="*/ 0 h 2184378"/>
              <a:gd name="connsiteX2" fmla="*/ 5823474 w 6214227"/>
              <a:gd name="connsiteY2" fmla="*/ 0 h 2184378"/>
              <a:gd name="connsiteX3" fmla="*/ 6187334 w 6214227"/>
              <a:gd name="connsiteY3" fmla="*/ 363860 h 2184378"/>
              <a:gd name="connsiteX4" fmla="*/ 6214227 w 6214227"/>
              <a:gd name="connsiteY4" fmla="*/ 770386 h 2184378"/>
              <a:gd name="connsiteX5" fmla="*/ 3905027 w 6214227"/>
              <a:gd name="connsiteY5" fmla="*/ 1053564 h 2184378"/>
              <a:gd name="connsiteX6" fmla="*/ 4098555 w 6214227"/>
              <a:gd name="connsiteY6" fmla="*/ 2184378 h 2184378"/>
              <a:gd name="connsiteX7" fmla="*/ 363860 w 6214227"/>
              <a:gd name="connsiteY7" fmla="*/ 2183117 h 2184378"/>
              <a:gd name="connsiteX8" fmla="*/ 0 w 6214227"/>
              <a:gd name="connsiteY8" fmla="*/ 1819257 h 2184378"/>
              <a:gd name="connsiteX9" fmla="*/ 0 w 6214227"/>
              <a:gd name="connsiteY9" fmla="*/ 363860 h 2184378"/>
              <a:gd name="connsiteX0" fmla="*/ 0 w 6220938"/>
              <a:gd name="connsiteY0" fmla="*/ 363860 h 2184378"/>
              <a:gd name="connsiteX1" fmla="*/ 363860 w 6220938"/>
              <a:gd name="connsiteY1" fmla="*/ 0 h 2184378"/>
              <a:gd name="connsiteX2" fmla="*/ 5823474 w 6220938"/>
              <a:gd name="connsiteY2" fmla="*/ 0 h 2184378"/>
              <a:gd name="connsiteX3" fmla="*/ 6187334 w 6220938"/>
              <a:gd name="connsiteY3" fmla="*/ 363860 h 2184378"/>
              <a:gd name="connsiteX4" fmla="*/ 6214227 w 6220938"/>
              <a:gd name="connsiteY4" fmla="*/ 770386 h 2184378"/>
              <a:gd name="connsiteX5" fmla="*/ 5963213 w 6220938"/>
              <a:gd name="connsiteY5" fmla="*/ 893459 h 2184378"/>
              <a:gd name="connsiteX6" fmla="*/ 3905027 w 6220938"/>
              <a:gd name="connsiteY6" fmla="*/ 1053564 h 2184378"/>
              <a:gd name="connsiteX7" fmla="*/ 4098555 w 6220938"/>
              <a:gd name="connsiteY7" fmla="*/ 2184378 h 2184378"/>
              <a:gd name="connsiteX8" fmla="*/ 363860 w 6220938"/>
              <a:gd name="connsiteY8" fmla="*/ 2183117 h 2184378"/>
              <a:gd name="connsiteX9" fmla="*/ 0 w 6220938"/>
              <a:gd name="connsiteY9" fmla="*/ 1819257 h 2184378"/>
              <a:gd name="connsiteX10" fmla="*/ 0 w 6220938"/>
              <a:gd name="connsiteY10" fmla="*/ 363860 h 2184378"/>
              <a:gd name="connsiteX0" fmla="*/ 0 w 6236984"/>
              <a:gd name="connsiteY0" fmla="*/ 363860 h 2184378"/>
              <a:gd name="connsiteX1" fmla="*/ 363860 w 6236984"/>
              <a:gd name="connsiteY1" fmla="*/ 0 h 2184378"/>
              <a:gd name="connsiteX2" fmla="*/ 5823474 w 6236984"/>
              <a:gd name="connsiteY2" fmla="*/ 0 h 2184378"/>
              <a:gd name="connsiteX3" fmla="*/ 6187334 w 6236984"/>
              <a:gd name="connsiteY3" fmla="*/ 363860 h 2184378"/>
              <a:gd name="connsiteX4" fmla="*/ 6214227 w 6236984"/>
              <a:gd name="connsiteY4" fmla="*/ 770386 h 2184378"/>
              <a:gd name="connsiteX5" fmla="*/ 5999071 w 6236984"/>
              <a:gd name="connsiteY5" fmla="*/ 1054823 h 2184378"/>
              <a:gd name="connsiteX6" fmla="*/ 3905027 w 6236984"/>
              <a:gd name="connsiteY6" fmla="*/ 1053564 h 2184378"/>
              <a:gd name="connsiteX7" fmla="*/ 4098555 w 6236984"/>
              <a:gd name="connsiteY7" fmla="*/ 2184378 h 2184378"/>
              <a:gd name="connsiteX8" fmla="*/ 363860 w 6236984"/>
              <a:gd name="connsiteY8" fmla="*/ 2183117 h 2184378"/>
              <a:gd name="connsiteX9" fmla="*/ 0 w 6236984"/>
              <a:gd name="connsiteY9" fmla="*/ 1819257 h 2184378"/>
              <a:gd name="connsiteX10" fmla="*/ 0 w 6236984"/>
              <a:gd name="connsiteY10" fmla="*/ 363860 h 2184378"/>
              <a:gd name="connsiteX0" fmla="*/ 0 w 6224054"/>
              <a:gd name="connsiteY0" fmla="*/ 363860 h 2184378"/>
              <a:gd name="connsiteX1" fmla="*/ 363860 w 6224054"/>
              <a:gd name="connsiteY1" fmla="*/ 0 h 2184378"/>
              <a:gd name="connsiteX2" fmla="*/ 5823474 w 6224054"/>
              <a:gd name="connsiteY2" fmla="*/ 0 h 2184378"/>
              <a:gd name="connsiteX3" fmla="*/ 6187334 w 6224054"/>
              <a:gd name="connsiteY3" fmla="*/ 363860 h 2184378"/>
              <a:gd name="connsiteX4" fmla="*/ 6187333 w 6224054"/>
              <a:gd name="connsiteY4" fmla="*/ 940715 h 2184378"/>
              <a:gd name="connsiteX5" fmla="*/ 5999071 w 6224054"/>
              <a:gd name="connsiteY5" fmla="*/ 1054823 h 2184378"/>
              <a:gd name="connsiteX6" fmla="*/ 3905027 w 6224054"/>
              <a:gd name="connsiteY6" fmla="*/ 1053564 h 2184378"/>
              <a:gd name="connsiteX7" fmla="*/ 4098555 w 6224054"/>
              <a:gd name="connsiteY7" fmla="*/ 2184378 h 2184378"/>
              <a:gd name="connsiteX8" fmla="*/ 363860 w 6224054"/>
              <a:gd name="connsiteY8" fmla="*/ 2183117 h 2184378"/>
              <a:gd name="connsiteX9" fmla="*/ 0 w 6224054"/>
              <a:gd name="connsiteY9" fmla="*/ 1819257 h 2184378"/>
              <a:gd name="connsiteX10" fmla="*/ 0 w 6224054"/>
              <a:gd name="connsiteY10" fmla="*/ 363860 h 2184378"/>
              <a:gd name="connsiteX0" fmla="*/ 0 w 6187334"/>
              <a:gd name="connsiteY0" fmla="*/ 363860 h 2184378"/>
              <a:gd name="connsiteX1" fmla="*/ 363860 w 6187334"/>
              <a:gd name="connsiteY1" fmla="*/ 0 h 2184378"/>
              <a:gd name="connsiteX2" fmla="*/ 5823474 w 6187334"/>
              <a:gd name="connsiteY2" fmla="*/ 0 h 2184378"/>
              <a:gd name="connsiteX3" fmla="*/ 6187334 w 6187334"/>
              <a:gd name="connsiteY3" fmla="*/ 363860 h 2184378"/>
              <a:gd name="connsiteX4" fmla="*/ 6187333 w 6187334"/>
              <a:gd name="connsiteY4" fmla="*/ 940715 h 2184378"/>
              <a:gd name="connsiteX5" fmla="*/ 5685307 w 6187334"/>
              <a:gd name="connsiteY5" fmla="*/ 1072752 h 2184378"/>
              <a:gd name="connsiteX6" fmla="*/ 3905027 w 6187334"/>
              <a:gd name="connsiteY6" fmla="*/ 1053564 h 2184378"/>
              <a:gd name="connsiteX7" fmla="*/ 4098555 w 6187334"/>
              <a:gd name="connsiteY7" fmla="*/ 2184378 h 2184378"/>
              <a:gd name="connsiteX8" fmla="*/ 363860 w 6187334"/>
              <a:gd name="connsiteY8" fmla="*/ 2183117 h 2184378"/>
              <a:gd name="connsiteX9" fmla="*/ 0 w 6187334"/>
              <a:gd name="connsiteY9" fmla="*/ 1819257 h 2184378"/>
              <a:gd name="connsiteX10" fmla="*/ 0 w 6187334"/>
              <a:gd name="connsiteY10" fmla="*/ 363860 h 2184378"/>
              <a:gd name="connsiteX0" fmla="*/ 0 w 6187334"/>
              <a:gd name="connsiteY0" fmla="*/ 363860 h 2184378"/>
              <a:gd name="connsiteX1" fmla="*/ 363860 w 6187334"/>
              <a:gd name="connsiteY1" fmla="*/ 0 h 2184378"/>
              <a:gd name="connsiteX2" fmla="*/ 5823474 w 6187334"/>
              <a:gd name="connsiteY2" fmla="*/ 0 h 2184378"/>
              <a:gd name="connsiteX3" fmla="*/ 6187334 w 6187334"/>
              <a:gd name="connsiteY3" fmla="*/ 363860 h 2184378"/>
              <a:gd name="connsiteX4" fmla="*/ 6187333 w 6187334"/>
              <a:gd name="connsiteY4" fmla="*/ 940715 h 2184378"/>
              <a:gd name="connsiteX5" fmla="*/ 5685307 w 6187334"/>
              <a:gd name="connsiteY5" fmla="*/ 1072752 h 2184378"/>
              <a:gd name="connsiteX6" fmla="*/ 3931922 w 6187334"/>
              <a:gd name="connsiteY6" fmla="*/ 1125282 h 2184378"/>
              <a:gd name="connsiteX7" fmla="*/ 4098555 w 6187334"/>
              <a:gd name="connsiteY7" fmla="*/ 2184378 h 2184378"/>
              <a:gd name="connsiteX8" fmla="*/ 363860 w 6187334"/>
              <a:gd name="connsiteY8" fmla="*/ 2183117 h 2184378"/>
              <a:gd name="connsiteX9" fmla="*/ 0 w 6187334"/>
              <a:gd name="connsiteY9" fmla="*/ 1819257 h 2184378"/>
              <a:gd name="connsiteX10" fmla="*/ 0 w 6187334"/>
              <a:gd name="connsiteY10" fmla="*/ 363860 h 2184378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31922 w 6187334"/>
              <a:gd name="connsiteY6" fmla="*/ 1125282 h 2183117"/>
              <a:gd name="connsiteX7" fmla="*/ 3937190 w 6187334"/>
              <a:gd name="connsiteY7" fmla="*/ 2166448 h 2183117"/>
              <a:gd name="connsiteX8" fmla="*/ 363860 w 6187334"/>
              <a:gd name="connsiteY8" fmla="*/ 2183117 h 2183117"/>
              <a:gd name="connsiteX9" fmla="*/ 0 w 6187334"/>
              <a:gd name="connsiteY9" fmla="*/ 1819257 h 2183117"/>
              <a:gd name="connsiteX10" fmla="*/ 0 w 6187334"/>
              <a:gd name="connsiteY10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22957 w 6187334"/>
              <a:gd name="connsiteY6" fmla="*/ 1116318 h 2183117"/>
              <a:gd name="connsiteX7" fmla="*/ 3937190 w 6187334"/>
              <a:gd name="connsiteY7" fmla="*/ 2166448 h 2183117"/>
              <a:gd name="connsiteX8" fmla="*/ 363860 w 6187334"/>
              <a:gd name="connsiteY8" fmla="*/ 2183117 h 2183117"/>
              <a:gd name="connsiteX9" fmla="*/ 0 w 6187334"/>
              <a:gd name="connsiteY9" fmla="*/ 1819257 h 2183117"/>
              <a:gd name="connsiteX10" fmla="*/ 0 w 6187334"/>
              <a:gd name="connsiteY10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22957 w 6187334"/>
              <a:gd name="connsiteY6" fmla="*/ 1116318 h 2183117"/>
              <a:gd name="connsiteX7" fmla="*/ 3919259 w 6187334"/>
              <a:gd name="connsiteY7" fmla="*/ 1350660 h 2183117"/>
              <a:gd name="connsiteX8" fmla="*/ 3937190 w 6187334"/>
              <a:gd name="connsiteY8" fmla="*/ 2166448 h 2183117"/>
              <a:gd name="connsiteX9" fmla="*/ 363860 w 6187334"/>
              <a:gd name="connsiteY9" fmla="*/ 2183117 h 2183117"/>
              <a:gd name="connsiteX10" fmla="*/ 0 w 6187334"/>
              <a:gd name="connsiteY10" fmla="*/ 1819257 h 2183117"/>
              <a:gd name="connsiteX11" fmla="*/ 0 w 6187334"/>
              <a:gd name="connsiteY11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2166448 h 2183117"/>
              <a:gd name="connsiteX9" fmla="*/ 363860 w 6187334"/>
              <a:gd name="connsiteY9" fmla="*/ 2183117 h 2183117"/>
              <a:gd name="connsiteX10" fmla="*/ 0 w 6187334"/>
              <a:gd name="connsiteY10" fmla="*/ 1819257 h 2183117"/>
              <a:gd name="connsiteX11" fmla="*/ 0 w 6187334"/>
              <a:gd name="connsiteY11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2166448 h 2183117"/>
              <a:gd name="connsiteX9" fmla="*/ 3650318 w 6187334"/>
              <a:gd name="connsiteY9" fmla="*/ 2175413 h 2183117"/>
              <a:gd name="connsiteX10" fmla="*/ 363860 w 6187334"/>
              <a:gd name="connsiteY10" fmla="*/ 2183117 h 2183117"/>
              <a:gd name="connsiteX11" fmla="*/ 0 w 6187334"/>
              <a:gd name="connsiteY11" fmla="*/ 1819257 h 2183117"/>
              <a:gd name="connsiteX12" fmla="*/ 0 w 6187334"/>
              <a:gd name="connsiteY12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650318 w 6187334"/>
              <a:gd name="connsiteY9" fmla="*/ 2175413 h 2183117"/>
              <a:gd name="connsiteX10" fmla="*/ 363860 w 6187334"/>
              <a:gd name="connsiteY10" fmla="*/ 2183117 h 2183117"/>
              <a:gd name="connsiteX11" fmla="*/ 0 w 6187334"/>
              <a:gd name="connsiteY11" fmla="*/ 1819257 h 2183117"/>
              <a:gd name="connsiteX12" fmla="*/ 0 w 6187334"/>
              <a:gd name="connsiteY12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775824 w 6187334"/>
              <a:gd name="connsiteY9" fmla="*/ 2005084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685307 w 6187334"/>
              <a:gd name="connsiteY5" fmla="*/ 1072752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712201 w 6187334"/>
              <a:gd name="connsiteY5" fmla="*/ 1036893 h 2183117"/>
              <a:gd name="connsiteX6" fmla="*/ 3985710 w 6187334"/>
              <a:gd name="connsiteY6" fmla="*/ 1089423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87333 w 6187334"/>
              <a:gd name="connsiteY4" fmla="*/ 940715 h 2183117"/>
              <a:gd name="connsiteX5" fmla="*/ 5712201 w 6187334"/>
              <a:gd name="connsiteY5" fmla="*/ 1036893 h 2183117"/>
              <a:gd name="connsiteX6" fmla="*/ 3976745 w 6187334"/>
              <a:gd name="connsiteY6" fmla="*/ 1062529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205779"/>
              <a:gd name="connsiteY0" fmla="*/ 363860 h 2183117"/>
              <a:gd name="connsiteX1" fmla="*/ 363860 w 6205779"/>
              <a:gd name="connsiteY1" fmla="*/ 0 h 2183117"/>
              <a:gd name="connsiteX2" fmla="*/ 5823474 w 6205779"/>
              <a:gd name="connsiteY2" fmla="*/ 0 h 2183117"/>
              <a:gd name="connsiteX3" fmla="*/ 6187334 w 6205779"/>
              <a:gd name="connsiteY3" fmla="*/ 363860 h 2183117"/>
              <a:gd name="connsiteX4" fmla="*/ 6187333 w 6205779"/>
              <a:gd name="connsiteY4" fmla="*/ 940715 h 2183117"/>
              <a:gd name="connsiteX5" fmla="*/ 5963213 w 6205779"/>
              <a:gd name="connsiteY5" fmla="*/ 1036893 h 2183117"/>
              <a:gd name="connsiteX6" fmla="*/ 3976745 w 6205779"/>
              <a:gd name="connsiteY6" fmla="*/ 1062529 h 2183117"/>
              <a:gd name="connsiteX7" fmla="*/ 3919259 w 6205779"/>
              <a:gd name="connsiteY7" fmla="*/ 1350660 h 2183117"/>
              <a:gd name="connsiteX8" fmla="*/ 3937190 w 6205779"/>
              <a:gd name="connsiteY8" fmla="*/ 1798895 h 2183117"/>
              <a:gd name="connsiteX9" fmla="*/ 3919259 w 6205779"/>
              <a:gd name="connsiteY9" fmla="*/ 2175413 h 2183117"/>
              <a:gd name="connsiteX10" fmla="*/ 3650318 w 6205779"/>
              <a:gd name="connsiteY10" fmla="*/ 2175413 h 2183117"/>
              <a:gd name="connsiteX11" fmla="*/ 363860 w 6205779"/>
              <a:gd name="connsiteY11" fmla="*/ 2183117 h 2183117"/>
              <a:gd name="connsiteX12" fmla="*/ 0 w 6205779"/>
              <a:gd name="connsiteY12" fmla="*/ 1819257 h 2183117"/>
              <a:gd name="connsiteX13" fmla="*/ 0 w 6205779"/>
              <a:gd name="connsiteY13" fmla="*/ 363860 h 2183117"/>
              <a:gd name="connsiteX0" fmla="*/ 0 w 6205779"/>
              <a:gd name="connsiteY0" fmla="*/ 363860 h 2183117"/>
              <a:gd name="connsiteX1" fmla="*/ 363860 w 6205779"/>
              <a:gd name="connsiteY1" fmla="*/ 0 h 2183117"/>
              <a:gd name="connsiteX2" fmla="*/ 5823474 w 6205779"/>
              <a:gd name="connsiteY2" fmla="*/ 0 h 2183117"/>
              <a:gd name="connsiteX3" fmla="*/ 6187334 w 6205779"/>
              <a:gd name="connsiteY3" fmla="*/ 363860 h 2183117"/>
              <a:gd name="connsiteX4" fmla="*/ 6187333 w 6205779"/>
              <a:gd name="connsiteY4" fmla="*/ 752456 h 2183117"/>
              <a:gd name="connsiteX5" fmla="*/ 5963213 w 6205779"/>
              <a:gd name="connsiteY5" fmla="*/ 1036893 h 2183117"/>
              <a:gd name="connsiteX6" fmla="*/ 3976745 w 6205779"/>
              <a:gd name="connsiteY6" fmla="*/ 1062529 h 2183117"/>
              <a:gd name="connsiteX7" fmla="*/ 3919259 w 6205779"/>
              <a:gd name="connsiteY7" fmla="*/ 1350660 h 2183117"/>
              <a:gd name="connsiteX8" fmla="*/ 3937190 w 6205779"/>
              <a:gd name="connsiteY8" fmla="*/ 1798895 h 2183117"/>
              <a:gd name="connsiteX9" fmla="*/ 3919259 w 6205779"/>
              <a:gd name="connsiteY9" fmla="*/ 2175413 h 2183117"/>
              <a:gd name="connsiteX10" fmla="*/ 3650318 w 6205779"/>
              <a:gd name="connsiteY10" fmla="*/ 2175413 h 2183117"/>
              <a:gd name="connsiteX11" fmla="*/ 363860 w 6205779"/>
              <a:gd name="connsiteY11" fmla="*/ 2183117 h 2183117"/>
              <a:gd name="connsiteX12" fmla="*/ 0 w 6205779"/>
              <a:gd name="connsiteY12" fmla="*/ 1819257 h 2183117"/>
              <a:gd name="connsiteX13" fmla="*/ 0 w 6205779"/>
              <a:gd name="connsiteY13" fmla="*/ 363860 h 2183117"/>
              <a:gd name="connsiteX0" fmla="*/ 0 w 6205779"/>
              <a:gd name="connsiteY0" fmla="*/ 363860 h 2183117"/>
              <a:gd name="connsiteX1" fmla="*/ 363860 w 6205779"/>
              <a:gd name="connsiteY1" fmla="*/ 0 h 2183117"/>
              <a:gd name="connsiteX2" fmla="*/ 5823474 w 6205779"/>
              <a:gd name="connsiteY2" fmla="*/ 0 h 2183117"/>
              <a:gd name="connsiteX3" fmla="*/ 6187334 w 6205779"/>
              <a:gd name="connsiteY3" fmla="*/ 363860 h 2183117"/>
              <a:gd name="connsiteX4" fmla="*/ 6187333 w 6205779"/>
              <a:gd name="connsiteY4" fmla="*/ 680738 h 2183117"/>
              <a:gd name="connsiteX5" fmla="*/ 5963213 w 6205779"/>
              <a:gd name="connsiteY5" fmla="*/ 1036893 h 2183117"/>
              <a:gd name="connsiteX6" fmla="*/ 3976745 w 6205779"/>
              <a:gd name="connsiteY6" fmla="*/ 1062529 h 2183117"/>
              <a:gd name="connsiteX7" fmla="*/ 3919259 w 6205779"/>
              <a:gd name="connsiteY7" fmla="*/ 1350660 h 2183117"/>
              <a:gd name="connsiteX8" fmla="*/ 3937190 w 6205779"/>
              <a:gd name="connsiteY8" fmla="*/ 1798895 h 2183117"/>
              <a:gd name="connsiteX9" fmla="*/ 3919259 w 6205779"/>
              <a:gd name="connsiteY9" fmla="*/ 2175413 h 2183117"/>
              <a:gd name="connsiteX10" fmla="*/ 3650318 w 6205779"/>
              <a:gd name="connsiteY10" fmla="*/ 2175413 h 2183117"/>
              <a:gd name="connsiteX11" fmla="*/ 363860 w 6205779"/>
              <a:gd name="connsiteY11" fmla="*/ 2183117 h 2183117"/>
              <a:gd name="connsiteX12" fmla="*/ 0 w 6205779"/>
              <a:gd name="connsiteY12" fmla="*/ 1819257 h 2183117"/>
              <a:gd name="connsiteX13" fmla="*/ 0 w 6205779"/>
              <a:gd name="connsiteY13" fmla="*/ 363860 h 2183117"/>
              <a:gd name="connsiteX0" fmla="*/ 0 w 6201126"/>
              <a:gd name="connsiteY0" fmla="*/ 363860 h 2183117"/>
              <a:gd name="connsiteX1" fmla="*/ 363860 w 6201126"/>
              <a:gd name="connsiteY1" fmla="*/ 0 h 2183117"/>
              <a:gd name="connsiteX2" fmla="*/ 5823474 w 6201126"/>
              <a:gd name="connsiteY2" fmla="*/ 0 h 2183117"/>
              <a:gd name="connsiteX3" fmla="*/ 6187334 w 6201126"/>
              <a:gd name="connsiteY3" fmla="*/ 363860 h 2183117"/>
              <a:gd name="connsiteX4" fmla="*/ 6178368 w 6201126"/>
              <a:gd name="connsiteY4" fmla="*/ 528338 h 2183117"/>
              <a:gd name="connsiteX5" fmla="*/ 5963213 w 6201126"/>
              <a:gd name="connsiteY5" fmla="*/ 1036893 h 2183117"/>
              <a:gd name="connsiteX6" fmla="*/ 3976745 w 6201126"/>
              <a:gd name="connsiteY6" fmla="*/ 1062529 h 2183117"/>
              <a:gd name="connsiteX7" fmla="*/ 3919259 w 6201126"/>
              <a:gd name="connsiteY7" fmla="*/ 1350660 h 2183117"/>
              <a:gd name="connsiteX8" fmla="*/ 3937190 w 6201126"/>
              <a:gd name="connsiteY8" fmla="*/ 1798895 h 2183117"/>
              <a:gd name="connsiteX9" fmla="*/ 3919259 w 6201126"/>
              <a:gd name="connsiteY9" fmla="*/ 2175413 h 2183117"/>
              <a:gd name="connsiteX10" fmla="*/ 3650318 w 6201126"/>
              <a:gd name="connsiteY10" fmla="*/ 2175413 h 2183117"/>
              <a:gd name="connsiteX11" fmla="*/ 363860 w 6201126"/>
              <a:gd name="connsiteY11" fmla="*/ 2183117 h 2183117"/>
              <a:gd name="connsiteX12" fmla="*/ 0 w 6201126"/>
              <a:gd name="connsiteY12" fmla="*/ 1819257 h 2183117"/>
              <a:gd name="connsiteX13" fmla="*/ 0 w 6201126"/>
              <a:gd name="connsiteY13" fmla="*/ 363860 h 2183117"/>
              <a:gd name="connsiteX0" fmla="*/ 0 w 6187334"/>
              <a:gd name="connsiteY0" fmla="*/ 363860 h 2183117"/>
              <a:gd name="connsiteX1" fmla="*/ 363860 w 6187334"/>
              <a:gd name="connsiteY1" fmla="*/ 0 h 2183117"/>
              <a:gd name="connsiteX2" fmla="*/ 5823474 w 6187334"/>
              <a:gd name="connsiteY2" fmla="*/ 0 h 2183117"/>
              <a:gd name="connsiteX3" fmla="*/ 6187334 w 6187334"/>
              <a:gd name="connsiteY3" fmla="*/ 363860 h 2183117"/>
              <a:gd name="connsiteX4" fmla="*/ 6178368 w 6187334"/>
              <a:gd name="connsiteY4" fmla="*/ 528338 h 2183117"/>
              <a:gd name="connsiteX5" fmla="*/ 5882531 w 6187334"/>
              <a:gd name="connsiteY5" fmla="*/ 1063787 h 2183117"/>
              <a:gd name="connsiteX6" fmla="*/ 3976745 w 6187334"/>
              <a:gd name="connsiteY6" fmla="*/ 1062529 h 2183117"/>
              <a:gd name="connsiteX7" fmla="*/ 3919259 w 6187334"/>
              <a:gd name="connsiteY7" fmla="*/ 1350660 h 2183117"/>
              <a:gd name="connsiteX8" fmla="*/ 3937190 w 6187334"/>
              <a:gd name="connsiteY8" fmla="*/ 1798895 h 2183117"/>
              <a:gd name="connsiteX9" fmla="*/ 3919259 w 6187334"/>
              <a:gd name="connsiteY9" fmla="*/ 2175413 h 2183117"/>
              <a:gd name="connsiteX10" fmla="*/ 3650318 w 6187334"/>
              <a:gd name="connsiteY10" fmla="*/ 2175413 h 2183117"/>
              <a:gd name="connsiteX11" fmla="*/ 363860 w 6187334"/>
              <a:gd name="connsiteY11" fmla="*/ 2183117 h 2183117"/>
              <a:gd name="connsiteX12" fmla="*/ 0 w 6187334"/>
              <a:gd name="connsiteY12" fmla="*/ 1819257 h 2183117"/>
              <a:gd name="connsiteX13" fmla="*/ 0 w 6187334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919259 w 6205262"/>
              <a:gd name="connsiteY7" fmla="*/ 1350660 h 2183117"/>
              <a:gd name="connsiteX8" fmla="*/ 3937190 w 6205262"/>
              <a:gd name="connsiteY8" fmla="*/ 1798895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686177 w 6205262"/>
              <a:gd name="connsiteY7" fmla="*/ 1314801 h 2183117"/>
              <a:gd name="connsiteX8" fmla="*/ 3937190 w 6205262"/>
              <a:gd name="connsiteY8" fmla="*/ 1798895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686177 w 6205262"/>
              <a:gd name="connsiteY7" fmla="*/ 13148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3976745 w 6205262"/>
              <a:gd name="connsiteY6" fmla="*/ 1062529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129145 w 6205262"/>
              <a:gd name="connsiteY6" fmla="*/ 1107352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919259 w 6205262"/>
              <a:gd name="connsiteY9" fmla="*/ 2175413 h 2183117"/>
              <a:gd name="connsiteX10" fmla="*/ 3650318 w 6205262"/>
              <a:gd name="connsiteY10" fmla="*/ 2175413 h 2183117"/>
              <a:gd name="connsiteX11" fmla="*/ 363860 w 6205262"/>
              <a:gd name="connsiteY11" fmla="*/ 2183117 h 2183117"/>
              <a:gd name="connsiteX12" fmla="*/ 0 w 6205262"/>
              <a:gd name="connsiteY12" fmla="*/ 1819257 h 2183117"/>
              <a:gd name="connsiteX13" fmla="*/ 0 w 6205262"/>
              <a:gd name="connsiteY13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650318 w 6205262"/>
              <a:gd name="connsiteY9" fmla="*/ 2175413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68249 w 6205262"/>
              <a:gd name="connsiteY8" fmla="*/ 1888542 h 2183117"/>
              <a:gd name="connsiteX9" fmla="*/ 3650318 w 6205262"/>
              <a:gd name="connsiteY9" fmla="*/ 2175413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95143 w 6205262"/>
              <a:gd name="connsiteY8" fmla="*/ 1565813 h 2183117"/>
              <a:gd name="connsiteX9" fmla="*/ 3650318 w 6205262"/>
              <a:gd name="connsiteY9" fmla="*/ 2175413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98016"/>
              <a:gd name="connsiteX1" fmla="*/ 363860 w 6205262"/>
              <a:gd name="connsiteY1" fmla="*/ 0 h 2198016"/>
              <a:gd name="connsiteX2" fmla="*/ 5823474 w 6205262"/>
              <a:gd name="connsiteY2" fmla="*/ 0 h 2198016"/>
              <a:gd name="connsiteX3" fmla="*/ 6187334 w 6205262"/>
              <a:gd name="connsiteY3" fmla="*/ 363860 h 2198016"/>
              <a:gd name="connsiteX4" fmla="*/ 6205262 w 6205262"/>
              <a:gd name="connsiteY4" fmla="*/ 698668 h 2198016"/>
              <a:gd name="connsiteX5" fmla="*/ 5882531 w 6205262"/>
              <a:gd name="connsiteY5" fmla="*/ 1063787 h 2198016"/>
              <a:gd name="connsiteX6" fmla="*/ 4649098 w 6205262"/>
              <a:gd name="connsiteY6" fmla="*/ 1089423 h 2198016"/>
              <a:gd name="connsiteX7" fmla="*/ 3713071 w 6205262"/>
              <a:gd name="connsiteY7" fmla="*/ 1162401 h 2198016"/>
              <a:gd name="connsiteX8" fmla="*/ 3695143 w 6205262"/>
              <a:gd name="connsiteY8" fmla="*/ 1565813 h 2198016"/>
              <a:gd name="connsiteX9" fmla="*/ 3650318 w 6205262"/>
              <a:gd name="connsiteY9" fmla="*/ 2175413 h 2198016"/>
              <a:gd name="connsiteX10" fmla="*/ 363860 w 6205262"/>
              <a:gd name="connsiteY10" fmla="*/ 2183117 h 2198016"/>
              <a:gd name="connsiteX11" fmla="*/ 0 w 6205262"/>
              <a:gd name="connsiteY11" fmla="*/ 1819257 h 2198016"/>
              <a:gd name="connsiteX12" fmla="*/ 0 w 6205262"/>
              <a:gd name="connsiteY12" fmla="*/ 363860 h 2198016"/>
              <a:gd name="connsiteX0" fmla="*/ 0 w 6205262"/>
              <a:gd name="connsiteY0" fmla="*/ 363860 h 2187112"/>
              <a:gd name="connsiteX1" fmla="*/ 363860 w 6205262"/>
              <a:gd name="connsiteY1" fmla="*/ 0 h 2187112"/>
              <a:gd name="connsiteX2" fmla="*/ 5823474 w 6205262"/>
              <a:gd name="connsiteY2" fmla="*/ 0 h 2187112"/>
              <a:gd name="connsiteX3" fmla="*/ 6187334 w 6205262"/>
              <a:gd name="connsiteY3" fmla="*/ 363860 h 2187112"/>
              <a:gd name="connsiteX4" fmla="*/ 6205262 w 6205262"/>
              <a:gd name="connsiteY4" fmla="*/ 698668 h 2187112"/>
              <a:gd name="connsiteX5" fmla="*/ 5882531 w 6205262"/>
              <a:gd name="connsiteY5" fmla="*/ 1063787 h 2187112"/>
              <a:gd name="connsiteX6" fmla="*/ 4649098 w 6205262"/>
              <a:gd name="connsiteY6" fmla="*/ 1089423 h 2187112"/>
              <a:gd name="connsiteX7" fmla="*/ 3713071 w 6205262"/>
              <a:gd name="connsiteY7" fmla="*/ 1162401 h 2187112"/>
              <a:gd name="connsiteX8" fmla="*/ 3695143 w 6205262"/>
              <a:gd name="connsiteY8" fmla="*/ 1565813 h 2187112"/>
              <a:gd name="connsiteX9" fmla="*/ 3677212 w 6205262"/>
              <a:gd name="connsiteY9" fmla="*/ 2157483 h 2187112"/>
              <a:gd name="connsiteX10" fmla="*/ 363860 w 6205262"/>
              <a:gd name="connsiteY10" fmla="*/ 2183117 h 2187112"/>
              <a:gd name="connsiteX11" fmla="*/ 0 w 6205262"/>
              <a:gd name="connsiteY11" fmla="*/ 1819257 h 2187112"/>
              <a:gd name="connsiteX12" fmla="*/ 0 w 6205262"/>
              <a:gd name="connsiteY12" fmla="*/ 363860 h 2187112"/>
              <a:gd name="connsiteX0" fmla="*/ 0 w 6205262"/>
              <a:gd name="connsiteY0" fmla="*/ 363860 h 2187112"/>
              <a:gd name="connsiteX1" fmla="*/ 363860 w 6205262"/>
              <a:gd name="connsiteY1" fmla="*/ 0 h 2187112"/>
              <a:gd name="connsiteX2" fmla="*/ 5823474 w 6205262"/>
              <a:gd name="connsiteY2" fmla="*/ 0 h 2187112"/>
              <a:gd name="connsiteX3" fmla="*/ 6187334 w 6205262"/>
              <a:gd name="connsiteY3" fmla="*/ 363860 h 2187112"/>
              <a:gd name="connsiteX4" fmla="*/ 6205262 w 6205262"/>
              <a:gd name="connsiteY4" fmla="*/ 698668 h 2187112"/>
              <a:gd name="connsiteX5" fmla="*/ 5882531 w 6205262"/>
              <a:gd name="connsiteY5" fmla="*/ 1063787 h 2187112"/>
              <a:gd name="connsiteX6" fmla="*/ 4649098 w 6205262"/>
              <a:gd name="connsiteY6" fmla="*/ 1089423 h 2187112"/>
              <a:gd name="connsiteX7" fmla="*/ 3713071 w 6205262"/>
              <a:gd name="connsiteY7" fmla="*/ 1162401 h 2187112"/>
              <a:gd name="connsiteX8" fmla="*/ 3695143 w 6205262"/>
              <a:gd name="connsiteY8" fmla="*/ 1565813 h 2187112"/>
              <a:gd name="connsiteX9" fmla="*/ 3677212 w 6205262"/>
              <a:gd name="connsiteY9" fmla="*/ 2157483 h 2187112"/>
              <a:gd name="connsiteX10" fmla="*/ 363860 w 6205262"/>
              <a:gd name="connsiteY10" fmla="*/ 2183117 h 2187112"/>
              <a:gd name="connsiteX11" fmla="*/ 0 w 6205262"/>
              <a:gd name="connsiteY11" fmla="*/ 1819257 h 2187112"/>
              <a:gd name="connsiteX12" fmla="*/ 0 w 6205262"/>
              <a:gd name="connsiteY12" fmla="*/ 363860 h 2187112"/>
              <a:gd name="connsiteX0" fmla="*/ 0 w 6205262"/>
              <a:gd name="connsiteY0" fmla="*/ 363860 h 2183550"/>
              <a:gd name="connsiteX1" fmla="*/ 363860 w 6205262"/>
              <a:gd name="connsiteY1" fmla="*/ 0 h 2183550"/>
              <a:gd name="connsiteX2" fmla="*/ 5823474 w 6205262"/>
              <a:gd name="connsiteY2" fmla="*/ 0 h 2183550"/>
              <a:gd name="connsiteX3" fmla="*/ 6187334 w 6205262"/>
              <a:gd name="connsiteY3" fmla="*/ 363860 h 2183550"/>
              <a:gd name="connsiteX4" fmla="*/ 6205262 w 6205262"/>
              <a:gd name="connsiteY4" fmla="*/ 698668 h 2183550"/>
              <a:gd name="connsiteX5" fmla="*/ 5882531 w 6205262"/>
              <a:gd name="connsiteY5" fmla="*/ 1063787 h 2183550"/>
              <a:gd name="connsiteX6" fmla="*/ 4649098 w 6205262"/>
              <a:gd name="connsiteY6" fmla="*/ 1089423 h 2183550"/>
              <a:gd name="connsiteX7" fmla="*/ 3713071 w 6205262"/>
              <a:gd name="connsiteY7" fmla="*/ 1162401 h 2183550"/>
              <a:gd name="connsiteX8" fmla="*/ 3695143 w 6205262"/>
              <a:gd name="connsiteY8" fmla="*/ 1565813 h 2183550"/>
              <a:gd name="connsiteX9" fmla="*/ 3677212 w 6205262"/>
              <a:gd name="connsiteY9" fmla="*/ 2148518 h 2183550"/>
              <a:gd name="connsiteX10" fmla="*/ 363860 w 6205262"/>
              <a:gd name="connsiteY10" fmla="*/ 2183117 h 2183550"/>
              <a:gd name="connsiteX11" fmla="*/ 0 w 6205262"/>
              <a:gd name="connsiteY11" fmla="*/ 1819257 h 2183550"/>
              <a:gd name="connsiteX12" fmla="*/ 0 w 6205262"/>
              <a:gd name="connsiteY12" fmla="*/ 363860 h 2183550"/>
              <a:gd name="connsiteX0" fmla="*/ 0 w 6205262"/>
              <a:gd name="connsiteY0" fmla="*/ 363860 h 2186185"/>
              <a:gd name="connsiteX1" fmla="*/ 363860 w 6205262"/>
              <a:gd name="connsiteY1" fmla="*/ 0 h 2186185"/>
              <a:gd name="connsiteX2" fmla="*/ 5823474 w 6205262"/>
              <a:gd name="connsiteY2" fmla="*/ 0 h 2186185"/>
              <a:gd name="connsiteX3" fmla="*/ 6187334 w 6205262"/>
              <a:gd name="connsiteY3" fmla="*/ 363860 h 2186185"/>
              <a:gd name="connsiteX4" fmla="*/ 6205262 w 6205262"/>
              <a:gd name="connsiteY4" fmla="*/ 698668 h 2186185"/>
              <a:gd name="connsiteX5" fmla="*/ 5882531 w 6205262"/>
              <a:gd name="connsiteY5" fmla="*/ 1063787 h 2186185"/>
              <a:gd name="connsiteX6" fmla="*/ 4649098 w 6205262"/>
              <a:gd name="connsiteY6" fmla="*/ 1089423 h 2186185"/>
              <a:gd name="connsiteX7" fmla="*/ 3713071 w 6205262"/>
              <a:gd name="connsiteY7" fmla="*/ 1162401 h 2186185"/>
              <a:gd name="connsiteX8" fmla="*/ 3695143 w 6205262"/>
              <a:gd name="connsiteY8" fmla="*/ 1565813 h 2186185"/>
              <a:gd name="connsiteX9" fmla="*/ 3677212 w 6205262"/>
              <a:gd name="connsiteY9" fmla="*/ 2148518 h 2186185"/>
              <a:gd name="connsiteX10" fmla="*/ 363860 w 6205262"/>
              <a:gd name="connsiteY10" fmla="*/ 2183117 h 2186185"/>
              <a:gd name="connsiteX11" fmla="*/ 0 w 6205262"/>
              <a:gd name="connsiteY11" fmla="*/ 1819257 h 2186185"/>
              <a:gd name="connsiteX12" fmla="*/ 0 w 6205262"/>
              <a:gd name="connsiteY12" fmla="*/ 363860 h 2186185"/>
              <a:gd name="connsiteX0" fmla="*/ 0 w 6205262"/>
              <a:gd name="connsiteY0" fmla="*/ 363860 h 2186185"/>
              <a:gd name="connsiteX1" fmla="*/ 363860 w 6205262"/>
              <a:gd name="connsiteY1" fmla="*/ 0 h 2186185"/>
              <a:gd name="connsiteX2" fmla="*/ 5823474 w 6205262"/>
              <a:gd name="connsiteY2" fmla="*/ 0 h 2186185"/>
              <a:gd name="connsiteX3" fmla="*/ 6187334 w 6205262"/>
              <a:gd name="connsiteY3" fmla="*/ 363860 h 2186185"/>
              <a:gd name="connsiteX4" fmla="*/ 6205262 w 6205262"/>
              <a:gd name="connsiteY4" fmla="*/ 698668 h 2186185"/>
              <a:gd name="connsiteX5" fmla="*/ 5882531 w 6205262"/>
              <a:gd name="connsiteY5" fmla="*/ 1063787 h 2186185"/>
              <a:gd name="connsiteX6" fmla="*/ 4649098 w 6205262"/>
              <a:gd name="connsiteY6" fmla="*/ 1089423 h 2186185"/>
              <a:gd name="connsiteX7" fmla="*/ 3713071 w 6205262"/>
              <a:gd name="connsiteY7" fmla="*/ 1162401 h 2186185"/>
              <a:gd name="connsiteX8" fmla="*/ 3695143 w 6205262"/>
              <a:gd name="connsiteY8" fmla="*/ 1565813 h 2186185"/>
              <a:gd name="connsiteX9" fmla="*/ 3677212 w 6205262"/>
              <a:gd name="connsiteY9" fmla="*/ 2148518 h 2186185"/>
              <a:gd name="connsiteX10" fmla="*/ 363860 w 6205262"/>
              <a:gd name="connsiteY10" fmla="*/ 2183117 h 2186185"/>
              <a:gd name="connsiteX11" fmla="*/ 0 w 6205262"/>
              <a:gd name="connsiteY11" fmla="*/ 1819257 h 2186185"/>
              <a:gd name="connsiteX12" fmla="*/ 0 w 6205262"/>
              <a:gd name="connsiteY12" fmla="*/ 363860 h 2186185"/>
              <a:gd name="connsiteX0" fmla="*/ 0 w 6205262"/>
              <a:gd name="connsiteY0" fmla="*/ 363860 h 2186185"/>
              <a:gd name="connsiteX1" fmla="*/ 363860 w 6205262"/>
              <a:gd name="connsiteY1" fmla="*/ 0 h 2186185"/>
              <a:gd name="connsiteX2" fmla="*/ 5823474 w 6205262"/>
              <a:gd name="connsiteY2" fmla="*/ 0 h 2186185"/>
              <a:gd name="connsiteX3" fmla="*/ 6187334 w 6205262"/>
              <a:gd name="connsiteY3" fmla="*/ 363860 h 2186185"/>
              <a:gd name="connsiteX4" fmla="*/ 6205262 w 6205262"/>
              <a:gd name="connsiteY4" fmla="*/ 698668 h 2186185"/>
              <a:gd name="connsiteX5" fmla="*/ 5882531 w 6205262"/>
              <a:gd name="connsiteY5" fmla="*/ 1063787 h 2186185"/>
              <a:gd name="connsiteX6" fmla="*/ 4649098 w 6205262"/>
              <a:gd name="connsiteY6" fmla="*/ 1089423 h 2186185"/>
              <a:gd name="connsiteX7" fmla="*/ 3713071 w 6205262"/>
              <a:gd name="connsiteY7" fmla="*/ 1162401 h 2186185"/>
              <a:gd name="connsiteX8" fmla="*/ 3695143 w 6205262"/>
              <a:gd name="connsiteY8" fmla="*/ 1565813 h 2186185"/>
              <a:gd name="connsiteX9" fmla="*/ 3677212 w 6205262"/>
              <a:gd name="connsiteY9" fmla="*/ 2148518 h 2186185"/>
              <a:gd name="connsiteX10" fmla="*/ 363860 w 6205262"/>
              <a:gd name="connsiteY10" fmla="*/ 2183117 h 2186185"/>
              <a:gd name="connsiteX11" fmla="*/ 0 w 6205262"/>
              <a:gd name="connsiteY11" fmla="*/ 1819257 h 2186185"/>
              <a:gd name="connsiteX12" fmla="*/ 0 w 6205262"/>
              <a:gd name="connsiteY12" fmla="*/ 363860 h 2186185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95143 w 6205262"/>
              <a:gd name="connsiteY8" fmla="*/ 1565813 h 2183117"/>
              <a:gd name="connsiteX9" fmla="*/ 3596529 w 6205262"/>
              <a:gd name="connsiteY9" fmla="*/ 2112660 h 2183117"/>
              <a:gd name="connsiteX10" fmla="*/ 363860 w 6205262"/>
              <a:gd name="connsiteY10" fmla="*/ 2183117 h 2183117"/>
              <a:gd name="connsiteX11" fmla="*/ 0 w 6205262"/>
              <a:gd name="connsiteY11" fmla="*/ 1819257 h 2183117"/>
              <a:gd name="connsiteX12" fmla="*/ 0 w 6205262"/>
              <a:gd name="connsiteY12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695143 w 6205262"/>
              <a:gd name="connsiteY8" fmla="*/ 1565813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204718"/>
              <a:gd name="connsiteX1" fmla="*/ 363860 w 6205262"/>
              <a:gd name="connsiteY1" fmla="*/ 0 h 2204718"/>
              <a:gd name="connsiteX2" fmla="*/ 5823474 w 6205262"/>
              <a:gd name="connsiteY2" fmla="*/ 0 h 2204718"/>
              <a:gd name="connsiteX3" fmla="*/ 6187334 w 6205262"/>
              <a:gd name="connsiteY3" fmla="*/ 363860 h 2204718"/>
              <a:gd name="connsiteX4" fmla="*/ 6205262 w 6205262"/>
              <a:gd name="connsiteY4" fmla="*/ 698668 h 2204718"/>
              <a:gd name="connsiteX5" fmla="*/ 5882531 w 6205262"/>
              <a:gd name="connsiteY5" fmla="*/ 1063787 h 2204718"/>
              <a:gd name="connsiteX6" fmla="*/ 4649098 w 6205262"/>
              <a:gd name="connsiteY6" fmla="*/ 1089423 h 2204718"/>
              <a:gd name="connsiteX7" fmla="*/ 3713071 w 6205262"/>
              <a:gd name="connsiteY7" fmla="*/ 1162401 h 2204718"/>
              <a:gd name="connsiteX8" fmla="*/ 3731002 w 6205262"/>
              <a:gd name="connsiteY8" fmla="*/ 2121624 h 2204718"/>
              <a:gd name="connsiteX9" fmla="*/ 363860 w 6205262"/>
              <a:gd name="connsiteY9" fmla="*/ 2183117 h 2204718"/>
              <a:gd name="connsiteX10" fmla="*/ 0 w 6205262"/>
              <a:gd name="connsiteY10" fmla="*/ 1819257 h 2204718"/>
              <a:gd name="connsiteX11" fmla="*/ 0 w 6205262"/>
              <a:gd name="connsiteY11" fmla="*/ 363860 h 2204718"/>
              <a:gd name="connsiteX0" fmla="*/ 0 w 6205262"/>
              <a:gd name="connsiteY0" fmla="*/ 363860 h 2264028"/>
              <a:gd name="connsiteX1" fmla="*/ 363860 w 6205262"/>
              <a:gd name="connsiteY1" fmla="*/ 0 h 2264028"/>
              <a:gd name="connsiteX2" fmla="*/ 5823474 w 6205262"/>
              <a:gd name="connsiteY2" fmla="*/ 0 h 2264028"/>
              <a:gd name="connsiteX3" fmla="*/ 6187334 w 6205262"/>
              <a:gd name="connsiteY3" fmla="*/ 363860 h 2264028"/>
              <a:gd name="connsiteX4" fmla="*/ 6205262 w 6205262"/>
              <a:gd name="connsiteY4" fmla="*/ 698668 h 2264028"/>
              <a:gd name="connsiteX5" fmla="*/ 5882531 w 6205262"/>
              <a:gd name="connsiteY5" fmla="*/ 1063787 h 2264028"/>
              <a:gd name="connsiteX6" fmla="*/ 4649098 w 6205262"/>
              <a:gd name="connsiteY6" fmla="*/ 1089423 h 2264028"/>
              <a:gd name="connsiteX7" fmla="*/ 3713071 w 6205262"/>
              <a:gd name="connsiteY7" fmla="*/ 1162401 h 2264028"/>
              <a:gd name="connsiteX8" fmla="*/ 3731002 w 6205262"/>
              <a:gd name="connsiteY8" fmla="*/ 2121624 h 2264028"/>
              <a:gd name="connsiteX9" fmla="*/ 363860 w 6205262"/>
              <a:gd name="connsiteY9" fmla="*/ 2183117 h 2264028"/>
              <a:gd name="connsiteX10" fmla="*/ 0 w 6205262"/>
              <a:gd name="connsiteY10" fmla="*/ 1819257 h 2264028"/>
              <a:gd name="connsiteX11" fmla="*/ 0 w 6205262"/>
              <a:gd name="connsiteY11" fmla="*/ 363860 h 2264028"/>
              <a:gd name="connsiteX0" fmla="*/ 0 w 6205262"/>
              <a:gd name="connsiteY0" fmla="*/ 363860 h 2185240"/>
              <a:gd name="connsiteX1" fmla="*/ 363860 w 6205262"/>
              <a:gd name="connsiteY1" fmla="*/ 0 h 2185240"/>
              <a:gd name="connsiteX2" fmla="*/ 5823474 w 6205262"/>
              <a:gd name="connsiteY2" fmla="*/ 0 h 2185240"/>
              <a:gd name="connsiteX3" fmla="*/ 6187334 w 6205262"/>
              <a:gd name="connsiteY3" fmla="*/ 363860 h 2185240"/>
              <a:gd name="connsiteX4" fmla="*/ 6205262 w 6205262"/>
              <a:gd name="connsiteY4" fmla="*/ 698668 h 2185240"/>
              <a:gd name="connsiteX5" fmla="*/ 5882531 w 6205262"/>
              <a:gd name="connsiteY5" fmla="*/ 1063787 h 2185240"/>
              <a:gd name="connsiteX6" fmla="*/ 4649098 w 6205262"/>
              <a:gd name="connsiteY6" fmla="*/ 1089423 h 2185240"/>
              <a:gd name="connsiteX7" fmla="*/ 3713071 w 6205262"/>
              <a:gd name="connsiteY7" fmla="*/ 1162401 h 2185240"/>
              <a:gd name="connsiteX8" fmla="*/ 3731002 w 6205262"/>
              <a:gd name="connsiteY8" fmla="*/ 2121624 h 2185240"/>
              <a:gd name="connsiteX9" fmla="*/ 363860 w 6205262"/>
              <a:gd name="connsiteY9" fmla="*/ 2183117 h 2185240"/>
              <a:gd name="connsiteX10" fmla="*/ 0 w 6205262"/>
              <a:gd name="connsiteY10" fmla="*/ 1819257 h 2185240"/>
              <a:gd name="connsiteX11" fmla="*/ 0 w 6205262"/>
              <a:gd name="connsiteY11" fmla="*/ 363860 h 2185240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31002 w 6205262"/>
              <a:gd name="connsiteY8" fmla="*/ 2121624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31002 w 6205262"/>
              <a:gd name="connsiteY8" fmla="*/ 2121624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31002 w 6205262"/>
              <a:gd name="connsiteY8" fmla="*/ 2121624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722038 w 6205262"/>
              <a:gd name="connsiteY8" fmla="*/ 2014048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7014"/>
              <a:gd name="connsiteX1" fmla="*/ 363860 w 6205262"/>
              <a:gd name="connsiteY1" fmla="*/ 0 h 2187014"/>
              <a:gd name="connsiteX2" fmla="*/ 5823474 w 6205262"/>
              <a:gd name="connsiteY2" fmla="*/ 0 h 2187014"/>
              <a:gd name="connsiteX3" fmla="*/ 6187334 w 6205262"/>
              <a:gd name="connsiteY3" fmla="*/ 363860 h 2187014"/>
              <a:gd name="connsiteX4" fmla="*/ 6205262 w 6205262"/>
              <a:gd name="connsiteY4" fmla="*/ 698668 h 2187014"/>
              <a:gd name="connsiteX5" fmla="*/ 5882531 w 6205262"/>
              <a:gd name="connsiteY5" fmla="*/ 1063787 h 2187014"/>
              <a:gd name="connsiteX6" fmla="*/ 4649098 w 6205262"/>
              <a:gd name="connsiteY6" fmla="*/ 1089423 h 2187014"/>
              <a:gd name="connsiteX7" fmla="*/ 3713071 w 6205262"/>
              <a:gd name="connsiteY7" fmla="*/ 1162401 h 2187014"/>
              <a:gd name="connsiteX8" fmla="*/ 3722038 w 6205262"/>
              <a:gd name="connsiteY8" fmla="*/ 2014048 h 2187014"/>
              <a:gd name="connsiteX9" fmla="*/ 363860 w 6205262"/>
              <a:gd name="connsiteY9" fmla="*/ 2183117 h 2187014"/>
              <a:gd name="connsiteX10" fmla="*/ 0 w 6205262"/>
              <a:gd name="connsiteY10" fmla="*/ 1819257 h 2187014"/>
              <a:gd name="connsiteX11" fmla="*/ 0 w 6205262"/>
              <a:gd name="connsiteY11" fmla="*/ 363860 h 2187014"/>
              <a:gd name="connsiteX0" fmla="*/ 0 w 6205262"/>
              <a:gd name="connsiteY0" fmla="*/ 363860 h 2227832"/>
              <a:gd name="connsiteX1" fmla="*/ 363860 w 6205262"/>
              <a:gd name="connsiteY1" fmla="*/ 0 h 2227832"/>
              <a:gd name="connsiteX2" fmla="*/ 5823474 w 6205262"/>
              <a:gd name="connsiteY2" fmla="*/ 0 h 2227832"/>
              <a:gd name="connsiteX3" fmla="*/ 6187334 w 6205262"/>
              <a:gd name="connsiteY3" fmla="*/ 363860 h 2227832"/>
              <a:gd name="connsiteX4" fmla="*/ 6205262 w 6205262"/>
              <a:gd name="connsiteY4" fmla="*/ 698668 h 2227832"/>
              <a:gd name="connsiteX5" fmla="*/ 5882531 w 6205262"/>
              <a:gd name="connsiteY5" fmla="*/ 1063787 h 2227832"/>
              <a:gd name="connsiteX6" fmla="*/ 4649098 w 6205262"/>
              <a:gd name="connsiteY6" fmla="*/ 1089423 h 2227832"/>
              <a:gd name="connsiteX7" fmla="*/ 3713071 w 6205262"/>
              <a:gd name="connsiteY7" fmla="*/ 1162401 h 2227832"/>
              <a:gd name="connsiteX8" fmla="*/ 3560674 w 6205262"/>
              <a:gd name="connsiteY8" fmla="*/ 2085766 h 2227832"/>
              <a:gd name="connsiteX9" fmla="*/ 363860 w 6205262"/>
              <a:gd name="connsiteY9" fmla="*/ 2183117 h 2227832"/>
              <a:gd name="connsiteX10" fmla="*/ 0 w 6205262"/>
              <a:gd name="connsiteY10" fmla="*/ 1819257 h 2227832"/>
              <a:gd name="connsiteX11" fmla="*/ 0 w 6205262"/>
              <a:gd name="connsiteY11" fmla="*/ 363860 h 2227832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560674 w 6205262"/>
              <a:gd name="connsiteY8" fmla="*/ 2085766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13071 w 6205262"/>
              <a:gd name="connsiteY7" fmla="*/ 1162401 h 2183117"/>
              <a:gd name="connsiteX8" fmla="*/ 3560674 w 6205262"/>
              <a:gd name="connsiteY8" fmla="*/ 2085766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  <a:gd name="connsiteX0" fmla="*/ 0 w 6205262"/>
              <a:gd name="connsiteY0" fmla="*/ 363860 h 2183117"/>
              <a:gd name="connsiteX1" fmla="*/ 363860 w 6205262"/>
              <a:gd name="connsiteY1" fmla="*/ 0 h 2183117"/>
              <a:gd name="connsiteX2" fmla="*/ 5823474 w 6205262"/>
              <a:gd name="connsiteY2" fmla="*/ 0 h 2183117"/>
              <a:gd name="connsiteX3" fmla="*/ 6187334 w 6205262"/>
              <a:gd name="connsiteY3" fmla="*/ 363860 h 2183117"/>
              <a:gd name="connsiteX4" fmla="*/ 6205262 w 6205262"/>
              <a:gd name="connsiteY4" fmla="*/ 698668 h 2183117"/>
              <a:gd name="connsiteX5" fmla="*/ 5882531 w 6205262"/>
              <a:gd name="connsiteY5" fmla="*/ 1063787 h 2183117"/>
              <a:gd name="connsiteX6" fmla="*/ 4649098 w 6205262"/>
              <a:gd name="connsiteY6" fmla="*/ 1089423 h 2183117"/>
              <a:gd name="connsiteX7" fmla="*/ 3775824 w 6205262"/>
              <a:gd name="connsiteY7" fmla="*/ 1117577 h 2183117"/>
              <a:gd name="connsiteX8" fmla="*/ 3560674 w 6205262"/>
              <a:gd name="connsiteY8" fmla="*/ 2085766 h 2183117"/>
              <a:gd name="connsiteX9" fmla="*/ 363860 w 6205262"/>
              <a:gd name="connsiteY9" fmla="*/ 2183117 h 2183117"/>
              <a:gd name="connsiteX10" fmla="*/ 0 w 6205262"/>
              <a:gd name="connsiteY10" fmla="*/ 1819257 h 2183117"/>
              <a:gd name="connsiteX11" fmla="*/ 0 w 6205262"/>
              <a:gd name="connsiteY11" fmla="*/ 363860 h 218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05262" h="2183117">
                <a:moveTo>
                  <a:pt x="0" y="363860"/>
                </a:moveTo>
                <a:cubicBezTo>
                  <a:pt x="0" y="162906"/>
                  <a:pt x="162906" y="0"/>
                  <a:pt x="363860" y="0"/>
                </a:cubicBezTo>
                <a:lnTo>
                  <a:pt x="5823474" y="0"/>
                </a:lnTo>
                <a:cubicBezTo>
                  <a:pt x="6024428" y="0"/>
                  <a:pt x="6187334" y="162906"/>
                  <a:pt x="6187334" y="363860"/>
                </a:cubicBezTo>
                <a:cubicBezTo>
                  <a:pt x="6187334" y="556145"/>
                  <a:pt x="6205262" y="506383"/>
                  <a:pt x="6205262" y="698668"/>
                </a:cubicBezTo>
                <a:cubicBezTo>
                  <a:pt x="6167909" y="786934"/>
                  <a:pt x="6267398" y="1016591"/>
                  <a:pt x="5882531" y="1063787"/>
                </a:cubicBezTo>
                <a:cubicBezTo>
                  <a:pt x="5497664" y="1110983"/>
                  <a:pt x="5059980" y="1087929"/>
                  <a:pt x="4649098" y="1089423"/>
                </a:cubicBezTo>
                <a:cubicBezTo>
                  <a:pt x="4056194" y="1077890"/>
                  <a:pt x="3893598" y="1021533"/>
                  <a:pt x="3775824" y="1117577"/>
                </a:cubicBezTo>
                <a:cubicBezTo>
                  <a:pt x="3781801" y="1437318"/>
                  <a:pt x="3698132" y="1326753"/>
                  <a:pt x="3560674" y="2085766"/>
                </a:cubicBezTo>
                <a:cubicBezTo>
                  <a:pt x="3011436" y="2228990"/>
                  <a:pt x="979717" y="2140876"/>
                  <a:pt x="363860" y="2183117"/>
                </a:cubicBezTo>
                <a:cubicBezTo>
                  <a:pt x="162906" y="2183117"/>
                  <a:pt x="0" y="2020211"/>
                  <a:pt x="0" y="1819257"/>
                </a:cubicBezTo>
                <a:lnTo>
                  <a:pt x="0" y="36386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468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200" dirty="0"/>
              <a:t>    Virtual </a:t>
            </a:r>
            <a:r>
              <a:rPr lang="fr-FR" sz="1200" dirty="0" err="1"/>
              <a:t>Private</a:t>
            </a:r>
            <a:r>
              <a:rPr lang="fr-FR" sz="1200" dirty="0"/>
              <a:t> Cloud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58705F2-3B22-539E-853D-ACCE082A5D7C}"/>
              </a:ext>
            </a:extLst>
          </p:cNvPr>
          <p:cNvSpPr/>
          <p:nvPr/>
        </p:nvSpPr>
        <p:spPr>
          <a:xfrm>
            <a:off x="6842948" y="4351296"/>
            <a:ext cx="1826728" cy="877188"/>
          </a:xfrm>
          <a:prstGeom prst="round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Amazon EC2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Airbyte</a:t>
            </a:r>
            <a:r>
              <a:rPr lang="fr-FR" dirty="0"/>
              <a:t>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F896DDF-FB62-432D-0C98-67CFA9D0AFEA}"/>
              </a:ext>
            </a:extLst>
          </p:cNvPr>
          <p:cNvSpPr/>
          <p:nvPr/>
        </p:nvSpPr>
        <p:spPr>
          <a:xfrm>
            <a:off x="4764015" y="2810668"/>
            <a:ext cx="1535292" cy="687891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Cloud Watch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FC557AA-73E9-FC44-FD7A-A7E4ADA5B6AD}"/>
              </a:ext>
            </a:extLst>
          </p:cNvPr>
          <p:cNvSpPr/>
          <p:nvPr/>
        </p:nvSpPr>
        <p:spPr>
          <a:xfrm>
            <a:off x="6453351" y="2789475"/>
            <a:ext cx="1158911" cy="790238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AWS Backups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BF793FC-BD0A-85D7-0576-B1EDF27E5B16}"/>
              </a:ext>
            </a:extLst>
          </p:cNvPr>
          <p:cNvSpPr/>
          <p:nvPr/>
        </p:nvSpPr>
        <p:spPr>
          <a:xfrm>
            <a:off x="7679049" y="2831159"/>
            <a:ext cx="1191442" cy="69088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IAM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EBB1859-3DA8-C04C-F09A-17B225ADB9CF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274770" y="3522039"/>
            <a:ext cx="0" cy="548311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0922AFF4-E75B-5FC6-A069-AAFFF8CC844A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>
            <a:off x="7032807" y="3579713"/>
            <a:ext cx="723505" cy="77158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C3CFF158-DDCA-5326-DEF1-C001DEB53A3D}"/>
              </a:ext>
            </a:extLst>
          </p:cNvPr>
          <p:cNvCxnSpPr>
            <a:cxnSpLocks/>
            <a:stCxn id="15" idx="2"/>
            <a:endCxn id="76" idx="0"/>
          </p:cNvCxnSpPr>
          <p:nvPr/>
        </p:nvCxnSpPr>
        <p:spPr>
          <a:xfrm flipH="1">
            <a:off x="5333850" y="3579713"/>
            <a:ext cx="1698957" cy="771583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3979061-72F0-8FFE-EFB2-243AAF9F9E9C}"/>
              </a:ext>
            </a:extLst>
          </p:cNvPr>
          <p:cNvCxnSpPr>
            <a:cxnSpLocks/>
            <a:stCxn id="14" idx="2"/>
            <a:endCxn id="76" idx="0"/>
          </p:cNvCxnSpPr>
          <p:nvPr/>
        </p:nvCxnSpPr>
        <p:spPr>
          <a:xfrm flipH="1">
            <a:off x="5333850" y="3498559"/>
            <a:ext cx="197811" cy="852737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A4C002F-DB07-DE7D-8250-A440E82F1627}"/>
              </a:ext>
            </a:extLst>
          </p:cNvPr>
          <p:cNvSpPr/>
          <p:nvPr/>
        </p:nvSpPr>
        <p:spPr>
          <a:xfrm>
            <a:off x="10263321" y="3156277"/>
            <a:ext cx="1416523" cy="684420"/>
          </a:xfrm>
          <a:prstGeom prst="roundRect">
            <a:avLst/>
          </a:prstGeom>
          <a:solidFill>
            <a:srgbClr val="C043CD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GitHub</a:t>
            </a:r>
          </a:p>
          <a:p>
            <a:pPr algn="ctr"/>
            <a:r>
              <a:rPr lang="fr-FR" sz="1400" dirty="0"/>
              <a:t>(Données Brutes)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689A193-A653-C0E3-2DE8-4D7CE4C81A01}"/>
              </a:ext>
            </a:extLst>
          </p:cNvPr>
          <p:cNvSpPr txBox="1"/>
          <p:nvPr/>
        </p:nvSpPr>
        <p:spPr>
          <a:xfrm>
            <a:off x="11142035" y="2470061"/>
            <a:ext cx="10062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Chargement .csv</a:t>
            </a:r>
          </a:p>
        </p:txBody>
      </p:sp>
      <p:cxnSp>
        <p:nvCxnSpPr>
          <p:cNvPr id="31" name="Connecteur : en arc 30">
            <a:extLst>
              <a:ext uri="{FF2B5EF4-FFF2-40B4-BE49-F238E27FC236}">
                <a16:creationId xmlns:a16="http://schemas.microsoft.com/office/drawing/2014/main" id="{66CDE15D-5224-4F7A-0AF8-EC626AAC8C24}"/>
              </a:ext>
            </a:extLst>
          </p:cNvPr>
          <p:cNvCxnSpPr>
            <a:cxnSpLocks/>
            <a:stCxn id="28" idx="2"/>
            <a:endCxn id="11" idx="3"/>
          </p:cNvCxnSpPr>
          <p:nvPr/>
        </p:nvCxnSpPr>
        <p:spPr>
          <a:xfrm rot="5400000">
            <a:off x="9346034" y="3164340"/>
            <a:ext cx="949193" cy="2301907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331C3B38-C085-03DF-E41C-AD36966DFED4}"/>
              </a:ext>
            </a:extLst>
          </p:cNvPr>
          <p:cNvSpPr txBox="1"/>
          <p:nvPr/>
        </p:nvSpPr>
        <p:spPr>
          <a:xfrm>
            <a:off x="10143470" y="6122540"/>
            <a:ext cx="1602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Déploiement image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3177527-189C-50AF-7580-C7D0DE64FF18}"/>
              </a:ext>
            </a:extLst>
          </p:cNvPr>
          <p:cNvSpPr txBox="1"/>
          <p:nvPr/>
        </p:nvSpPr>
        <p:spPr>
          <a:xfrm>
            <a:off x="7135516" y="3567516"/>
            <a:ext cx="73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Backup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059B31E-B037-E5BD-F115-73E9E480C7F2}"/>
              </a:ext>
            </a:extLst>
          </p:cNvPr>
          <p:cNvSpPr txBox="1"/>
          <p:nvPr/>
        </p:nvSpPr>
        <p:spPr>
          <a:xfrm>
            <a:off x="4739739" y="3456978"/>
            <a:ext cx="1349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Monitor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D00F317-7A94-58D9-1FB1-EDC4165ED61D}"/>
              </a:ext>
            </a:extLst>
          </p:cNvPr>
          <p:cNvSpPr txBox="1"/>
          <p:nvPr/>
        </p:nvSpPr>
        <p:spPr>
          <a:xfrm>
            <a:off x="7720791" y="2565114"/>
            <a:ext cx="1349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Contrôle accès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EF4A1DB5-6A2A-FFB4-D3E2-02090B7C0367}"/>
              </a:ext>
            </a:extLst>
          </p:cNvPr>
          <p:cNvSpPr/>
          <p:nvPr/>
        </p:nvSpPr>
        <p:spPr>
          <a:xfrm>
            <a:off x="6827491" y="5433671"/>
            <a:ext cx="1790063" cy="998991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Amazon ECR</a:t>
            </a:r>
          </a:p>
          <a:p>
            <a:pPr algn="ctr"/>
            <a:r>
              <a:rPr lang="fr-FR" sz="1600" dirty="0"/>
              <a:t>(Image DBT)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701AEC9E-27E0-FAD9-55AB-783DF77255B1}"/>
              </a:ext>
            </a:extLst>
          </p:cNvPr>
          <p:cNvSpPr/>
          <p:nvPr/>
        </p:nvSpPr>
        <p:spPr>
          <a:xfrm>
            <a:off x="4420486" y="4351296"/>
            <a:ext cx="1826728" cy="87718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Amazon RDS</a:t>
            </a:r>
          </a:p>
          <a:p>
            <a:pPr algn="ctr"/>
            <a:r>
              <a:rPr lang="fr-FR" dirty="0"/>
              <a:t>(</a:t>
            </a:r>
            <a:r>
              <a:rPr lang="fr-FR" dirty="0" err="1"/>
              <a:t>DataBase</a:t>
            </a:r>
            <a:r>
              <a:rPr lang="fr-FR" dirty="0"/>
              <a:t> PostgreSQL)</a:t>
            </a: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ECABB7B8-27D4-209B-4D49-63181B357F0B}"/>
              </a:ext>
            </a:extLst>
          </p:cNvPr>
          <p:cNvSpPr/>
          <p:nvPr/>
        </p:nvSpPr>
        <p:spPr>
          <a:xfrm>
            <a:off x="10244470" y="885120"/>
            <a:ext cx="1400680" cy="651942"/>
          </a:xfrm>
          <a:prstGeom prst="roundRect">
            <a:avLst/>
          </a:prstGeom>
          <a:solidFill>
            <a:srgbClr val="0070C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Utilisateur</a:t>
            </a:r>
          </a:p>
          <a:p>
            <a:pPr algn="ctr"/>
            <a:r>
              <a:rPr lang="fr-FR" sz="1200" dirty="0"/>
              <a:t>(</a:t>
            </a:r>
            <a:r>
              <a:rPr lang="fr-FR" sz="1200" dirty="0" err="1"/>
              <a:t>pre-processing</a:t>
            </a:r>
            <a:r>
              <a:rPr lang="fr-FR" sz="1200" dirty="0"/>
              <a:t>, </a:t>
            </a:r>
            <a:r>
              <a:rPr lang="fr-FR" sz="1200" dirty="0" err="1"/>
              <a:t>creation</a:t>
            </a:r>
            <a:r>
              <a:rPr lang="fr-FR" sz="1200" dirty="0"/>
              <a:t> projet</a:t>
            </a:r>
            <a:r>
              <a:rPr lang="fr-FR" sz="1100" dirty="0"/>
              <a:t>)</a:t>
            </a:r>
            <a:endParaRPr lang="fr-FR" sz="1200" dirty="0"/>
          </a:p>
        </p:txBody>
      </p:sp>
      <p:cxnSp>
        <p:nvCxnSpPr>
          <p:cNvPr id="95" name="Connecteur : en arc 94">
            <a:extLst>
              <a:ext uri="{FF2B5EF4-FFF2-40B4-BE49-F238E27FC236}">
                <a16:creationId xmlns:a16="http://schemas.microsoft.com/office/drawing/2014/main" id="{E9CBAAA8-1094-91A0-5E73-391C526D6216}"/>
              </a:ext>
            </a:extLst>
          </p:cNvPr>
          <p:cNvCxnSpPr>
            <a:cxnSpLocks/>
            <a:stCxn id="94" idx="2"/>
            <a:endCxn id="28" idx="0"/>
          </p:cNvCxnSpPr>
          <p:nvPr/>
        </p:nvCxnSpPr>
        <p:spPr>
          <a:xfrm rot="16200000" flipH="1">
            <a:off x="10148589" y="2333282"/>
            <a:ext cx="1619215" cy="26773"/>
          </a:xfrm>
          <a:prstGeom prst="curvedConnector3">
            <a:avLst>
              <a:gd name="adj1" fmla="val 78789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 : coins arrondis 100">
            <a:extLst>
              <a:ext uri="{FF2B5EF4-FFF2-40B4-BE49-F238E27FC236}">
                <a16:creationId xmlns:a16="http://schemas.microsoft.com/office/drawing/2014/main" id="{E4F4D53E-6129-C1E6-E279-7FBE0CF1550A}"/>
              </a:ext>
            </a:extLst>
          </p:cNvPr>
          <p:cNvSpPr/>
          <p:nvPr/>
        </p:nvSpPr>
        <p:spPr>
          <a:xfrm>
            <a:off x="9446778" y="4919506"/>
            <a:ext cx="1416523" cy="1081341"/>
          </a:xfrm>
          <a:prstGeom prst="roundRect">
            <a:avLst/>
          </a:prstGeom>
          <a:solidFill>
            <a:srgbClr val="FFC000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Docker</a:t>
            </a:r>
          </a:p>
          <a:p>
            <a:pPr algn="ctr"/>
            <a:r>
              <a:rPr lang="fr-FR" dirty="0"/>
              <a:t>(image DBT)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3246AB14-889B-076C-7C38-DF5745F68B16}"/>
              </a:ext>
            </a:extLst>
          </p:cNvPr>
          <p:cNvSpPr txBox="1"/>
          <p:nvPr/>
        </p:nvSpPr>
        <p:spPr>
          <a:xfrm>
            <a:off x="10162960" y="4359003"/>
            <a:ext cx="12070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Collecte de données .csv</a:t>
            </a:r>
          </a:p>
        </p:txBody>
      </p: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6FD5A221-8D44-2653-181F-B8F073D279D1}"/>
              </a:ext>
            </a:extLst>
          </p:cNvPr>
          <p:cNvCxnSpPr>
            <a:cxnSpLocks/>
            <a:stCxn id="101" idx="2"/>
            <a:endCxn id="53" idx="2"/>
          </p:cNvCxnSpPr>
          <p:nvPr/>
        </p:nvCxnSpPr>
        <p:spPr>
          <a:xfrm rot="5400000">
            <a:off x="8722875" y="5000496"/>
            <a:ext cx="431815" cy="2432517"/>
          </a:xfrm>
          <a:prstGeom prst="bentConnector3">
            <a:avLst>
              <a:gd name="adj1" fmla="val 152939"/>
            </a:avLst>
          </a:prstGeom>
          <a:ln w="19050">
            <a:solidFill>
              <a:srgbClr val="EA58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 : en arc 124">
            <a:extLst>
              <a:ext uri="{FF2B5EF4-FFF2-40B4-BE49-F238E27FC236}">
                <a16:creationId xmlns:a16="http://schemas.microsoft.com/office/drawing/2014/main" id="{379120C6-046C-2683-2ED8-3C92B7FB0A8A}"/>
              </a:ext>
            </a:extLst>
          </p:cNvPr>
          <p:cNvCxnSpPr>
            <a:cxnSpLocks/>
            <a:stCxn id="94" idx="3"/>
            <a:endCxn id="101" idx="3"/>
          </p:cNvCxnSpPr>
          <p:nvPr/>
        </p:nvCxnSpPr>
        <p:spPr>
          <a:xfrm flipH="1">
            <a:off x="10863301" y="1211091"/>
            <a:ext cx="781849" cy="4249086"/>
          </a:xfrm>
          <a:prstGeom prst="curvedConnector3">
            <a:avLst>
              <a:gd name="adj1" fmla="val -52170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ZoneTexte 129">
            <a:extLst>
              <a:ext uri="{FF2B5EF4-FFF2-40B4-BE49-F238E27FC236}">
                <a16:creationId xmlns:a16="http://schemas.microsoft.com/office/drawing/2014/main" id="{42B2E01A-3B02-397E-7EBE-1AE98CD44E95}"/>
              </a:ext>
            </a:extLst>
          </p:cNvPr>
          <p:cNvSpPr txBox="1"/>
          <p:nvPr/>
        </p:nvSpPr>
        <p:spPr>
          <a:xfrm>
            <a:off x="11245257" y="5157541"/>
            <a:ext cx="971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Chargement projet DBT</a:t>
            </a:r>
          </a:p>
        </p:txBody>
      </p: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BE9154C0-AB5E-D647-6252-5BF65EF812FE}"/>
              </a:ext>
            </a:extLst>
          </p:cNvPr>
          <p:cNvCxnSpPr>
            <a:cxnSpLocks/>
            <a:stCxn id="11" idx="1"/>
            <a:endCxn id="76" idx="3"/>
          </p:cNvCxnSpPr>
          <p:nvPr/>
        </p:nvCxnSpPr>
        <p:spPr>
          <a:xfrm flipH="1">
            <a:off x="6247214" y="4789890"/>
            <a:ext cx="59573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 : coins arrondis 159">
            <a:extLst>
              <a:ext uri="{FF2B5EF4-FFF2-40B4-BE49-F238E27FC236}">
                <a16:creationId xmlns:a16="http://schemas.microsoft.com/office/drawing/2014/main" id="{48B548C5-7251-9AD6-4ED6-75530B7E5DAD}"/>
              </a:ext>
            </a:extLst>
          </p:cNvPr>
          <p:cNvSpPr/>
          <p:nvPr/>
        </p:nvSpPr>
        <p:spPr>
          <a:xfrm>
            <a:off x="3093721" y="5316768"/>
            <a:ext cx="3150364" cy="983803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Amazon ECS </a:t>
            </a:r>
            <a:r>
              <a:rPr lang="fr-FR" sz="1600" dirty="0"/>
              <a:t>(conteneur DBT)</a:t>
            </a:r>
            <a:endParaRPr lang="fr-FR" dirty="0"/>
          </a:p>
        </p:txBody>
      </p:sp>
      <p:cxnSp>
        <p:nvCxnSpPr>
          <p:cNvPr id="161" name="Connecteur droit avec flèche 160">
            <a:extLst>
              <a:ext uri="{FF2B5EF4-FFF2-40B4-BE49-F238E27FC236}">
                <a16:creationId xmlns:a16="http://schemas.microsoft.com/office/drawing/2014/main" id="{0ADCC232-050D-FC8E-B50D-9B4A6E0AE766}"/>
              </a:ext>
            </a:extLst>
          </p:cNvPr>
          <p:cNvCxnSpPr>
            <a:cxnSpLocks/>
            <a:stCxn id="53" idx="1"/>
            <a:endCxn id="160" idx="3"/>
          </p:cNvCxnSpPr>
          <p:nvPr/>
        </p:nvCxnSpPr>
        <p:spPr>
          <a:xfrm rot="10800000">
            <a:off x="6244085" y="5808671"/>
            <a:ext cx="583406" cy="12449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 : coins arrondis 163">
            <a:extLst>
              <a:ext uri="{FF2B5EF4-FFF2-40B4-BE49-F238E27FC236}">
                <a16:creationId xmlns:a16="http://schemas.microsoft.com/office/drawing/2014/main" id="{4D2B1590-AA9D-89ED-63BF-EA510B53B904}"/>
              </a:ext>
            </a:extLst>
          </p:cNvPr>
          <p:cNvSpPr/>
          <p:nvPr/>
        </p:nvSpPr>
        <p:spPr>
          <a:xfrm>
            <a:off x="4711605" y="5754299"/>
            <a:ext cx="1423082" cy="4930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Tâche </a:t>
            </a:r>
            <a:r>
              <a:rPr lang="fr-FR" sz="1400" dirty="0" err="1"/>
              <a:t>dbt</a:t>
            </a:r>
            <a:r>
              <a:rPr lang="fr-FR" sz="1400" dirty="0"/>
              <a:t> </a:t>
            </a:r>
            <a:r>
              <a:rPr lang="fr-FR" sz="1400" dirty="0" err="1"/>
              <a:t>build</a:t>
            </a:r>
            <a:endParaRPr lang="fr-FR" sz="1400" dirty="0"/>
          </a:p>
        </p:txBody>
      </p:sp>
      <p:sp>
        <p:nvSpPr>
          <p:cNvPr id="165" name="Rectangle : coins arrondis 164">
            <a:extLst>
              <a:ext uri="{FF2B5EF4-FFF2-40B4-BE49-F238E27FC236}">
                <a16:creationId xmlns:a16="http://schemas.microsoft.com/office/drawing/2014/main" id="{592001B6-71FA-4850-E064-71C9A6AD9735}"/>
              </a:ext>
            </a:extLst>
          </p:cNvPr>
          <p:cNvSpPr/>
          <p:nvPr/>
        </p:nvSpPr>
        <p:spPr>
          <a:xfrm>
            <a:off x="3179125" y="5754299"/>
            <a:ext cx="1423082" cy="49309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Service </a:t>
            </a:r>
            <a:r>
              <a:rPr lang="fr-FR" sz="1400" dirty="0" err="1"/>
              <a:t>dbt</a:t>
            </a:r>
            <a:r>
              <a:rPr lang="fr-FR" sz="1400" dirty="0"/>
              <a:t> docs serve</a:t>
            </a:r>
          </a:p>
        </p:txBody>
      </p:sp>
      <p:cxnSp>
        <p:nvCxnSpPr>
          <p:cNvPr id="167" name="Connecteur : en angle 166">
            <a:extLst>
              <a:ext uri="{FF2B5EF4-FFF2-40B4-BE49-F238E27FC236}">
                <a16:creationId xmlns:a16="http://schemas.microsoft.com/office/drawing/2014/main" id="{9EB37687-9E7E-8869-CB33-8F87BBAC04C7}"/>
              </a:ext>
            </a:extLst>
          </p:cNvPr>
          <p:cNvCxnSpPr>
            <a:endCxn id="76" idx="1"/>
          </p:cNvCxnSpPr>
          <p:nvPr/>
        </p:nvCxnSpPr>
        <p:spPr>
          <a:xfrm flipV="1">
            <a:off x="3866168" y="4789890"/>
            <a:ext cx="554318" cy="526878"/>
          </a:xfrm>
          <a:prstGeom prst="bentConnector3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eur droit avec flèche 187">
            <a:extLst>
              <a:ext uri="{FF2B5EF4-FFF2-40B4-BE49-F238E27FC236}">
                <a16:creationId xmlns:a16="http://schemas.microsoft.com/office/drawing/2014/main" id="{02C5E340-ABAB-C032-F4A5-4E4FCE111827}"/>
              </a:ext>
            </a:extLst>
          </p:cNvPr>
          <p:cNvCxnSpPr>
            <a:cxnSpLocks/>
          </p:cNvCxnSpPr>
          <p:nvPr/>
        </p:nvCxnSpPr>
        <p:spPr>
          <a:xfrm flipH="1">
            <a:off x="3451412" y="3522039"/>
            <a:ext cx="2080249" cy="1794729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 : coins arrondis 192">
            <a:extLst>
              <a:ext uri="{FF2B5EF4-FFF2-40B4-BE49-F238E27FC236}">
                <a16:creationId xmlns:a16="http://schemas.microsoft.com/office/drawing/2014/main" id="{97FDACCB-D3A1-DAA6-3D91-772C6CE23ADA}"/>
              </a:ext>
            </a:extLst>
          </p:cNvPr>
          <p:cNvSpPr/>
          <p:nvPr/>
        </p:nvSpPr>
        <p:spPr>
          <a:xfrm>
            <a:off x="2804269" y="2538236"/>
            <a:ext cx="1535292" cy="687891"/>
          </a:xfrm>
          <a:prstGeom prst="roundRect">
            <a:avLst/>
          </a:prstGeom>
          <a:solidFill>
            <a:srgbClr val="00B0F0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AWS Secrets Manager</a:t>
            </a:r>
          </a:p>
        </p:txBody>
      </p:sp>
      <p:cxnSp>
        <p:nvCxnSpPr>
          <p:cNvPr id="197" name="Connecteur droit avec flèche 196">
            <a:extLst>
              <a:ext uri="{FF2B5EF4-FFF2-40B4-BE49-F238E27FC236}">
                <a16:creationId xmlns:a16="http://schemas.microsoft.com/office/drawing/2014/main" id="{A028B9AF-FD41-67FB-2404-4F0FBBED3417}"/>
              </a:ext>
            </a:extLst>
          </p:cNvPr>
          <p:cNvCxnSpPr>
            <a:cxnSpLocks/>
            <a:stCxn id="193" idx="2"/>
          </p:cNvCxnSpPr>
          <p:nvPr/>
        </p:nvCxnSpPr>
        <p:spPr>
          <a:xfrm>
            <a:off x="3571915" y="3226127"/>
            <a:ext cx="1333833" cy="1106838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avec flèche 199">
            <a:extLst>
              <a:ext uri="{FF2B5EF4-FFF2-40B4-BE49-F238E27FC236}">
                <a16:creationId xmlns:a16="http://schemas.microsoft.com/office/drawing/2014/main" id="{2459CCA1-9CB6-E71E-DC9A-D1C88DC0BE65}"/>
              </a:ext>
            </a:extLst>
          </p:cNvPr>
          <p:cNvCxnSpPr>
            <a:cxnSpLocks/>
          </p:cNvCxnSpPr>
          <p:nvPr/>
        </p:nvCxnSpPr>
        <p:spPr>
          <a:xfrm>
            <a:off x="3571915" y="3238427"/>
            <a:ext cx="227317" cy="2069552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 : coins arrondis 202">
            <a:extLst>
              <a:ext uri="{FF2B5EF4-FFF2-40B4-BE49-F238E27FC236}">
                <a16:creationId xmlns:a16="http://schemas.microsoft.com/office/drawing/2014/main" id="{2E5C18B9-CD90-D2B1-D4A6-661413D93FE5}"/>
              </a:ext>
            </a:extLst>
          </p:cNvPr>
          <p:cNvSpPr/>
          <p:nvPr/>
        </p:nvSpPr>
        <p:spPr>
          <a:xfrm>
            <a:off x="2671481" y="4070350"/>
            <a:ext cx="6515684" cy="2442979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pic>
        <p:nvPicPr>
          <p:cNvPr id="1026" name="Picture 2" descr="Network Emoji and Internet Emojis for Communication">
            <a:extLst>
              <a:ext uri="{FF2B5EF4-FFF2-40B4-BE49-F238E27FC236}">
                <a16:creationId xmlns:a16="http://schemas.microsoft.com/office/drawing/2014/main" id="{79625A7D-9AE5-E84D-9A65-815169E43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99" y="4575388"/>
            <a:ext cx="783473" cy="7834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" name="Connecteur : en arc 205">
            <a:extLst>
              <a:ext uri="{FF2B5EF4-FFF2-40B4-BE49-F238E27FC236}">
                <a16:creationId xmlns:a16="http://schemas.microsoft.com/office/drawing/2014/main" id="{B4247CB9-5571-0DD0-325D-A7F6A054B5E9}"/>
              </a:ext>
            </a:extLst>
          </p:cNvPr>
          <p:cNvCxnSpPr>
            <a:cxnSpLocks/>
            <a:stCxn id="165" idx="1"/>
            <a:endCxn id="1026" idx="2"/>
          </p:cNvCxnSpPr>
          <p:nvPr/>
        </p:nvCxnSpPr>
        <p:spPr>
          <a:xfrm rot="10800000">
            <a:off x="997037" y="5358861"/>
            <a:ext cx="2182089" cy="64198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 : en arc 209">
            <a:extLst>
              <a:ext uri="{FF2B5EF4-FFF2-40B4-BE49-F238E27FC236}">
                <a16:creationId xmlns:a16="http://schemas.microsoft.com/office/drawing/2014/main" id="{8FA7A2A5-0C15-D573-8995-AB558677D33D}"/>
              </a:ext>
            </a:extLst>
          </p:cNvPr>
          <p:cNvCxnSpPr>
            <a:cxnSpLocks/>
            <a:stCxn id="11" idx="3"/>
            <a:endCxn id="1026" idx="0"/>
          </p:cNvCxnSpPr>
          <p:nvPr/>
        </p:nvCxnSpPr>
        <p:spPr>
          <a:xfrm flipH="1" flipV="1">
            <a:off x="997036" y="4575388"/>
            <a:ext cx="7672640" cy="214502"/>
          </a:xfrm>
          <a:prstGeom prst="bentConnector4">
            <a:avLst>
              <a:gd name="adj1" fmla="val -5550"/>
              <a:gd name="adj2" fmla="val 123885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ZoneTexte 230">
            <a:extLst>
              <a:ext uri="{FF2B5EF4-FFF2-40B4-BE49-F238E27FC236}">
                <a16:creationId xmlns:a16="http://schemas.microsoft.com/office/drawing/2014/main" id="{3ECED0DD-C4F2-3D60-21BD-E7497E838479}"/>
              </a:ext>
            </a:extLst>
          </p:cNvPr>
          <p:cNvSpPr txBox="1"/>
          <p:nvPr/>
        </p:nvSpPr>
        <p:spPr>
          <a:xfrm>
            <a:off x="1023929" y="2114968"/>
            <a:ext cx="155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Adresse IP publique</a:t>
            </a:r>
          </a:p>
        </p:txBody>
      </p:sp>
      <p:sp>
        <p:nvSpPr>
          <p:cNvPr id="232" name="ZoneTexte 231">
            <a:extLst>
              <a:ext uri="{FF2B5EF4-FFF2-40B4-BE49-F238E27FC236}">
                <a16:creationId xmlns:a16="http://schemas.microsoft.com/office/drawing/2014/main" id="{48A608C9-1A9B-814C-E574-7299C65D1EFD}"/>
              </a:ext>
            </a:extLst>
          </p:cNvPr>
          <p:cNvSpPr txBox="1"/>
          <p:nvPr/>
        </p:nvSpPr>
        <p:spPr>
          <a:xfrm>
            <a:off x="876781" y="5991735"/>
            <a:ext cx="15545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Adresse IP publique</a:t>
            </a:r>
          </a:p>
        </p:txBody>
      </p:sp>
      <p:sp>
        <p:nvSpPr>
          <p:cNvPr id="233" name="ZoneTexte 232">
            <a:extLst>
              <a:ext uri="{FF2B5EF4-FFF2-40B4-BE49-F238E27FC236}">
                <a16:creationId xmlns:a16="http://schemas.microsoft.com/office/drawing/2014/main" id="{AA454100-BD8F-D351-5265-12BBC9EA703F}"/>
              </a:ext>
            </a:extLst>
          </p:cNvPr>
          <p:cNvSpPr txBox="1"/>
          <p:nvPr/>
        </p:nvSpPr>
        <p:spPr>
          <a:xfrm>
            <a:off x="114624" y="4751680"/>
            <a:ext cx="730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Web</a:t>
            </a:r>
          </a:p>
          <a:p>
            <a:endParaRPr lang="fr-FR" sz="1400" i="1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421DC26-9E1E-3058-A0E6-CDDC7968B886}"/>
              </a:ext>
            </a:extLst>
          </p:cNvPr>
          <p:cNvSpPr/>
          <p:nvPr/>
        </p:nvSpPr>
        <p:spPr>
          <a:xfrm>
            <a:off x="9404055" y="2098555"/>
            <a:ext cx="1478830" cy="718994"/>
          </a:xfrm>
          <a:prstGeom prst="roundRect">
            <a:avLst/>
          </a:prstGeom>
          <a:solidFill>
            <a:srgbClr val="CCCC00"/>
          </a:solidFill>
          <a:ln>
            <a:solidFill>
              <a:srgbClr val="996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Amazon S3 extérieur (Données Brutes)</a:t>
            </a:r>
          </a:p>
        </p:txBody>
      </p:sp>
      <p:cxnSp>
        <p:nvCxnSpPr>
          <p:cNvPr id="19" name="Connecteur : en arc 30">
            <a:extLst>
              <a:ext uri="{FF2B5EF4-FFF2-40B4-BE49-F238E27FC236}">
                <a16:creationId xmlns:a16="http://schemas.microsoft.com/office/drawing/2014/main" id="{B29B4E36-A158-636F-D4B2-D21B2FBD51C3}"/>
              </a:ext>
            </a:extLst>
          </p:cNvPr>
          <p:cNvCxnSpPr>
            <a:cxnSpLocks/>
            <a:stCxn id="8" idx="2"/>
            <a:endCxn id="11" idx="3"/>
          </p:cNvCxnSpPr>
          <p:nvPr/>
        </p:nvCxnSpPr>
        <p:spPr>
          <a:xfrm rot="5400000">
            <a:off x="8420403" y="3066822"/>
            <a:ext cx="1972341" cy="1473794"/>
          </a:xfrm>
          <a:prstGeom prst="bentConnector2">
            <a:avLst/>
          </a:prstGeom>
          <a:ln w="19050">
            <a:solidFill>
              <a:srgbClr val="9966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4F79C028-0B05-874F-014B-7A8B84818D7D}"/>
              </a:ext>
            </a:extLst>
          </p:cNvPr>
          <p:cNvSpPr txBox="1"/>
          <p:nvPr/>
        </p:nvSpPr>
        <p:spPr>
          <a:xfrm>
            <a:off x="9070099" y="1356673"/>
            <a:ext cx="11743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i="1" dirty="0"/>
              <a:t>téléchargement .xlsx</a:t>
            </a:r>
          </a:p>
        </p:txBody>
      </p:sp>
      <p:cxnSp>
        <p:nvCxnSpPr>
          <p:cNvPr id="27" name="Connecteur : en arc 26">
            <a:extLst>
              <a:ext uri="{FF2B5EF4-FFF2-40B4-BE49-F238E27FC236}">
                <a16:creationId xmlns:a16="http://schemas.microsoft.com/office/drawing/2014/main" id="{F877F869-E227-1176-C39C-86F0E43ACBB0}"/>
              </a:ext>
            </a:extLst>
          </p:cNvPr>
          <p:cNvCxnSpPr>
            <a:cxnSpLocks/>
            <a:stCxn id="8" idx="0"/>
            <a:endCxn id="94" idx="1"/>
          </p:cNvCxnSpPr>
          <p:nvPr/>
        </p:nvCxnSpPr>
        <p:spPr>
          <a:xfrm rot="5400000" flipH="1" flipV="1">
            <a:off x="9750238" y="1604323"/>
            <a:ext cx="887464" cy="101000"/>
          </a:xfrm>
          <a:prstGeom prst="curvedConnector2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5699B919-7888-46BA-0355-09571B76E25B}"/>
              </a:ext>
            </a:extLst>
          </p:cNvPr>
          <p:cNvSpPr txBox="1"/>
          <p:nvPr/>
        </p:nvSpPr>
        <p:spPr>
          <a:xfrm>
            <a:off x="9339250" y="2944403"/>
            <a:ext cx="9868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Collecte de données .</a:t>
            </a:r>
            <a:r>
              <a:rPr lang="fr-FR" sz="1100" i="1" dirty="0" err="1"/>
              <a:t>json</a:t>
            </a:r>
            <a:endParaRPr lang="fr-FR" sz="1100" i="1" dirty="0"/>
          </a:p>
        </p:txBody>
      </p:sp>
    </p:spTree>
    <p:extLst>
      <p:ext uri="{BB962C8B-B14F-4D97-AF65-F5344CB8AC3E}">
        <p14:creationId xmlns:p14="http://schemas.microsoft.com/office/powerpoint/2010/main" val="254394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CF12D-D102-320A-EC7A-0DF30FDE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E466B9-C758-8B6A-7882-571977DF0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0D49BB1-BF92-9232-87EF-B385267E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r>
              <a:rPr lang="fr-FR" dirty="0"/>
              <a:t>Via la documentation </a:t>
            </a:r>
            <a:r>
              <a:rPr lang="fr-FR" dirty="0" err="1"/>
              <a:t>Airbyte</a:t>
            </a:r>
            <a:r>
              <a:rPr lang="fr-FR" dirty="0"/>
              <a:t> </a:t>
            </a:r>
            <a:r>
              <a:rPr lang="fr-FR" dirty="0" err="1">
                <a:hlinkClick r:id="rId2"/>
              </a:rPr>
              <a:t>Quickstart</a:t>
            </a:r>
            <a:r>
              <a:rPr lang="fr-FR" dirty="0">
                <a:hlinkClick r:id="rId2"/>
              </a:rPr>
              <a:t> | </a:t>
            </a:r>
            <a:r>
              <a:rPr lang="fr-FR" dirty="0" err="1">
                <a:hlinkClick r:id="rId2"/>
              </a:rPr>
              <a:t>Airbyte</a:t>
            </a:r>
            <a:r>
              <a:rPr lang="fr-FR" dirty="0">
                <a:hlinkClick r:id="rId2"/>
              </a:rPr>
              <a:t> Docs</a:t>
            </a:r>
            <a:r>
              <a:rPr lang="fr-FR" dirty="0"/>
              <a:t> télécharger la dernière version de </a:t>
            </a:r>
            <a:r>
              <a:rPr lang="fr-FR" dirty="0" err="1"/>
              <a:t>abctl</a:t>
            </a:r>
            <a:r>
              <a:rPr lang="fr-FR" dirty="0"/>
              <a:t> et suivre les étapes décrites dans la documentation</a:t>
            </a:r>
          </a:p>
          <a:p>
            <a:r>
              <a:rPr lang="fr-FR" dirty="0"/>
              <a:t>Démarrer Docker et dans l’invite de commande lancer l’installation en tapant </a:t>
            </a:r>
            <a:r>
              <a:rPr lang="fr-FR" b="1" i="1" dirty="0" err="1"/>
              <a:t>abctl</a:t>
            </a:r>
            <a:r>
              <a:rPr lang="fr-FR" b="1" i="1" dirty="0"/>
              <a:t> local </a:t>
            </a:r>
            <a:r>
              <a:rPr lang="fr-FR" b="1" i="1" dirty="0" err="1"/>
              <a:t>install</a:t>
            </a:r>
            <a:endParaRPr lang="fr-FR" b="1" i="1" dirty="0"/>
          </a:p>
          <a:p>
            <a:endParaRPr lang="fr-FR" b="1" i="1" dirty="0"/>
          </a:p>
          <a:p>
            <a:endParaRPr lang="fr-FR" b="1" i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BC06C71-8A4E-DF39-D1ED-0AF11012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36"/>
          <a:stretch>
            <a:fillRect/>
          </a:stretch>
        </p:blipFill>
        <p:spPr>
          <a:xfrm>
            <a:off x="581192" y="3016550"/>
            <a:ext cx="5778577" cy="3552236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D5481D2-6FEF-53EA-D87B-4A04095ECA94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384287" y="3194222"/>
            <a:ext cx="3138201" cy="1977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0D9534D-CE91-CBA9-2A84-BBF75ADF9842}"/>
              </a:ext>
            </a:extLst>
          </p:cNvPr>
          <p:cNvSpPr txBox="1"/>
          <p:nvPr/>
        </p:nvSpPr>
        <p:spPr>
          <a:xfrm>
            <a:off x="6522488" y="3022600"/>
            <a:ext cx="1398494" cy="7386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Vérification de l’installation </a:t>
            </a:r>
            <a:r>
              <a:rPr lang="fr-FR" sz="1400" dirty="0" err="1"/>
              <a:t>abctl</a:t>
            </a:r>
            <a:endParaRPr lang="fr-FR" sz="14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9B46772-C1A2-575E-A433-80EA318FAEEE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3711388" y="3758888"/>
            <a:ext cx="3426952" cy="6459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CB9072D-7FCD-97C8-9D7F-9CC77E49A791}"/>
              </a:ext>
            </a:extLst>
          </p:cNvPr>
          <p:cNvSpPr txBox="1"/>
          <p:nvPr/>
        </p:nvSpPr>
        <p:spPr>
          <a:xfrm>
            <a:off x="7138340" y="4143182"/>
            <a:ext cx="1398494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Lancement du cluster </a:t>
            </a:r>
            <a:r>
              <a:rPr lang="fr-FR" sz="1400" dirty="0" err="1"/>
              <a:t>Airbyte</a:t>
            </a:r>
            <a:endParaRPr lang="fr-FR" sz="1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89B2803-6A15-87B6-FB5A-609F88D62BD8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5504329" y="5787872"/>
            <a:ext cx="1756577" cy="1952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ABF8A8BC-CA71-5747-7CB7-EB8E618F5AF5}"/>
              </a:ext>
            </a:extLst>
          </p:cNvPr>
          <p:cNvSpPr txBox="1"/>
          <p:nvPr/>
        </p:nvSpPr>
        <p:spPr>
          <a:xfrm>
            <a:off x="7260906" y="5418540"/>
            <a:ext cx="1623118" cy="7386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Récupération de l’URL de connexion à </a:t>
            </a:r>
            <a:r>
              <a:rPr lang="fr-FR" sz="1400" dirty="0" err="1"/>
              <a:t>Airbyte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70378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74983-0817-6D98-34A1-3F26DB0D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2267C55F-B917-1312-7F10-54642988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187" y="3889977"/>
            <a:ext cx="2444226" cy="278387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42254041-17CD-A75B-FC02-109492948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525" y="1760193"/>
            <a:ext cx="3068516" cy="396546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A32B1C6-CE19-2575-0D75-B6C84CC29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42" y="1949558"/>
            <a:ext cx="5137583" cy="170479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05925C9-1234-EBA4-C6CB-9CCF7796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DE4246-318F-7BB4-8541-0D08F553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55FA9FA-0C60-CA7B-89A9-9E8DF7DE4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E52297B9-826B-22AE-DE9A-56E6E72007DC}"/>
              </a:ext>
            </a:extLst>
          </p:cNvPr>
          <p:cNvCxnSpPr>
            <a:cxnSpLocks/>
          </p:cNvCxnSpPr>
          <p:nvPr/>
        </p:nvCxnSpPr>
        <p:spPr>
          <a:xfrm flipH="1">
            <a:off x="3651773" y="2029502"/>
            <a:ext cx="244422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EE53D73E-ACCA-C005-E114-5F39B29C3D15}"/>
              </a:ext>
            </a:extLst>
          </p:cNvPr>
          <p:cNvSpPr txBox="1"/>
          <p:nvPr/>
        </p:nvSpPr>
        <p:spPr>
          <a:xfrm>
            <a:off x="6095999" y="1520652"/>
            <a:ext cx="2229778" cy="9541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Récupération de l’identifiant et du mot de passe pour se connecter à </a:t>
            </a:r>
            <a:r>
              <a:rPr lang="fr-FR" sz="1400" dirty="0" err="1"/>
              <a:t>Airbyte</a:t>
            </a:r>
            <a:endParaRPr lang="fr-FR" sz="14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33A57B6-B76A-8140-7629-DA6CA0A7787D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9384394" y="4348480"/>
            <a:ext cx="247286" cy="9709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4332C56-FE79-56CF-2026-CDA20ACEB201}"/>
              </a:ext>
            </a:extLst>
          </p:cNvPr>
          <p:cNvSpPr txBox="1"/>
          <p:nvPr/>
        </p:nvSpPr>
        <p:spPr>
          <a:xfrm>
            <a:off x="8685147" y="5319414"/>
            <a:ext cx="1398494" cy="9541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Organisation à compléter exemple </a:t>
            </a:r>
            <a:r>
              <a:rPr lang="fr-FR" sz="1400" dirty="0" err="1"/>
              <a:t>Greencoop</a:t>
            </a:r>
            <a:endParaRPr lang="fr-FR" sz="140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D4C5A50F-A2B5-14EE-23F5-2E99C9A77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4" y="3856530"/>
            <a:ext cx="5623609" cy="2752459"/>
          </a:xfrm>
          <a:prstGeom prst="rect">
            <a:avLst/>
          </a:prstGeom>
        </p:spPr>
      </p:pic>
      <p:sp>
        <p:nvSpPr>
          <p:cNvPr id="35" name="Heptagone 34">
            <a:extLst>
              <a:ext uri="{FF2B5EF4-FFF2-40B4-BE49-F238E27FC236}">
                <a16:creationId xmlns:a16="http://schemas.microsoft.com/office/drawing/2014/main" id="{ABC48CAC-8A29-2897-5B13-8B367CE2A0D0}"/>
              </a:ext>
            </a:extLst>
          </p:cNvPr>
          <p:cNvSpPr/>
          <p:nvPr/>
        </p:nvSpPr>
        <p:spPr>
          <a:xfrm>
            <a:off x="5453244" y="1421458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36" name="Heptagone 35">
            <a:extLst>
              <a:ext uri="{FF2B5EF4-FFF2-40B4-BE49-F238E27FC236}">
                <a16:creationId xmlns:a16="http://schemas.microsoft.com/office/drawing/2014/main" id="{E454EFEF-58B5-0ABD-5FEF-02DB087EE133}"/>
              </a:ext>
            </a:extLst>
          </p:cNvPr>
          <p:cNvSpPr/>
          <p:nvPr/>
        </p:nvSpPr>
        <p:spPr>
          <a:xfrm>
            <a:off x="8688851" y="1876252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37" name="Heptagone 36">
            <a:extLst>
              <a:ext uri="{FF2B5EF4-FFF2-40B4-BE49-F238E27FC236}">
                <a16:creationId xmlns:a16="http://schemas.microsoft.com/office/drawing/2014/main" id="{4E09418D-BB7A-7310-96AA-51FF7BC126F8}"/>
              </a:ext>
            </a:extLst>
          </p:cNvPr>
          <p:cNvSpPr/>
          <p:nvPr/>
        </p:nvSpPr>
        <p:spPr>
          <a:xfrm>
            <a:off x="7210888" y="3751350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38" name="Heptagone 37">
            <a:extLst>
              <a:ext uri="{FF2B5EF4-FFF2-40B4-BE49-F238E27FC236}">
                <a16:creationId xmlns:a16="http://schemas.microsoft.com/office/drawing/2014/main" id="{FCE63BD3-363B-F7E5-7F37-697ABE9EA112}"/>
              </a:ext>
            </a:extLst>
          </p:cNvPr>
          <p:cNvSpPr/>
          <p:nvPr/>
        </p:nvSpPr>
        <p:spPr>
          <a:xfrm>
            <a:off x="5224644" y="3810239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29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1E6CB-E986-2838-317C-AD5DECF7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D3DA2DF-A86A-2CC4-5E20-0DDB71458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44" y="1980929"/>
            <a:ext cx="7423143" cy="439115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D5152E-E889-8CA5-C44F-A4A1FA017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786" y="1942706"/>
            <a:ext cx="4684214" cy="388508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9AC503D-3E67-A748-EEB9-A4150439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30ECEB-1D6F-6823-EEED-F77AECF3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EBB2094-32CC-6F96-6085-4ECF4A86E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D076B123-21C4-A656-AB41-81BDAB1FFFA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450750" y="5283200"/>
            <a:ext cx="488097" cy="7195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B299D3AA-A1B4-AF62-58CA-E00DCB85907D}"/>
              </a:ext>
            </a:extLst>
          </p:cNvPr>
          <p:cNvSpPr txBox="1"/>
          <p:nvPr/>
        </p:nvSpPr>
        <p:spPr>
          <a:xfrm>
            <a:off x="9930638" y="6002752"/>
            <a:ext cx="2016418" cy="738664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URL GitHub ou URL S3. Récupération fichier en local impossible</a:t>
            </a:r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38A97BEA-D4F0-F5D0-1158-002A7D4ABB4C}"/>
              </a:ext>
            </a:extLst>
          </p:cNvPr>
          <p:cNvSpPr/>
          <p:nvPr/>
        </p:nvSpPr>
        <p:spPr>
          <a:xfrm>
            <a:off x="2983873" y="2972824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15" name="Heptagone 14">
            <a:extLst>
              <a:ext uri="{FF2B5EF4-FFF2-40B4-BE49-F238E27FC236}">
                <a16:creationId xmlns:a16="http://schemas.microsoft.com/office/drawing/2014/main" id="{5376BF6D-4CC8-D31B-C84B-2A7BBB128343}"/>
              </a:ext>
            </a:extLst>
          </p:cNvPr>
          <p:cNvSpPr/>
          <p:nvPr/>
        </p:nvSpPr>
        <p:spPr>
          <a:xfrm>
            <a:off x="8110396" y="3200354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965F2B3-7DEA-1FC7-128A-C5FD0398B6EA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8808601" y="5283200"/>
            <a:ext cx="695385" cy="3400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CA380CEC-C565-F558-CFA9-7D991655148E}"/>
              </a:ext>
            </a:extLst>
          </p:cNvPr>
          <p:cNvSpPr txBox="1"/>
          <p:nvPr/>
        </p:nvSpPr>
        <p:spPr>
          <a:xfrm>
            <a:off x="8267756" y="5623260"/>
            <a:ext cx="1081690" cy="307777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URL RAW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05CFE7D-5AE1-26CF-31CF-37BA3930257D}"/>
              </a:ext>
            </a:extLst>
          </p:cNvPr>
          <p:cNvSpPr txBox="1"/>
          <p:nvPr/>
        </p:nvSpPr>
        <p:spPr>
          <a:xfrm>
            <a:off x="90404" y="4921291"/>
            <a:ext cx="1741251" cy="140393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Schéma </a:t>
            </a:r>
            <a:r>
              <a:rPr lang="fr-FR" sz="1400" dirty="0" err="1"/>
              <a:t>raw</a:t>
            </a:r>
            <a:endParaRPr lang="fr-FR" sz="1400" dirty="0"/>
          </a:p>
          <a:p>
            <a:r>
              <a:rPr lang="fr-FR" sz="1400" dirty="0"/>
              <a:t>+ Option </a:t>
            </a:r>
            <a:r>
              <a:rPr lang="en-US" sz="1400" i="1" dirty="0"/>
              <a:t>Drop tables with CASCADE. (WARNING! Risk of unrecoverable data loss) </a:t>
            </a:r>
            <a:r>
              <a:rPr lang="en-US" sz="1400" dirty="0" err="1"/>
              <a:t>activée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31254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439B-64D2-DB8B-220F-110E9A93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CF9C67D-1777-B642-2EE9-F7133771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92342"/>
            <a:ext cx="7181060" cy="25796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5D0A2DE-1E6F-AF44-B700-8084C94AF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7178DA-011E-3E29-FA78-2A9D56AA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C882531-7525-619D-ECE2-E89E4D228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0BD9BD7E-FFDB-59C2-DE6C-5344FD8CF3A8}"/>
              </a:ext>
            </a:extLst>
          </p:cNvPr>
          <p:cNvSpPr/>
          <p:nvPr/>
        </p:nvSpPr>
        <p:spPr>
          <a:xfrm>
            <a:off x="4131929" y="2624610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CF702EA-8774-7E92-0936-1AF4E930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9" y="4289320"/>
            <a:ext cx="8006080" cy="1987759"/>
          </a:xfrm>
          <a:prstGeom prst="rect">
            <a:avLst/>
          </a:prstGeom>
        </p:spPr>
      </p:pic>
      <p:sp>
        <p:nvSpPr>
          <p:cNvPr id="15" name="Heptagone 14">
            <a:extLst>
              <a:ext uri="{FF2B5EF4-FFF2-40B4-BE49-F238E27FC236}">
                <a16:creationId xmlns:a16="http://schemas.microsoft.com/office/drawing/2014/main" id="{4DFD3E5E-711A-6D5B-BF14-94A651F875C4}"/>
              </a:ext>
            </a:extLst>
          </p:cNvPr>
          <p:cNvSpPr/>
          <p:nvPr/>
        </p:nvSpPr>
        <p:spPr>
          <a:xfrm>
            <a:off x="2889019" y="4673466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8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DC2F3DA-F3F1-B0E4-DD0F-80C3DCBB4C1F}"/>
              </a:ext>
            </a:extLst>
          </p:cNvPr>
          <p:cNvSpPr txBox="1"/>
          <p:nvPr/>
        </p:nvSpPr>
        <p:spPr>
          <a:xfrm>
            <a:off x="5378971" y="2441441"/>
            <a:ext cx="1893529" cy="738664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Sélectionner la destination </a:t>
            </a:r>
            <a:r>
              <a:rPr lang="fr-FR" sz="1400" dirty="0" err="1"/>
              <a:t>PosgreSQL</a:t>
            </a:r>
            <a:r>
              <a:rPr lang="fr-FR" sz="1400" dirty="0"/>
              <a:t> créée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DF1BF22-1784-BF21-BC2C-BFFF019096C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866640" y="3180105"/>
            <a:ext cx="1459096" cy="7135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9DE99DE8-9B5D-7186-3C4C-8D0916D6CA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1" t="11478" r="19726"/>
          <a:stretch>
            <a:fillRect/>
          </a:stretch>
        </p:blipFill>
        <p:spPr>
          <a:xfrm>
            <a:off x="6593839" y="3326940"/>
            <a:ext cx="5506720" cy="238817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9" name="Heptagone 18">
            <a:extLst>
              <a:ext uri="{FF2B5EF4-FFF2-40B4-BE49-F238E27FC236}">
                <a16:creationId xmlns:a16="http://schemas.microsoft.com/office/drawing/2014/main" id="{41EB7AA0-214B-5A1E-1AB9-EC8159D4D1D8}"/>
              </a:ext>
            </a:extLst>
          </p:cNvPr>
          <p:cNvSpPr/>
          <p:nvPr/>
        </p:nvSpPr>
        <p:spPr>
          <a:xfrm>
            <a:off x="11006859" y="4673466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9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BAF8F4F-0981-78E4-24DA-C7E6754159F6}"/>
              </a:ext>
            </a:extLst>
          </p:cNvPr>
          <p:cNvSpPr txBox="1"/>
          <p:nvPr/>
        </p:nvSpPr>
        <p:spPr>
          <a:xfrm>
            <a:off x="8172418" y="5902737"/>
            <a:ext cx="1896142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Sélectionner Full </a:t>
            </a:r>
            <a:r>
              <a:rPr lang="fr-FR" sz="1400" dirty="0" err="1"/>
              <a:t>refresh</a:t>
            </a:r>
            <a:r>
              <a:rPr lang="fr-FR" sz="1400" dirty="0"/>
              <a:t> | </a:t>
            </a:r>
            <a:r>
              <a:rPr lang="fr-FR" sz="1400" dirty="0" err="1"/>
              <a:t>Overwrite</a:t>
            </a:r>
            <a:endParaRPr lang="fr-FR" sz="1400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BF56DFA-09B2-8838-4566-25AFFA3EA9A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0068560" y="5473012"/>
            <a:ext cx="834493" cy="6913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05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E35C-1988-23E7-5DC9-7E6CD606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2B4199C-E1F3-593F-910E-4E2F55D0B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6" y="2150443"/>
            <a:ext cx="8097520" cy="428655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24B6EF2-AD40-AB8F-6B94-AEE24756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105AA2-062B-6E25-CB39-48F67CB3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E739681-3DB5-8470-BA5D-1D766E4AE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1D8AEB41-F6A9-0F02-72EE-07A7D2622D8F}"/>
              </a:ext>
            </a:extLst>
          </p:cNvPr>
          <p:cNvSpPr/>
          <p:nvPr/>
        </p:nvSpPr>
        <p:spPr>
          <a:xfrm>
            <a:off x="4424680" y="3084584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10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5A77A21-6BEC-6257-9DC0-B77317690F9B}"/>
              </a:ext>
            </a:extLst>
          </p:cNvPr>
          <p:cNvSpPr txBox="1"/>
          <p:nvPr/>
        </p:nvSpPr>
        <p:spPr>
          <a:xfrm>
            <a:off x="5378971" y="2441441"/>
            <a:ext cx="1893529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Choisir le </a:t>
            </a:r>
            <a:r>
              <a:rPr lang="fr-FR" sz="1400" dirty="0" err="1"/>
              <a:t>schedule</a:t>
            </a:r>
            <a:r>
              <a:rPr lang="fr-FR" sz="1400" dirty="0"/>
              <a:t> type à configurer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CBF5A7B-1460-75AF-CD2E-0498C5214C01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3280" y="2964661"/>
            <a:ext cx="1672456" cy="8729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2E7F6D9-BCB0-4872-C318-C0D4C50CFA84}"/>
              </a:ext>
            </a:extLst>
          </p:cNvPr>
          <p:cNvSpPr txBox="1"/>
          <p:nvPr/>
        </p:nvSpPr>
        <p:spPr>
          <a:xfrm>
            <a:off x="4875316" y="5684240"/>
            <a:ext cx="1896142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Mettre en place la connexion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EAD772C8-35C2-C23C-A4EE-B9AD548D9D2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6771458" y="5945850"/>
            <a:ext cx="1041582" cy="2602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ptagone 12">
            <a:extLst>
              <a:ext uri="{FF2B5EF4-FFF2-40B4-BE49-F238E27FC236}">
                <a16:creationId xmlns:a16="http://schemas.microsoft.com/office/drawing/2014/main" id="{03E798C0-4F41-F0DC-17F3-C4F0B8388717}"/>
              </a:ext>
            </a:extLst>
          </p:cNvPr>
          <p:cNvSpPr/>
          <p:nvPr/>
        </p:nvSpPr>
        <p:spPr>
          <a:xfrm>
            <a:off x="5867399" y="5114413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2531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8699-BE5A-3255-1F6A-6838AB97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71136054-5556-91AA-8AC8-C6452DC1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" y="4312984"/>
            <a:ext cx="9458960" cy="206014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2417B1F-41D8-7DAE-FA74-EE10198F3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941820"/>
            <a:ext cx="10546080" cy="228552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C48757C-DFA7-86B0-71F1-08D7F2AB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Mise en place </a:t>
            </a:r>
            <a:r>
              <a:rPr lang="fr-FR" dirty="0" err="1"/>
              <a:t>Airbyte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B37FF4-2081-CBFF-0353-490EB5BF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71619B6-FEEF-F77C-0DE8-FB87A5502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0366"/>
            <a:ext cx="11029615" cy="3634486"/>
          </a:xfrm>
        </p:spPr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707D04E6-5A38-9D62-E93E-A704FABB20B9}"/>
              </a:ext>
            </a:extLst>
          </p:cNvPr>
          <p:cNvSpPr/>
          <p:nvPr/>
        </p:nvSpPr>
        <p:spPr>
          <a:xfrm>
            <a:off x="10670073" y="2353826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12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9C273F5-8725-CED2-CC42-9D4C732AA23E}"/>
              </a:ext>
            </a:extLst>
          </p:cNvPr>
          <p:cNvSpPr txBox="1"/>
          <p:nvPr/>
        </p:nvSpPr>
        <p:spPr>
          <a:xfrm>
            <a:off x="9717278" y="1213378"/>
            <a:ext cx="1893529" cy="95410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Lancer la synchronisation pour </a:t>
            </a:r>
            <a:r>
              <a:rPr lang="fr-FR" sz="1400" dirty="0" err="1"/>
              <a:t>transferer</a:t>
            </a:r>
            <a:r>
              <a:rPr lang="fr-FR" sz="1400" dirty="0"/>
              <a:t> les données dans la </a:t>
            </a:r>
            <a:r>
              <a:rPr lang="fr-FR" sz="1400" dirty="0" err="1"/>
              <a:t>Database</a:t>
            </a:r>
            <a:endParaRPr lang="fr-FR" sz="1400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56F32C2-D77B-00E2-3079-EE6C98635967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9865360" y="2167485"/>
            <a:ext cx="798683" cy="4924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7DE3F633-EC9E-2ADE-068C-D7E2CBDAB820}"/>
              </a:ext>
            </a:extLst>
          </p:cNvPr>
          <p:cNvSpPr txBox="1"/>
          <p:nvPr/>
        </p:nvSpPr>
        <p:spPr>
          <a:xfrm>
            <a:off x="3363070" y="5048485"/>
            <a:ext cx="1625490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Prend quelques minutes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41F17FB7-5672-9FC5-4484-BE9F06E10D6E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1617623" y="5310095"/>
            <a:ext cx="1745447" cy="7554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ptagone 12">
            <a:extLst>
              <a:ext uri="{FF2B5EF4-FFF2-40B4-BE49-F238E27FC236}">
                <a16:creationId xmlns:a16="http://schemas.microsoft.com/office/drawing/2014/main" id="{EAFAD523-B47A-652B-AA03-32D6D09BB538}"/>
              </a:ext>
            </a:extLst>
          </p:cNvPr>
          <p:cNvSpPr/>
          <p:nvPr/>
        </p:nvSpPr>
        <p:spPr>
          <a:xfrm>
            <a:off x="3134470" y="5706451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13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6BFA8F4-377F-764C-7ADC-0470E2A59E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69"/>
          <a:stretch>
            <a:fillRect/>
          </a:stretch>
        </p:blipFill>
        <p:spPr>
          <a:xfrm>
            <a:off x="5257599" y="3419590"/>
            <a:ext cx="6731200" cy="18744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71B2A34-95E4-3DF4-D269-19D830851F9F}"/>
              </a:ext>
            </a:extLst>
          </p:cNvPr>
          <p:cNvSpPr txBox="1"/>
          <p:nvPr/>
        </p:nvSpPr>
        <p:spPr>
          <a:xfrm>
            <a:off x="7178149" y="3037900"/>
            <a:ext cx="1625490" cy="116955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Synchronisation réussie. </a:t>
            </a:r>
          </a:p>
          <a:p>
            <a:r>
              <a:rPr lang="fr-FR" sz="1400" dirty="0"/>
              <a:t>Nombre de lignes chargées dans PostgreSQL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57CC711C-F1E3-A660-9A43-BB4070672120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5432702" y="3622676"/>
            <a:ext cx="1745447" cy="4322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D4BA0290-3B42-5101-B714-CCC5501DA26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8803639" y="3622676"/>
            <a:ext cx="543561" cy="13643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Heptagone 26">
            <a:extLst>
              <a:ext uri="{FF2B5EF4-FFF2-40B4-BE49-F238E27FC236}">
                <a16:creationId xmlns:a16="http://schemas.microsoft.com/office/drawing/2014/main" id="{084E0B28-8F49-0CAF-6675-BEA698A85E8D}"/>
              </a:ext>
            </a:extLst>
          </p:cNvPr>
          <p:cNvSpPr/>
          <p:nvPr/>
        </p:nvSpPr>
        <p:spPr>
          <a:xfrm>
            <a:off x="7873074" y="4293087"/>
            <a:ext cx="457199" cy="457292"/>
          </a:xfrm>
          <a:prstGeom prst="heptag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642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4458A9-6CDC-6BF3-250C-B6E6F294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E1B120-2F32-09E5-8E07-86A7DCFC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Installation de DBT avec la commande </a:t>
            </a:r>
            <a:r>
              <a:rPr lang="fr-FR" b="1" i="1" dirty="0" err="1"/>
              <a:t>pip</a:t>
            </a:r>
            <a:r>
              <a:rPr lang="fr-FR" b="1" i="1" dirty="0"/>
              <a:t> </a:t>
            </a:r>
            <a:r>
              <a:rPr lang="fr-FR" b="1" i="1" dirty="0" err="1"/>
              <a:t>install</a:t>
            </a:r>
            <a:r>
              <a:rPr lang="fr-FR" b="1" i="1" dirty="0"/>
              <a:t> </a:t>
            </a:r>
            <a:r>
              <a:rPr lang="fr-FR" b="1" i="1" dirty="0" err="1"/>
              <a:t>dbt-core</a:t>
            </a:r>
            <a:endParaRPr lang="fr-FR" b="1" i="1" dirty="0"/>
          </a:p>
          <a:p>
            <a:r>
              <a:rPr lang="fr-FR" dirty="0"/>
              <a:t>Installation du package pour utiliser PostgreSQL avec la commande </a:t>
            </a:r>
            <a:r>
              <a:rPr lang="fr-FR" b="1" i="1" dirty="0" err="1"/>
              <a:t>pip</a:t>
            </a:r>
            <a:r>
              <a:rPr lang="fr-FR" b="1" i="1" dirty="0"/>
              <a:t> </a:t>
            </a:r>
            <a:r>
              <a:rPr lang="fr-FR" b="1" i="1" dirty="0" err="1"/>
              <a:t>install</a:t>
            </a:r>
            <a:r>
              <a:rPr lang="fr-FR" b="1" i="1" dirty="0"/>
              <a:t> </a:t>
            </a:r>
            <a:r>
              <a:rPr lang="fr-FR" b="1" i="1" dirty="0" err="1"/>
              <a:t>dbt-postgres</a:t>
            </a:r>
            <a:endParaRPr lang="fr-FR" b="1" i="1" dirty="0"/>
          </a:p>
          <a:p>
            <a:r>
              <a:rPr lang="fr-FR" dirty="0"/>
              <a:t>Initialisation du projet </a:t>
            </a:r>
            <a:r>
              <a:rPr lang="fr-FR" dirty="0" err="1"/>
              <a:t>dbt</a:t>
            </a:r>
            <a:r>
              <a:rPr lang="fr-FR" dirty="0"/>
              <a:t> avec la commande </a:t>
            </a:r>
            <a:r>
              <a:rPr lang="fr-FR" b="1" i="1" dirty="0" err="1"/>
              <a:t>dbt</a:t>
            </a:r>
            <a:r>
              <a:rPr lang="fr-FR" b="1" i="1" dirty="0"/>
              <a:t> init &lt;nom-du-projet&gt;</a:t>
            </a:r>
          </a:p>
          <a:p>
            <a:pPr lvl="1"/>
            <a:r>
              <a:rPr lang="fr-FR" dirty="0"/>
              <a:t>Un dossier au nom du projet avec les éléments suivants est créé dans le répertoire où l’initialisation a été lancée: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295062-DAC1-8A8F-28FC-FA10BE7B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1E1E22-0992-2948-AD72-8B901323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908" y="3586480"/>
            <a:ext cx="6004797" cy="320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49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F42E-A82A-9B50-24C8-E56A7D8D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C7745-3B7B-461E-3EB8-4536C770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D9EE54-A442-545E-7221-CBD5A2FA8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commande </a:t>
            </a:r>
            <a:r>
              <a:rPr lang="fr-FR" b="1" i="1" dirty="0" err="1"/>
              <a:t>dbt</a:t>
            </a:r>
            <a:r>
              <a:rPr lang="fr-FR" b="1" i="1" dirty="0"/>
              <a:t> </a:t>
            </a:r>
            <a:r>
              <a:rPr lang="fr-FR" b="1" i="1" dirty="0" err="1"/>
              <a:t>debug</a:t>
            </a:r>
            <a:r>
              <a:rPr lang="fr-FR" b="1" i="1" dirty="0"/>
              <a:t> </a:t>
            </a:r>
            <a:r>
              <a:rPr lang="fr-FR" dirty="0"/>
              <a:t>lancée dans le répertoire  du projet DBT permet de vérifier la connexion avec la base de données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marL="3240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9929C9-A6D9-231F-541C-BEFDF814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89F9684-C7A2-F52B-5C81-E730EAA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" y="2266285"/>
            <a:ext cx="8168500" cy="434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5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574AD6F7-C625-EF9D-1008-A9FFE21A8469}"/>
              </a:ext>
            </a:extLst>
          </p:cNvPr>
          <p:cNvSpPr/>
          <p:nvPr/>
        </p:nvSpPr>
        <p:spPr>
          <a:xfrm>
            <a:off x="152400" y="1811119"/>
            <a:ext cx="2837769" cy="2608403"/>
          </a:xfrm>
          <a:prstGeom prst="roundRect">
            <a:avLst/>
          </a:prstGeom>
          <a:solidFill>
            <a:srgbClr val="B3FFD5"/>
          </a:solidFill>
          <a:ln w="10160">
            <a:solidFill>
              <a:srgbClr val="B3F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2">
            <a:extLst>
              <a:ext uri="{FF2B5EF4-FFF2-40B4-BE49-F238E27FC236}">
                <a16:creationId xmlns:a16="http://schemas.microsoft.com/office/drawing/2014/main" id="{A484983D-24FE-D9A7-EF44-C1617FAC4497}"/>
              </a:ext>
            </a:extLst>
          </p:cNvPr>
          <p:cNvSpPr/>
          <p:nvPr/>
        </p:nvSpPr>
        <p:spPr>
          <a:xfrm>
            <a:off x="3220721" y="1808479"/>
            <a:ext cx="8618686" cy="2608403"/>
          </a:xfrm>
          <a:prstGeom prst="roundRect">
            <a:avLst/>
          </a:prstGeom>
          <a:solidFill>
            <a:srgbClr val="B3E7FF"/>
          </a:solidFill>
          <a:ln w="10160">
            <a:solidFill>
              <a:srgbClr val="B3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0E18D5B-0CFC-BAC9-70A7-01C7045F1E8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9EBF34-39F0-3E83-002D-10290D326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600" dirty="0"/>
              <a:t>Chaque couche a une responsabilité et un niveau de stabilité</a:t>
            </a:r>
          </a:p>
          <a:p>
            <a:r>
              <a:rPr lang="fr-FR" sz="1600" dirty="0"/>
              <a:t>Lancement de la construction des vues, des tables, des tests:</a:t>
            </a:r>
          </a:p>
          <a:p>
            <a:pPr marL="0" indent="0">
              <a:buNone/>
            </a:pPr>
            <a:r>
              <a:rPr lang="fr-FR" sz="1600" dirty="0"/>
              <a:t>Commande </a:t>
            </a:r>
            <a:r>
              <a:rPr lang="fr-FR" sz="1600" b="1" i="1" dirty="0" err="1"/>
              <a:t>dbt</a:t>
            </a:r>
            <a:r>
              <a:rPr lang="fr-FR" sz="1600" b="1" i="1" dirty="0"/>
              <a:t> </a:t>
            </a:r>
            <a:r>
              <a:rPr lang="fr-FR" sz="1600" b="1" i="1" dirty="0" err="1"/>
              <a:t>build</a:t>
            </a:r>
            <a:endParaRPr lang="fr-FR" sz="1600" b="1" i="1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F8D6F3-7708-CB2C-31C1-317A2C55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9D6DCC-9CD4-4424-FCA7-27C94BBB9986}"/>
              </a:ext>
            </a:extLst>
          </p:cNvPr>
          <p:cNvSpPr/>
          <p:nvPr/>
        </p:nvSpPr>
        <p:spPr>
          <a:xfrm>
            <a:off x="581192" y="1943200"/>
            <a:ext cx="2240280" cy="2286000"/>
          </a:xfrm>
          <a:prstGeom prst="round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D80EC-01AE-6A2F-4268-A4938580E11B}"/>
              </a:ext>
            </a:extLst>
          </p:cNvPr>
          <p:cNvSpPr txBox="1"/>
          <p:nvPr/>
        </p:nvSpPr>
        <p:spPr>
          <a:xfrm>
            <a:off x="718352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dirty="0"/>
              <a:t>raw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EFC396-2EE3-AC4D-429F-CC5768B16844}"/>
              </a:ext>
            </a:extLst>
          </p:cNvPr>
          <p:cNvSpPr txBox="1"/>
          <p:nvPr/>
        </p:nvSpPr>
        <p:spPr>
          <a:xfrm>
            <a:off x="809792" y="29490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Données </a:t>
            </a:r>
            <a:r>
              <a:rPr dirty="0" err="1"/>
              <a:t>Airbyte</a:t>
            </a:r>
            <a:br>
              <a:rPr dirty="0"/>
            </a:br>
            <a:r>
              <a:rPr dirty="0"/>
              <a:t>structure source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EDD86B34-0925-4B74-3420-0BE8259F8B2C}"/>
              </a:ext>
            </a:extLst>
          </p:cNvPr>
          <p:cNvCxnSpPr/>
          <p:nvPr/>
        </p:nvCxnSpPr>
        <p:spPr>
          <a:xfrm>
            <a:off x="2848903" y="30862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1CFB07-3A50-A5F7-94FD-20EB2B8C012E}"/>
              </a:ext>
            </a:extLst>
          </p:cNvPr>
          <p:cNvSpPr/>
          <p:nvPr/>
        </p:nvSpPr>
        <p:spPr>
          <a:xfrm>
            <a:off x="3434120" y="1943200"/>
            <a:ext cx="2240280" cy="2286000"/>
          </a:xfrm>
          <a:prstGeom prst="round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F161F-AAE6-A448-F3EC-CCCC05C635BB}"/>
              </a:ext>
            </a:extLst>
          </p:cNvPr>
          <p:cNvSpPr txBox="1"/>
          <p:nvPr/>
        </p:nvSpPr>
        <p:spPr>
          <a:xfrm>
            <a:off x="3571280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staging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4F2E0-BE03-6CD1-3744-0B852AAB9F77}"/>
              </a:ext>
            </a:extLst>
          </p:cNvPr>
          <p:cNvSpPr txBox="1"/>
          <p:nvPr/>
        </p:nvSpPr>
        <p:spPr>
          <a:xfrm>
            <a:off x="3662720" y="2949040"/>
            <a:ext cx="1783080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Vues </a:t>
            </a:r>
            <a:r>
              <a:rPr dirty="0" err="1"/>
              <a:t>nettoyées</a:t>
            </a:r>
            <a:br>
              <a:rPr dirty="0"/>
            </a:br>
            <a:r>
              <a:rPr dirty="0" err="1"/>
              <a:t>unités</a:t>
            </a:r>
            <a:r>
              <a:rPr dirty="0"/>
              <a:t> </a:t>
            </a:r>
            <a:r>
              <a:rPr dirty="0" err="1"/>
              <a:t>harmonisées</a:t>
            </a:r>
            <a:endParaRPr lang="fr-FR" dirty="0"/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_</a:t>
            </a:r>
            <a:r>
              <a:rPr lang="fr-FR" dirty="0" err="1"/>
              <a:t>sources.yml</a:t>
            </a:r>
            <a:endParaRPr lang="fr-FR" dirty="0"/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Schema.yml</a:t>
            </a:r>
            <a:endParaRPr dirty="0"/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45A27E2-68F2-6520-60B4-D146BF4DA25C}"/>
              </a:ext>
            </a:extLst>
          </p:cNvPr>
          <p:cNvCxnSpPr/>
          <p:nvPr/>
        </p:nvCxnSpPr>
        <p:spPr>
          <a:xfrm>
            <a:off x="5701832" y="30862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22E88A-2D7D-164E-60D2-A7FEC5A6681B}"/>
              </a:ext>
            </a:extLst>
          </p:cNvPr>
          <p:cNvSpPr/>
          <p:nvPr/>
        </p:nvSpPr>
        <p:spPr>
          <a:xfrm>
            <a:off x="6287048" y="1943200"/>
            <a:ext cx="2240280" cy="2286000"/>
          </a:xfrm>
          <a:prstGeom prst="round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65322-F769-3E42-0CD0-3949E79EF930}"/>
              </a:ext>
            </a:extLst>
          </p:cNvPr>
          <p:cNvSpPr txBox="1"/>
          <p:nvPr/>
        </p:nvSpPr>
        <p:spPr>
          <a:xfrm>
            <a:off x="6424208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intermediate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CD04B-98AD-DBBB-D293-35B99C03D4AF}"/>
              </a:ext>
            </a:extLst>
          </p:cNvPr>
          <p:cNvSpPr txBox="1"/>
          <p:nvPr/>
        </p:nvSpPr>
        <p:spPr>
          <a:xfrm>
            <a:off x="6515648" y="29490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Union des sources</a:t>
            </a:r>
            <a:br/>
            <a:r>
              <a:t>modèle unifié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05A85D3B-3EF2-0214-5A52-22ECF10E2E61}"/>
              </a:ext>
            </a:extLst>
          </p:cNvPr>
          <p:cNvCxnSpPr/>
          <p:nvPr/>
        </p:nvCxnSpPr>
        <p:spPr>
          <a:xfrm>
            <a:off x="8554760" y="30862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C3BA36-4B83-22F3-3FCF-055A2CB304E2}"/>
              </a:ext>
            </a:extLst>
          </p:cNvPr>
          <p:cNvSpPr/>
          <p:nvPr/>
        </p:nvSpPr>
        <p:spPr>
          <a:xfrm>
            <a:off x="9139975" y="1943200"/>
            <a:ext cx="2240280" cy="2286000"/>
          </a:xfrm>
          <a:prstGeom prst="round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9147CA-C17A-9366-0CD6-12ADF1AAFB63}"/>
              </a:ext>
            </a:extLst>
          </p:cNvPr>
          <p:cNvSpPr txBox="1"/>
          <p:nvPr/>
        </p:nvSpPr>
        <p:spPr>
          <a:xfrm>
            <a:off x="9277136" y="23089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dirty="0"/>
              <a:t>marts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198C45-15C1-3AA2-1763-1D39760BBE64}"/>
              </a:ext>
            </a:extLst>
          </p:cNvPr>
          <p:cNvSpPr txBox="1"/>
          <p:nvPr/>
        </p:nvSpPr>
        <p:spPr>
          <a:xfrm>
            <a:off x="9368575" y="29490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dirty="0"/>
              <a:t>Tables métier</a:t>
            </a:r>
            <a:br>
              <a:rPr dirty="0"/>
            </a:br>
            <a:r>
              <a:rPr dirty="0"/>
              <a:t>fact + dim</a:t>
            </a:r>
          </a:p>
        </p:txBody>
      </p:sp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182F2DAF-C4DF-34ED-C6C7-A23BDDAD5916}"/>
              </a:ext>
            </a:extLst>
          </p:cNvPr>
          <p:cNvSpPr/>
          <p:nvPr/>
        </p:nvSpPr>
        <p:spPr>
          <a:xfrm>
            <a:off x="9143571" y="4507230"/>
            <a:ext cx="2240280" cy="2286000"/>
          </a:xfrm>
          <a:prstGeom prst="roundRect">
            <a:avLst/>
          </a:prstGeom>
          <a:solidFill>
            <a:srgbClr val="F15333"/>
          </a:solidFill>
          <a:ln w="10160">
            <a:solidFill>
              <a:srgbClr val="F15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0474E1C8-B6C2-5891-AA93-49DDED442BA7}"/>
              </a:ext>
            </a:extLst>
          </p:cNvPr>
          <p:cNvSpPr txBox="1"/>
          <p:nvPr/>
        </p:nvSpPr>
        <p:spPr>
          <a:xfrm>
            <a:off x="9277136" y="4959019"/>
            <a:ext cx="19659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seed</a:t>
            </a:r>
            <a:endParaRPr dirty="0"/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5DC7A689-2494-F8E1-2230-25B8260FF817}"/>
              </a:ext>
            </a:extLst>
          </p:cNvPr>
          <p:cNvSpPr txBox="1"/>
          <p:nvPr/>
        </p:nvSpPr>
        <p:spPr>
          <a:xfrm>
            <a:off x="9368575" y="5599099"/>
            <a:ext cx="1783080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Métadonnées stations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Heures</a:t>
            </a:r>
            <a:endParaRPr dirty="0"/>
          </a:p>
        </p:txBody>
      </p:sp>
      <p:cxnSp>
        <p:nvCxnSpPr>
          <p:cNvPr id="24" name="Connector 15">
            <a:extLst>
              <a:ext uri="{FF2B5EF4-FFF2-40B4-BE49-F238E27FC236}">
                <a16:creationId xmlns:a16="http://schemas.microsoft.com/office/drawing/2014/main" id="{20D3E8B6-02D9-DAAA-C608-3078B9521A3C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10260115" y="4229200"/>
            <a:ext cx="3596" cy="27803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B38D0D20-8EBF-B571-C088-27ED944D6123}"/>
              </a:ext>
            </a:extLst>
          </p:cNvPr>
          <p:cNvSpPr/>
          <p:nvPr/>
        </p:nvSpPr>
        <p:spPr>
          <a:xfrm>
            <a:off x="6323386" y="4503039"/>
            <a:ext cx="2240280" cy="2286000"/>
          </a:xfrm>
          <a:prstGeom prst="roundRect">
            <a:avLst/>
          </a:prstGeom>
          <a:solidFill>
            <a:srgbClr val="F6A2F8"/>
          </a:solidFill>
          <a:ln w="10160">
            <a:solidFill>
              <a:srgbClr val="F6A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102671C6-8BCD-7A94-517E-BB48363511A1}"/>
              </a:ext>
            </a:extLst>
          </p:cNvPr>
          <p:cNvSpPr txBox="1"/>
          <p:nvPr/>
        </p:nvSpPr>
        <p:spPr>
          <a:xfrm>
            <a:off x="6456951" y="4954828"/>
            <a:ext cx="19659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test</a:t>
            </a:r>
            <a:endParaRPr dirty="0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0A0E9574-2131-20F8-6B7C-1D58CBDC9673}"/>
              </a:ext>
            </a:extLst>
          </p:cNvPr>
          <p:cNvSpPr txBox="1"/>
          <p:nvPr/>
        </p:nvSpPr>
        <p:spPr>
          <a:xfrm>
            <a:off x="6548390" y="5594908"/>
            <a:ext cx="1783080" cy="11695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Test spécifiques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Température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Wind_direction</a:t>
            </a:r>
            <a:endParaRPr lang="fr-FR" dirty="0"/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/>
              <a:t>speed </a:t>
            </a:r>
          </a:p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rPr lang="fr-FR" dirty="0" err="1"/>
              <a:t>humidity</a:t>
            </a:r>
            <a:endParaRPr dirty="0"/>
          </a:p>
        </p:txBody>
      </p:sp>
      <p:cxnSp>
        <p:nvCxnSpPr>
          <p:cNvPr id="31" name="Connector 15">
            <a:extLst>
              <a:ext uri="{FF2B5EF4-FFF2-40B4-BE49-F238E27FC236}">
                <a16:creationId xmlns:a16="http://schemas.microsoft.com/office/drawing/2014/main" id="{5A7E3BE7-87B3-E40E-C575-EC9967702DCF}"/>
              </a:ext>
            </a:extLst>
          </p:cNvPr>
          <p:cNvCxnSpPr>
            <a:cxnSpLocks/>
          </p:cNvCxnSpPr>
          <p:nvPr/>
        </p:nvCxnSpPr>
        <p:spPr>
          <a:xfrm flipV="1">
            <a:off x="8527328" y="4114800"/>
            <a:ext cx="749808" cy="50800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5">
            <a:extLst>
              <a:ext uri="{FF2B5EF4-FFF2-40B4-BE49-F238E27FC236}">
                <a16:creationId xmlns:a16="http://schemas.microsoft.com/office/drawing/2014/main" id="{61C7C67E-E175-0313-FD12-0B5BE1C58F04}"/>
              </a:ext>
            </a:extLst>
          </p:cNvPr>
          <p:cNvSpPr txBox="1"/>
          <p:nvPr/>
        </p:nvSpPr>
        <p:spPr>
          <a:xfrm rot="16200000">
            <a:off x="-624256" y="2958792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>
                <a:solidFill>
                  <a:schemeClr val="tx2"/>
                </a:solidFill>
              </a:rPr>
              <a:t>Schéma </a:t>
            </a:r>
            <a:r>
              <a:rPr sz="1400" dirty="0">
                <a:solidFill>
                  <a:schemeClr val="tx2"/>
                </a:solidFill>
              </a:rPr>
              <a:t>raw</a:t>
            </a: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B1BF2552-1547-288C-3353-FC0E5E05076F}"/>
              </a:ext>
            </a:extLst>
          </p:cNvPr>
          <p:cNvSpPr txBox="1"/>
          <p:nvPr/>
        </p:nvSpPr>
        <p:spPr>
          <a:xfrm rot="16200000">
            <a:off x="10645098" y="2977931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>
                <a:solidFill>
                  <a:schemeClr val="tx2"/>
                </a:solidFill>
              </a:rPr>
              <a:t>Schéma </a:t>
            </a:r>
            <a:r>
              <a:rPr lang="fr-FR" sz="1400" dirty="0" err="1">
                <a:solidFill>
                  <a:schemeClr val="tx2"/>
                </a:solidFill>
              </a:rPr>
              <a:t>analytics</a:t>
            </a:r>
            <a:endParaRPr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09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211C-47F9-6E59-589A-FFCF4FE30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02BBED-3987-1BEB-699F-8E46FC3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F1EB3C-C2A0-AB99-EF72-61D343ED2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Commande </a:t>
            </a:r>
            <a:r>
              <a:rPr lang="fr-FR" b="1" i="1" dirty="0" err="1"/>
              <a:t>dbt</a:t>
            </a:r>
            <a:r>
              <a:rPr lang="fr-FR" b="1" i="1" dirty="0"/>
              <a:t> docs serve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0A630D-19CA-91E1-0AA4-114F144B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84F0C5-5D72-7047-7F47-E09E5781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6219"/>
            <a:ext cx="12192000" cy="32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445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D0E35-BCDC-830F-709A-ED57F557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Mise en place DBT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39F617-04B0-E842-D52E-D555EE905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Commande </a:t>
            </a:r>
            <a:r>
              <a:rPr lang="fr-FR" b="1" i="1" dirty="0" err="1"/>
              <a:t>dbt</a:t>
            </a:r>
            <a:r>
              <a:rPr lang="fr-FR" b="1" i="1" dirty="0"/>
              <a:t> docs serve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9DF038-2956-38BA-1941-E4BB571C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8C1690-CD47-612A-6BFD-45422F02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6219"/>
            <a:ext cx="12192000" cy="3229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2021EA-B1C4-E647-6371-507A71358803}"/>
              </a:ext>
            </a:extLst>
          </p:cNvPr>
          <p:cNvSpPr/>
          <p:nvPr/>
        </p:nvSpPr>
        <p:spPr>
          <a:xfrm>
            <a:off x="6714566" y="3015867"/>
            <a:ext cx="3630706" cy="18340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D6AE3AD5-157F-59E3-C0EF-08727724719B}"/>
              </a:ext>
            </a:extLst>
          </p:cNvPr>
          <p:cNvSpPr txBox="1"/>
          <p:nvPr/>
        </p:nvSpPr>
        <p:spPr>
          <a:xfrm>
            <a:off x="8854441" y="3121223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 err="1">
                <a:solidFill>
                  <a:srgbClr val="00B050"/>
                </a:solidFill>
              </a:rPr>
              <a:t>marts</a:t>
            </a:r>
            <a:endParaRPr sz="1400" dirty="0">
              <a:solidFill>
                <a:srgbClr val="00B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3BA47C-53D1-752C-1DCF-669C5942E134}"/>
              </a:ext>
            </a:extLst>
          </p:cNvPr>
          <p:cNvSpPr/>
          <p:nvPr/>
        </p:nvSpPr>
        <p:spPr>
          <a:xfrm>
            <a:off x="6320118" y="5072190"/>
            <a:ext cx="2142563" cy="9031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6C42C2E-CB13-EEEE-7DE2-C7868A31595F}"/>
              </a:ext>
            </a:extLst>
          </p:cNvPr>
          <p:cNvSpPr txBox="1"/>
          <p:nvPr/>
        </p:nvSpPr>
        <p:spPr>
          <a:xfrm>
            <a:off x="6888481" y="5044911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 err="1">
                <a:solidFill>
                  <a:srgbClr val="FFC000"/>
                </a:solidFill>
              </a:rPr>
              <a:t>intermediate</a:t>
            </a:r>
            <a:endParaRPr sz="1400" dirty="0">
              <a:solidFill>
                <a:srgbClr val="FFC000"/>
              </a:solidFill>
            </a:endParaRP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916AF3AE-F3A7-AFC4-666D-8616A6BF6360}"/>
              </a:ext>
            </a:extLst>
          </p:cNvPr>
          <p:cNvSpPr/>
          <p:nvPr/>
        </p:nvSpPr>
        <p:spPr>
          <a:xfrm>
            <a:off x="3227294" y="3056965"/>
            <a:ext cx="2655710" cy="3065929"/>
          </a:xfrm>
          <a:custGeom>
            <a:avLst/>
            <a:gdLst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375647 w 2752165"/>
              <a:gd name="connsiteY14" fmla="*/ 286870 h 3065929"/>
              <a:gd name="connsiteX15" fmla="*/ 2277035 w 2752165"/>
              <a:gd name="connsiteY15" fmla="*/ 51995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144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238487 w 2752165"/>
              <a:gd name="connsiteY14" fmla="*/ 139550 h 3065929"/>
              <a:gd name="connsiteX15" fmla="*/ 2277035 w 2752165"/>
              <a:gd name="connsiteY15" fmla="*/ 51995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144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228327 w 2752165"/>
              <a:gd name="connsiteY14" fmla="*/ 170030 h 3065929"/>
              <a:gd name="connsiteX15" fmla="*/ 2277035 w 2752165"/>
              <a:gd name="connsiteY15" fmla="*/ 51995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144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228327 w 2752165"/>
              <a:gd name="connsiteY14" fmla="*/ 170030 h 3065929"/>
              <a:gd name="connsiteX15" fmla="*/ 2205915 w 2752165"/>
              <a:gd name="connsiteY15" fmla="*/ 48947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144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228327 w 2752165"/>
              <a:gd name="connsiteY14" fmla="*/ 170030 h 3065929"/>
              <a:gd name="connsiteX15" fmla="*/ 2205915 w 2752165"/>
              <a:gd name="connsiteY15" fmla="*/ 47423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144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205915 w 2752165"/>
              <a:gd name="connsiteY15" fmla="*/ 47423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144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205915 w 2752165"/>
              <a:gd name="connsiteY15" fmla="*/ 47423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906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180515 w 2752165"/>
              <a:gd name="connsiteY15" fmla="*/ 46407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906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385482 w 2752165"/>
              <a:gd name="connsiteY28" fmla="*/ 143435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180515 w 2752165"/>
              <a:gd name="connsiteY15" fmla="*/ 46407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906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86753 w 2752165"/>
              <a:gd name="connsiteY21" fmla="*/ 86061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426122 w 2752165"/>
              <a:gd name="connsiteY28" fmla="*/ 144451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180515 w 2752165"/>
              <a:gd name="connsiteY15" fmla="*/ 46407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906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96913 w 2752165"/>
              <a:gd name="connsiteY21" fmla="*/ 89617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426122 w 2752165"/>
              <a:gd name="connsiteY28" fmla="*/ 1444513 h 3065929"/>
              <a:gd name="connsiteX29" fmla="*/ 430306 w 2752165"/>
              <a:gd name="connsiteY29" fmla="*/ 1649506 h 3065929"/>
              <a:gd name="connsiteX30" fmla="*/ 546847 w 2752165"/>
              <a:gd name="connsiteY30" fmla="*/ 179294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743200 w 2752165"/>
              <a:gd name="connsiteY3" fmla="*/ 289560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180515 w 2752165"/>
              <a:gd name="connsiteY15" fmla="*/ 46407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906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96913 w 2752165"/>
              <a:gd name="connsiteY21" fmla="*/ 89617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426122 w 2752165"/>
              <a:gd name="connsiteY28" fmla="*/ 1444513 h 3065929"/>
              <a:gd name="connsiteX29" fmla="*/ 430306 w 2752165"/>
              <a:gd name="connsiteY29" fmla="*/ 1649506 h 3065929"/>
              <a:gd name="connsiteX30" fmla="*/ 551927 w 2752165"/>
              <a:gd name="connsiteY30" fmla="*/ 177262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752165"/>
              <a:gd name="connsiteY0" fmla="*/ 1748117 h 3065929"/>
              <a:gd name="connsiteX1" fmla="*/ 2662518 w 2752165"/>
              <a:gd name="connsiteY1" fmla="*/ 2008094 h 3065929"/>
              <a:gd name="connsiteX2" fmla="*/ 2752165 w 2752165"/>
              <a:gd name="connsiteY2" fmla="*/ 2456329 h 3065929"/>
              <a:gd name="connsiteX3" fmla="*/ 2641600 w 2752165"/>
              <a:gd name="connsiteY3" fmla="*/ 2900680 h 3065929"/>
              <a:gd name="connsiteX4" fmla="*/ 2537012 w 2752165"/>
              <a:gd name="connsiteY4" fmla="*/ 2985247 h 3065929"/>
              <a:gd name="connsiteX5" fmla="*/ 2061882 w 2752165"/>
              <a:gd name="connsiteY5" fmla="*/ 3065929 h 3065929"/>
              <a:gd name="connsiteX6" fmla="*/ 313765 w 2752165"/>
              <a:gd name="connsiteY6" fmla="*/ 3048000 h 3065929"/>
              <a:gd name="connsiteX7" fmla="*/ 107577 w 2752165"/>
              <a:gd name="connsiteY7" fmla="*/ 2868706 h 3065929"/>
              <a:gd name="connsiteX8" fmla="*/ 0 w 2752165"/>
              <a:gd name="connsiteY8" fmla="*/ 2294964 h 3065929"/>
              <a:gd name="connsiteX9" fmla="*/ 62753 w 2752165"/>
              <a:gd name="connsiteY9" fmla="*/ 1272988 h 3065929"/>
              <a:gd name="connsiteX10" fmla="*/ 224118 w 2752165"/>
              <a:gd name="connsiteY10" fmla="*/ 412376 h 3065929"/>
              <a:gd name="connsiteX11" fmla="*/ 546847 w 2752165"/>
              <a:gd name="connsiteY11" fmla="*/ 26894 h 3065929"/>
              <a:gd name="connsiteX12" fmla="*/ 1120588 w 2752165"/>
              <a:gd name="connsiteY12" fmla="*/ 0 h 3065929"/>
              <a:gd name="connsiteX13" fmla="*/ 1963271 w 2752165"/>
              <a:gd name="connsiteY13" fmla="*/ 26894 h 3065929"/>
              <a:gd name="connsiteX14" fmla="*/ 2182607 w 2752165"/>
              <a:gd name="connsiteY14" fmla="*/ 170030 h 3065929"/>
              <a:gd name="connsiteX15" fmla="*/ 2180515 w 2752165"/>
              <a:gd name="connsiteY15" fmla="*/ 464073 h 3065929"/>
              <a:gd name="connsiteX16" fmla="*/ 1954306 w 2752165"/>
              <a:gd name="connsiteY16" fmla="*/ 546847 h 3065929"/>
              <a:gd name="connsiteX17" fmla="*/ 1335741 w 2752165"/>
              <a:gd name="connsiteY17" fmla="*/ 528917 h 3065929"/>
              <a:gd name="connsiteX18" fmla="*/ 990600 w 2752165"/>
              <a:gd name="connsiteY18" fmla="*/ 528917 h 3065929"/>
              <a:gd name="connsiteX19" fmla="*/ 923365 w 2752165"/>
              <a:gd name="connsiteY19" fmla="*/ 726141 h 3065929"/>
              <a:gd name="connsiteX20" fmla="*/ 1004047 w 2752165"/>
              <a:gd name="connsiteY20" fmla="*/ 896470 h 3065929"/>
              <a:gd name="connsiteX21" fmla="*/ 1596913 w 2752165"/>
              <a:gd name="connsiteY21" fmla="*/ 896171 h 3065929"/>
              <a:gd name="connsiteX22" fmla="*/ 2043953 w 2752165"/>
              <a:gd name="connsiteY22" fmla="*/ 887506 h 3065929"/>
              <a:gd name="connsiteX23" fmla="*/ 2268071 w 2752165"/>
              <a:gd name="connsiteY23" fmla="*/ 968188 h 3065929"/>
              <a:gd name="connsiteX24" fmla="*/ 2286000 w 2752165"/>
              <a:gd name="connsiteY24" fmla="*/ 1156447 h 3065929"/>
              <a:gd name="connsiteX25" fmla="*/ 2214282 w 2752165"/>
              <a:gd name="connsiteY25" fmla="*/ 1299882 h 3065929"/>
              <a:gd name="connsiteX26" fmla="*/ 1766047 w 2752165"/>
              <a:gd name="connsiteY26" fmla="*/ 1335741 h 3065929"/>
              <a:gd name="connsiteX27" fmla="*/ 609600 w 2752165"/>
              <a:gd name="connsiteY27" fmla="*/ 1353670 h 3065929"/>
              <a:gd name="connsiteX28" fmla="*/ 426122 w 2752165"/>
              <a:gd name="connsiteY28" fmla="*/ 1444513 h 3065929"/>
              <a:gd name="connsiteX29" fmla="*/ 430306 w 2752165"/>
              <a:gd name="connsiteY29" fmla="*/ 1649506 h 3065929"/>
              <a:gd name="connsiteX30" fmla="*/ 551927 w 2752165"/>
              <a:gd name="connsiteY30" fmla="*/ 1772621 h 3065929"/>
              <a:gd name="connsiteX31" fmla="*/ 1515035 w 2752165"/>
              <a:gd name="connsiteY31" fmla="*/ 1766047 h 3065929"/>
              <a:gd name="connsiteX32" fmla="*/ 2384612 w 2752165"/>
              <a:gd name="connsiteY32" fmla="*/ 1748117 h 3065929"/>
              <a:gd name="connsiteX0" fmla="*/ 2384612 w 2681045"/>
              <a:gd name="connsiteY0" fmla="*/ 1748117 h 3065929"/>
              <a:gd name="connsiteX1" fmla="*/ 2662518 w 2681045"/>
              <a:gd name="connsiteY1" fmla="*/ 2008094 h 3065929"/>
              <a:gd name="connsiteX2" fmla="*/ 2681045 w 2681045"/>
              <a:gd name="connsiteY2" fmla="*/ 2430929 h 3065929"/>
              <a:gd name="connsiteX3" fmla="*/ 2641600 w 2681045"/>
              <a:gd name="connsiteY3" fmla="*/ 2900680 h 3065929"/>
              <a:gd name="connsiteX4" fmla="*/ 2537012 w 2681045"/>
              <a:gd name="connsiteY4" fmla="*/ 2985247 h 3065929"/>
              <a:gd name="connsiteX5" fmla="*/ 2061882 w 2681045"/>
              <a:gd name="connsiteY5" fmla="*/ 3065929 h 3065929"/>
              <a:gd name="connsiteX6" fmla="*/ 313765 w 2681045"/>
              <a:gd name="connsiteY6" fmla="*/ 3048000 h 3065929"/>
              <a:gd name="connsiteX7" fmla="*/ 107577 w 2681045"/>
              <a:gd name="connsiteY7" fmla="*/ 2868706 h 3065929"/>
              <a:gd name="connsiteX8" fmla="*/ 0 w 2681045"/>
              <a:gd name="connsiteY8" fmla="*/ 2294964 h 3065929"/>
              <a:gd name="connsiteX9" fmla="*/ 62753 w 2681045"/>
              <a:gd name="connsiteY9" fmla="*/ 1272988 h 3065929"/>
              <a:gd name="connsiteX10" fmla="*/ 224118 w 2681045"/>
              <a:gd name="connsiteY10" fmla="*/ 412376 h 3065929"/>
              <a:gd name="connsiteX11" fmla="*/ 546847 w 2681045"/>
              <a:gd name="connsiteY11" fmla="*/ 26894 h 3065929"/>
              <a:gd name="connsiteX12" fmla="*/ 1120588 w 2681045"/>
              <a:gd name="connsiteY12" fmla="*/ 0 h 3065929"/>
              <a:gd name="connsiteX13" fmla="*/ 1963271 w 2681045"/>
              <a:gd name="connsiteY13" fmla="*/ 26894 h 3065929"/>
              <a:gd name="connsiteX14" fmla="*/ 2182607 w 2681045"/>
              <a:gd name="connsiteY14" fmla="*/ 170030 h 3065929"/>
              <a:gd name="connsiteX15" fmla="*/ 2180515 w 2681045"/>
              <a:gd name="connsiteY15" fmla="*/ 464073 h 3065929"/>
              <a:gd name="connsiteX16" fmla="*/ 1954306 w 2681045"/>
              <a:gd name="connsiteY16" fmla="*/ 546847 h 3065929"/>
              <a:gd name="connsiteX17" fmla="*/ 1335741 w 2681045"/>
              <a:gd name="connsiteY17" fmla="*/ 528917 h 3065929"/>
              <a:gd name="connsiteX18" fmla="*/ 990600 w 2681045"/>
              <a:gd name="connsiteY18" fmla="*/ 528917 h 3065929"/>
              <a:gd name="connsiteX19" fmla="*/ 923365 w 2681045"/>
              <a:gd name="connsiteY19" fmla="*/ 726141 h 3065929"/>
              <a:gd name="connsiteX20" fmla="*/ 1004047 w 2681045"/>
              <a:gd name="connsiteY20" fmla="*/ 896470 h 3065929"/>
              <a:gd name="connsiteX21" fmla="*/ 1596913 w 2681045"/>
              <a:gd name="connsiteY21" fmla="*/ 896171 h 3065929"/>
              <a:gd name="connsiteX22" fmla="*/ 2043953 w 2681045"/>
              <a:gd name="connsiteY22" fmla="*/ 887506 h 3065929"/>
              <a:gd name="connsiteX23" fmla="*/ 2268071 w 2681045"/>
              <a:gd name="connsiteY23" fmla="*/ 968188 h 3065929"/>
              <a:gd name="connsiteX24" fmla="*/ 2286000 w 2681045"/>
              <a:gd name="connsiteY24" fmla="*/ 1156447 h 3065929"/>
              <a:gd name="connsiteX25" fmla="*/ 2214282 w 2681045"/>
              <a:gd name="connsiteY25" fmla="*/ 1299882 h 3065929"/>
              <a:gd name="connsiteX26" fmla="*/ 1766047 w 2681045"/>
              <a:gd name="connsiteY26" fmla="*/ 1335741 h 3065929"/>
              <a:gd name="connsiteX27" fmla="*/ 609600 w 2681045"/>
              <a:gd name="connsiteY27" fmla="*/ 1353670 h 3065929"/>
              <a:gd name="connsiteX28" fmla="*/ 426122 w 2681045"/>
              <a:gd name="connsiteY28" fmla="*/ 1444513 h 3065929"/>
              <a:gd name="connsiteX29" fmla="*/ 430306 w 2681045"/>
              <a:gd name="connsiteY29" fmla="*/ 1649506 h 3065929"/>
              <a:gd name="connsiteX30" fmla="*/ 551927 w 2681045"/>
              <a:gd name="connsiteY30" fmla="*/ 1772621 h 3065929"/>
              <a:gd name="connsiteX31" fmla="*/ 1515035 w 2681045"/>
              <a:gd name="connsiteY31" fmla="*/ 1766047 h 3065929"/>
              <a:gd name="connsiteX32" fmla="*/ 2384612 w 2681045"/>
              <a:gd name="connsiteY32" fmla="*/ 1748117 h 3065929"/>
              <a:gd name="connsiteX0" fmla="*/ 2384612 w 2681045"/>
              <a:gd name="connsiteY0" fmla="*/ 1748117 h 3065929"/>
              <a:gd name="connsiteX1" fmla="*/ 2616798 w 2681045"/>
              <a:gd name="connsiteY1" fmla="*/ 2028414 h 3065929"/>
              <a:gd name="connsiteX2" fmla="*/ 2681045 w 2681045"/>
              <a:gd name="connsiteY2" fmla="*/ 2430929 h 3065929"/>
              <a:gd name="connsiteX3" fmla="*/ 2641600 w 2681045"/>
              <a:gd name="connsiteY3" fmla="*/ 2900680 h 3065929"/>
              <a:gd name="connsiteX4" fmla="*/ 2537012 w 2681045"/>
              <a:gd name="connsiteY4" fmla="*/ 2985247 h 3065929"/>
              <a:gd name="connsiteX5" fmla="*/ 2061882 w 2681045"/>
              <a:gd name="connsiteY5" fmla="*/ 3065929 h 3065929"/>
              <a:gd name="connsiteX6" fmla="*/ 313765 w 2681045"/>
              <a:gd name="connsiteY6" fmla="*/ 3048000 h 3065929"/>
              <a:gd name="connsiteX7" fmla="*/ 107577 w 2681045"/>
              <a:gd name="connsiteY7" fmla="*/ 2868706 h 3065929"/>
              <a:gd name="connsiteX8" fmla="*/ 0 w 2681045"/>
              <a:gd name="connsiteY8" fmla="*/ 2294964 h 3065929"/>
              <a:gd name="connsiteX9" fmla="*/ 62753 w 2681045"/>
              <a:gd name="connsiteY9" fmla="*/ 1272988 h 3065929"/>
              <a:gd name="connsiteX10" fmla="*/ 224118 w 2681045"/>
              <a:gd name="connsiteY10" fmla="*/ 412376 h 3065929"/>
              <a:gd name="connsiteX11" fmla="*/ 546847 w 2681045"/>
              <a:gd name="connsiteY11" fmla="*/ 26894 h 3065929"/>
              <a:gd name="connsiteX12" fmla="*/ 1120588 w 2681045"/>
              <a:gd name="connsiteY12" fmla="*/ 0 h 3065929"/>
              <a:gd name="connsiteX13" fmla="*/ 1963271 w 2681045"/>
              <a:gd name="connsiteY13" fmla="*/ 26894 h 3065929"/>
              <a:gd name="connsiteX14" fmla="*/ 2182607 w 2681045"/>
              <a:gd name="connsiteY14" fmla="*/ 170030 h 3065929"/>
              <a:gd name="connsiteX15" fmla="*/ 2180515 w 2681045"/>
              <a:gd name="connsiteY15" fmla="*/ 464073 h 3065929"/>
              <a:gd name="connsiteX16" fmla="*/ 1954306 w 2681045"/>
              <a:gd name="connsiteY16" fmla="*/ 546847 h 3065929"/>
              <a:gd name="connsiteX17" fmla="*/ 1335741 w 2681045"/>
              <a:gd name="connsiteY17" fmla="*/ 528917 h 3065929"/>
              <a:gd name="connsiteX18" fmla="*/ 990600 w 2681045"/>
              <a:gd name="connsiteY18" fmla="*/ 528917 h 3065929"/>
              <a:gd name="connsiteX19" fmla="*/ 923365 w 2681045"/>
              <a:gd name="connsiteY19" fmla="*/ 726141 h 3065929"/>
              <a:gd name="connsiteX20" fmla="*/ 1004047 w 2681045"/>
              <a:gd name="connsiteY20" fmla="*/ 896470 h 3065929"/>
              <a:gd name="connsiteX21" fmla="*/ 1596913 w 2681045"/>
              <a:gd name="connsiteY21" fmla="*/ 896171 h 3065929"/>
              <a:gd name="connsiteX22" fmla="*/ 2043953 w 2681045"/>
              <a:gd name="connsiteY22" fmla="*/ 887506 h 3065929"/>
              <a:gd name="connsiteX23" fmla="*/ 2268071 w 2681045"/>
              <a:gd name="connsiteY23" fmla="*/ 968188 h 3065929"/>
              <a:gd name="connsiteX24" fmla="*/ 2286000 w 2681045"/>
              <a:gd name="connsiteY24" fmla="*/ 1156447 h 3065929"/>
              <a:gd name="connsiteX25" fmla="*/ 2214282 w 2681045"/>
              <a:gd name="connsiteY25" fmla="*/ 1299882 h 3065929"/>
              <a:gd name="connsiteX26" fmla="*/ 1766047 w 2681045"/>
              <a:gd name="connsiteY26" fmla="*/ 1335741 h 3065929"/>
              <a:gd name="connsiteX27" fmla="*/ 609600 w 2681045"/>
              <a:gd name="connsiteY27" fmla="*/ 1353670 h 3065929"/>
              <a:gd name="connsiteX28" fmla="*/ 426122 w 2681045"/>
              <a:gd name="connsiteY28" fmla="*/ 1444513 h 3065929"/>
              <a:gd name="connsiteX29" fmla="*/ 430306 w 2681045"/>
              <a:gd name="connsiteY29" fmla="*/ 1649506 h 3065929"/>
              <a:gd name="connsiteX30" fmla="*/ 551927 w 2681045"/>
              <a:gd name="connsiteY30" fmla="*/ 1772621 h 3065929"/>
              <a:gd name="connsiteX31" fmla="*/ 1515035 w 2681045"/>
              <a:gd name="connsiteY31" fmla="*/ 1766047 h 3065929"/>
              <a:gd name="connsiteX32" fmla="*/ 2384612 w 2681045"/>
              <a:gd name="connsiteY32" fmla="*/ 1748117 h 3065929"/>
              <a:gd name="connsiteX0" fmla="*/ 2384612 w 2641600"/>
              <a:gd name="connsiteY0" fmla="*/ 1748117 h 3065929"/>
              <a:gd name="connsiteX1" fmla="*/ 2616798 w 2641600"/>
              <a:gd name="connsiteY1" fmla="*/ 2028414 h 3065929"/>
              <a:gd name="connsiteX2" fmla="*/ 2635325 w 2641600"/>
              <a:gd name="connsiteY2" fmla="*/ 2436009 h 3065929"/>
              <a:gd name="connsiteX3" fmla="*/ 2641600 w 2641600"/>
              <a:gd name="connsiteY3" fmla="*/ 2900680 h 3065929"/>
              <a:gd name="connsiteX4" fmla="*/ 2537012 w 2641600"/>
              <a:gd name="connsiteY4" fmla="*/ 2985247 h 3065929"/>
              <a:gd name="connsiteX5" fmla="*/ 2061882 w 2641600"/>
              <a:gd name="connsiteY5" fmla="*/ 3065929 h 3065929"/>
              <a:gd name="connsiteX6" fmla="*/ 313765 w 2641600"/>
              <a:gd name="connsiteY6" fmla="*/ 3048000 h 3065929"/>
              <a:gd name="connsiteX7" fmla="*/ 107577 w 2641600"/>
              <a:gd name="connsiteY7" fmla="*/ 2868706 h 3065929"/>
              <a:gd name="connsiteX8" fmla="*/ 0 w 2641600"/>
              <a:gd name="connsiteY8" fmla="*/ 2294964 h 3065929"/>
              <a:gd name="connsiteX9" fmla="*/ 62753 w 2641600"/>
              <a:gd name="connsiteY9" fmla="*/ 1272988 h 3065929"/>
              <a:gd name="connsiteX10" fmla="*/ 224118 w 2641600"/>
              <a:gd name="connsiteY10" fmla="*/ 412376 h 3065929"/>
              <a:gd name="connsiteX11" fmla="*/ 546847 w 2641600"/>
              <a:gd name="connsiteY11" fmla="*/ 26894 h 3065929"/>
              <a:gd name="connsiteX12" fmla="*/ 1120588 w 2641600"/>
              <a:gd name="connsiteY12" fmla="*/ 0 h 3065929"/>
              <a:gd name="connsiteX13" fmla="*/ 1963271 w 2641600"/>
              <a:gd name="connsiteY13" fmla="*/ 26894 h 3065929"/>
              <a:gd name="connsiteX14" fmla="*/ 2182607 w 2641600"/>
              <a:gd name="connsiteY14" fmla="*/ 170030 h 3065929"/>
              <a:gd name="connsiteX15" fmla="*/ 2180515 w 2641600"/>
              <a:gd name="connsiteY15" fmla="*/ 464073 h 3065929"/>
              <a:gd name="connsiteX16" fmla="*/ 1954306 w 2641600"/>
              <a:gd name="connsiteY16" fmla="*/ 546847 h 3065929"/>
              <a:gd name="connsiteX17" fmla="*/ 1335741 w 2641600"/>
              <a:gd name="connsiteY17" fmla="*/ 528917 h 3065929"/>
              <a:gd name="connsiteX18" fmla="*/ 990600 w 2641600"/>
              <a:gd name="connsiteY18" fmla="*/ 528917 h 3065929"/>
              <a:gd name="connsiteX19" fmla="*/ 923365 w 2641600"/>
              <a:gd name="connsiteY19" fmla="*/ 726141 h 3065929"/>
              <a:gd name="connsiteX20" fmla="*/ 1004047 w 2641600"/>
              <a:gd name="connsiteY20" fmla="*/ 896470 h 3065929"/>
              <a:gd name="connsiteX21" fmla="*/ 1596913 w 2641600"/>
              <a:gd name="connsiteY21" fmla="*/ 896171 h 3065929"/>
              <a:gd name="connsiteX22" fmla="*/ 2043953 w 2641600"/>
              <a:gd name="connsiteY22" fmla="*/ 887506 h 3065929"/>
              <a:gd name="connsiteX23" fmla="*/ 2268071 w 2641600"/>
              <a:gd name="connsiteY23" fmla="*/ 968188 h 3065929"/>
              <a:gd name="connsiteX24" fmla="*/ 2286000 w 2641600"/>
              <a:gd name="connsiteY24" fmla="*/ 1156447 h 3065929"/>
              <a:gd name="connsiteX25" fmla="*/ 2214282 w 2641600"/>
              <a:gd name="connsiteY25" fmla="*/ 1299882 h 3065929"/>
              <a:gd name="connsiteX26" fmla="*/ 1766047 w 2641600"/>
              <a:gd name="connsiteY26" fmla="*/ 1335741 h 3065929"/>
              <a:gd name="connsiteX27" fmla="*/ 609600 w 2641600"/>
              <a:gd name="connsiteY27" fmla="*/ 1353670 h 3065929"/>
              <a:gd name="connsiteX28" fmla="*/ 426122 w 2641600"/>
              <a:gd name="connsiteY28" fmla="*/ 1444513 h 3065929"/>
              <a:gd name="connsiteX29" fmla="*/ 430306 w 2641600"/>
              <a:gd name="connsiteY29" fmla="*/ 1649506 h 3065929"/>
              <a:gd name="connsiteX30" fmla="*/ 551927 w 2641600"/>
              <a:gd name="connsiteY30" fmla="*/ 1772621 h 3065929"/>
              <a:gd name="connsiteX31" fmla="*/ 1515035 w 2641600"/>
              <a:gd name="connsiteY31" fmla="*/ 1766047 h 3065929"/>
              <a:gd name="connsiteX32" fmla="*/ 2384612 w 2641600"/>
              <a:gd name="connsiteY32" fmla="*/ 1748117 h 3065929"/>
              <a:gd name="connsiteX0" fmla="*/ 2384612 w 2635435"/>
              <a:gd name="connsiteY0" fmla="*/ 1748117 h 3065929"/>
              <a:gd name="connsiteX1" fmla="*/ 2616798 w 2635435"/>
              <a:gd name="connsiteY1" fmla="*/ 2028414 h 3065929"/>
              <a:gd name="connsiteX2" fmla="*/ 2635325 w 2635435"/>
              <a:gd name="connsiteY2" fmla="*/ 2436009 h 3065929"/>
              <a:gd name="connsiteX3" fmla="*/ 2611120 w 2635435"/>
              <a:gd name="connsiteY3" fmla="*/ 2895600 h 3065929"/>
              <a:gd name="connsiteX4" fmla="*/ 2537012 w 2635435"/>
              <a:gd name="connsiteY4" fmla="*/ 2985247 h 3065929"/>
              <a:gd name="connsiteX5" fmla="*/ 2061882 w 2635435"/>
              <a:gd name="connsiteY5" fmla="*/ 3065929 h 3065929"/>
              <a:gd name="connsiteX6" fmla="*/ 313765 w 2635435"/>
              <a:gd name="connsiteY6" fmla="*/ 3048000 h 3065929"/>
              <a:gd name="connsiteX7" fmla="*/ 107577 w 2635435"/>
              <a:gd name="connsiteY7" fmla="*/ 2868706 h 3065929"/>
              <a:gd name="connsiteX8" fmla="*/ 0 w 2635435"/>
              <a:gd name="connsiteY8" fmla="*/ 2294964 h 3065929"/>
              <a:gd name="connsiteX9" fmla="*/ 62753 w 2635435"/>
              <a:gd name="connsiteY9" fmla="*/ 1272988 h 3065929"/>
              <a:gd name="connsiteX10" fmla="*/ 224118 w 2635435"/>
              <a:gd name="connsiteY10" fmla="*/ 412376 h 3065929"/>
              <a:gd name="connsiteX11" fmla="*/ 546847 w 2635435"/>
              <a:gd name="connsiteY11" fmla="*/ 26894 h 3065929"/>
              <a:gd name="connsiteX12" fmla="*/ 1120588 w 2635435"/>
              <a:gd name="connsiteY12" fmla="*/ 0 h 3065929"/>
              <a:gd name="connsiteX13" fmla="*/ 1963271 w 2635435"/>
              <a:gd name="connsiteY13" fmla="*/ 26894 h 3065929"/>
              <a:gd name="connsiteX14" fmla="*/ 2182607 w 2635435"/>
              <a:gd name="connsiteY14" fmla="*/ 170030 h 3065929"/>
              <a:gd name="connsiteX15" fmla="*/ 2180515 w 2635435"/>
              <a:gd name="connsiteY15" fmla="*/ 464073 h 3065929"/>
              <a:gd name="connsiteX16" fmla="*/ 1954306 w 2635435"/>
              <a:gd name="connsiteY16" fmla="*/ 546847 h 3065929"/>
              <a:gd name="connsiteX17" fmla="*/ 1335741 w 2635435"/>
              <a:gd name="connsiteY17" fmla="*/ 528917 h 3065929"/>
              <a:gd name="connsiteX18" fmla="*/ 990600 w 2635435"/>
              <a:gd name="connsiteY18" fmla="*/ 528917 h 3065929"/>
              <a:gd name="connsiteX19" fmla="*/ 923365 w 2635435"/>
              <a:gd name="connsiteY19" fmla="*/ 726141 h 3065929"/>
              <a:gd name="connsiteX20" fmla="*/ 1004047 w 2635435"/>
              <a:gd name="connsiteY20" fmla="*/ 896470 h 3065929"/>
              <a:gd name="connsiteX21" fmla="*/ 1596913 w 2635435"/>
              <a:gd name="connsiteY21" fmla="*/ 896171 h 3065929"/>
              <a:gd name="connsiteX22" fmla="*/ 2043953 w 2635435"/>
              <a:gd name="connsiteY22" fmla="*/ 887506 h 3065929"/>
              <a:gd name="connsiteX23" fmla="*/ 2268071 w 2635435"/>
              <a:gd name="connsiteY23" fmla="*/ 968188 h 3065929"/>
              <a:gd name="connsiteX24" fmla="*/ 2286000 w 2635435"/>
              <a:gd name="connsiteY24" fmla="*/ 1156447 h 3065929"/>
              <a:gd name="connsiteX25" fmla="*/ 2214282 w 2635435"/>
              <a:gd name="connsiteY25" fmla="*/ 1299882 h 3065929"/>
              <a:gd name="connsiteX26" fmla="*/ 1766047 w 2635435"/>
              <a:gd name="connsiteY26" fmla="*/ 1335741 h 3065929"/>
              <a:gd name="connsiteX27" fmla="*/ 609600 w 2635435"/>
              <a:gd name="connsiteY27" fmla="*/ 1353670 h 3065929"/>
              <a:gd name="connsiteX28" fmla="*/ 426122 w 2635435"/>
              <a:gd name="connsiteY28" fmla="*/ 1444513 h 3065929"/>
              <a:gd name="connsiteX29" fmla="*/ 430306 w 2635435"/>
              <a:gd name="connsiteY29" fmla="*/ 1649506 h 3065929"/>
              <a:gd name="connsiteX30" fmla="*/ 551927 w 2635435"/>
              <a:gd name="connsiteY30" fmla="*/ 1772621 h 3065929"/>
              <a:gd name="connsiteX31" fmla="*/ 1515035 w 2635435"/>
              <a:gd name="connsiteY31" fmla="*/ 1766047 h 3065929"/>
              <a:gd name="connsiteX32" fmla="*/ 2384612 w 2635435"/>
              <a:gd name="connsiteY32" fmla="*/ 1748117 h 3065929"/>
              <a:gd name="connsiteX0" fmla="*/ 2384612 w 2635435"/>
              <a:gd name="connsiteY0" fmla="*/ 1748117 h 3065929"/>
              <a:gd name="connsiteX1" fmla="*/ 2571078 w 2635435"/>
              <a:gd name="connsiteY1" fmla="*/ 1931894 h 3065929"/>
              <a:gd name="connsiteX2" fmla="*/ 2635325 w 2635435"/>
              <a:gd name="connsiteY2" fmla="*/ 2436009 h 3065929"/>
              <a:gd name="connsiteX3" fmla="*/ 2611120 w 2635435"/>
              <a:gd name="connsiteY3" fmla="*/ 2895600 h 3065929"/>
              <a:gd name="connsiteX4" fmla="*/ 2537012 w 2635435"/>
              <a:gd name="connsiteY4" fmla="*/ 2985247 h 3065929"/>
              <a:gd name="connsiteX5" fmla="*/ 2061882 w 2635435"/>
              <a:gd name="connsiteY5" fmla="*/ 3065929 h 3065929"/>
              <a:gd name="connsiteX6" fmla="*/ 313765 w 2635435"/>
              <a:gd name="connsiteY6" fmla="*/ 3048000 h 3065929"/>
              <a:gd name="connsiteX7" fmla="*/ 107577 w 2635435"/>
              <a:gd name="connsiteY7" fmla="*/ 2868706 h 3065929"/>
              <a:gd name="connsiteX8" fmla="*/ 0 w 2635435"/>
              <a:gd name="connsiteY8" fmla="*/ 2294964 h 3065929"/>
              <a:gd name="connsiteX9" fmla="*/ 62753 w 2635435"/>
              <a:gd name="connsiteY9" fmla="*/ 1272988 h 3065929"/>
              <a:gd name="connsiteX10" fmla="*/ 224118 w 2635435"/>
              <a:gd name="connsiteY10" fmla="*/ 412376 h 3065929"/>
              <a:gd name="connsiteX11" fmla="*/ 546847 w 2635435"/>
              <a:gd name="connsiteY11" fmla="*/ 26894 h 3065929"/>
              <a:gd name="connsiteX12" fmla="*/ 1120588 w 2635435"/>
              <a:gd name="connsiteY12" fmla="*/ 0 h 3065929"/>
              <a:gd name="connsiteX13" fmla="*/ 1963271 w 2635435"/>
              <a:gd name="connsiteY13" fmla="*/ 26894 h 3065929"/>
              <a:gd name="connsiteX14" fmla="*/ 2182607 w 2635435"/>
              <a:gd name="connsiteY14" fmla="*/ 170030 h 3065929"/>
              <a:gd name="connsiteX15" fmla="*/ 2180515 w 2635435"/>
              <a:gd name="connsiteY15" fmla="*/ 464073 h 3065929"/>
              <a:gd name="connsiteX16" fmla="*/ 1954306 w 2635435"/>
              <a:gd name="connsiteY16" fmla="*/ 546847 h 3065929"/>
              <a:gd name="connsiteX17" fmla="*/ 1335741 w 2635435"/>
              <a:gd name="connsiteY17" fmla="*/ 528917 h 3065929"/>
              <a:gd name="connsiteX18" fmla="*/ 990600 w 2635435"/>
              <a:gd name="connsiteY18" fmla="*/ 528917 h 3065929"/>
              <a:gd name="connsiteX19" fmla="*/ 923365 w 2635435"/>
              <a:gd name="connsiteY19" fmla="*/ 726141 h 3065929"/>
              <a:gd name="connsiteX20" fmla="*/ 1004047 w 2635435"/>
              <a:gd name="connsiteY20" fmla="*/ 896470 h 3065929"/>
              <a:gd name="connsiteX21" fmla="*/ 1596913 w 2635435"/>
              <a:gd name="connsiteY21" fmla="*/ 896171 h 3065929"/>
              <a:gd name="connsiteX22" fmla="*/ 2043953 w 2635435"/>
              <a:gd name="connsiteY22" fmla="*/ 887506 h 3065929"/>
              <a:gd name="connsiteX23" fmla="*/ 2268071 w 2635435"/>
              <a:gd name="connsiteY23" fmla="*/ 968188 h 3065929"/>
              <a:gd name="connsiteX24" fmla="*/ 2286000 w 2635435"/>
              <a:gd name="connsiteY24" fmla="*/ 1156447 h 3065929"/>
              <a:gd name="connsiteX25" fmla="*/ 2214282 w 2635435"/>
              <a:gd name="connsiteY25" fmla="*/ 1299882 h 3065929"/>
              <a:gd name="connsiteX26" fmla="*/ 1766047 w 2635435"/>
              <a:gd name="connsiteY26" fmla="*/ 1335741 h 3065929"/>
              <a:gd name="connsiteX27" fmla="*/ 609600 w 2635435"/>
              <a:gd name="connsiteY27" fmla="*/ 1353670 h 3065929"/>
              <a:gd name="connsiteX28" fmla="*/ 426122 w 2635435"/>
              <a:gd name="connsiteY28" fmla="*/ 1444513 h 3065929"/>
              <a:gd name="connsiteX29" fmla="*/ 430306 w 2635435"/>
              <a:gd name="connsiteY29" fmla="*/ 1649506 h 3065929"/>
              <a:gd name="connsiteX30" fmla="*/ 551927 w 2635435"/>
              <a:gd name="connsiteY30" fmla="*/ 1772621 h 3065929"/>
              <a:gd name="connsiteX31" fmla="*/ 1515035 w 2635435"/>
              <a:gd name="connsiteY31" fmla="*/ 1766047 h 3065929"/>
              <a:gd name="connsiteX32" fmla="*/ 2384612 w 2635435"/>
              <a:gd name="connsiteY32" fmla="*/ 1748117 h 3065929"/>
              <a:gd name="connsiteX0" fmla="*/ 2384612 w 2655710"/>
              <a:gd name="connsiteY0" fmla="*/ 1748117 h 3065929"/>
              <a:gd name="connsiteX1" fmla="*/ 2571078 w 2655710"/>
              <a:gd name="connsiteY1" fmla="*/ 1931894 h 3065929"/>
              <a:gd name="connsiteX2" fmla="*/ 2655645 w 2655710"/>
              <a:gd name="connsiteY2" fmla="*/ 2354729 h 3065929"/>
              <a:gd name="connsiteX3" fmla="*/ 2611120 w 2655710"/>
              <a:gd name="connsiteY3" fmla="*/ 2895600 h 3065929"/>
              <a:gd name="connsiteX4" fmla="*/ 2537012 w 2655710"/>
              <a:gd name="connsiteY4" fmla="*/ 2985247 h 3065929"/>
              <a:gd name="connsiteX5" fmla="*/ 2061882 w 2655710"/>
              <a:gd name="connsiteY5" fmla="*/ 3065929 h 3065929"/>
              <a:gd name="connsiteX6" fmla="*/ 313765 w 2655710"/>
              <a:gd name="connsiteY6" fmla="*/ 3048000 h 3065929"/>
              <a:gd name="connsiteX7" fmla="*/ 107577 w 2655710"/>
              <a:gd name="connsiteY7" fmla="*/ 2868706 h 3065929"/>
              <a:gd name="connsiteX8" fmla="*/ 0 w 2655710"/>
              <a:gd name="connsiteY8" fmla="*/ 2294964 h 3065929"/>
              <a:gd name="connsiteX9" fmla="*/ 62753 w 2655710"/>
              <a:gd name="connsiteY9" fmla="*/ 1272988 h 3065929"/>
              <a:gd name="connsiteX10" fmla="*/ 224118 w 2655710"/>
              <a:gd name="connsiteY10" fmla="*/ 412376 h 3065929"/>
              <a:gd name="connsiteX11" fmla="*/ 546847 w 2655710"/>
              <a:gd name="connsiteY11" fmla="*/ 26894 h 3065929"/>
              <a:gd name="connsiteX12" fmla="*/ 1120588 w 2655710"/>
              <a:gd name="connsiteY12" fmla="*/ 0 h 3065929"/>
              <a:gd name="connsiteX13" fmla="*/ 1963271 w 2655710"/>
              <a:gd name="connsiteY13" fmla="*/ 26894 h 3065929"/>
              <a:gd name="connsiteX14" fmla="*/ 2182607 w 2655710"/>
              <a:gd name="connsiteY14" fmla="*/ 170030 h 3065929"/>
              <a:gd name="connsiteX15" fmla="*/ 2180515 w 2655710"/>
              <a:gd name="connsiteY15" fmla="*/ 464073 h 3065929"/>
              <a:gd name="connsiteX16" fmla="*/ 1954306 w 2655710"/>
              <a:gd name="connsiteY16" fmla="*/ 546847 h 3065929"/>
              <a:gd name="connsiteX17" fmla="*/ 1335741 w 2655710"/>
              <a:gd name="connsiteY17" fmla="*/ 528917 h 3065929"/>
              <a:gd name="connsiteX18" fmla="*/ 990600 w 2655710"/>
              <a:gd name="connsiteY18" fmla="*/ 528917 h 3065929"/>
              <a:gd name="connsiteX19" fmla="*/ 923365 w 2655710"/>
              <a:gd name="connsiteY19" fmla="*/ 726141 h 3065929"/>
              <a:gd name="connsiteX20" fmla="*/ 1004047 w 2655710"/>
              <a:gd name="connsiteY20" fmla="*/ 896470 h 3065929"/>
              <a:gd name="connsiteX21" fmla="*/ 1596913 w 2655710"/>
              <a:gd name="connsiteY21" fmla="*/ 896171 h 3065929"/>
              <a:gd name="connsiteX22" fmla="*/ 2043953 w 2655710"/>
              <a:gd name="connsiteY22" fmla="*/ 887506 h 3065929"/>
              <a:gd name="connsiteX23" fmla="*/ 2268071 w 2655710"/>
              <a:gd name="connsiteY23" fmla="*/ 968188 h 3065929"/>
              <a:gd name="connsiteX24" fmla="*/ 2286000 w 2655710"/>
              <a:gd name="connsiteY24" fmla="*/ 1156447 h 3065929"/>
              <a:gd name="connsiteX25" fmla="*/ 2214282 w 2655710"/>
              <a:gd name="connsiteY25" fmla="*/ 1299882 h 3065929"/>
              <a:gd name="connsiteX26" fmla="*/ 1766047 w 2655710"/>
              <a:gd name="connsiteY26" fmla="*/ 1335741 h 3065929"/>
              <a:gd name="connsiteX27" fmla="*/ 609600 w 2655710"/>
              <a:gd name="connsiteY27" fmla="*/ 1353670 h 3065929"/>
              <a:gd name="connsiteX28" fmla="*/ 426122 w 2655710"/>
              <a:gd name="connsiteY28" fmla="*/ 1444513 h 3065929"/>
              <a:gd name="connsiteX29" fmla="*/ 430306 w 2655710"/>
              <a:gd name="connsiteY29" fmla="*/ 1649506 h 3065929"/>
              <a:gd name="connsiteX30" fmla="*/ 551927 w 2655710"/>
              <a:gd name="connsiteY30" fmla="*/ 1772621 h 3065929"/>
              <a:gd name="connsiteX31" fmla="*/ 1515035 w 2655710"/>
              <a:gd name="connsiteY31" fmla="*/ 1766047 h 3065929"/>
              <a:gd name="connsiteX32" fmla="*/ 2384612 w 2655710"/>
              <a:gd name="connsiteY32" fmla="*/ 1748117 h 3065929"/>
              <a:gd name="connsiteX0" fmla="*/ 2384612 w 2655710"/>
              <a:gd name="connsiteY0" fmla="*/ 1748117 h 3065929"/>
              <a:gd name="connsiteX1" fmla="*/ 2606638 w 2655710"/>
              <a:gd name="connsiteY1" fmla="*/ 1952214 h 3065929"/>
              <a:gd name="connsiteX2" fmla="*/ 2655645 w 2655710"/>
              <a:gd name="connsiteY2" fmla="*/ 2354729 h 3065929"/>
              <a:gd name="connsiteX3" fmla="*/ 2611120 w 2655710"/>
              <a:gd name="connsiteY3" fmla="*/ 2895600 h 3065929"/>
              <a:gd name="connsiteX4" fmla="*/ 2537012 w 2655710"/>
              <a:gd name="connsiteY4" fmla="*/ 2985247 h 3065929"/>
              <a:gd name="connsiteX5" fmla="*/ 2061882 w 2655710"/>
              <a:gd name="connsiteY5" fmla="*/ 3065929 h 3065929"/>
              <a:gd name="connsiteX6" fmla="*/ 313765 w 2655710"/>
              <a:gd name="connsiteY6" fmla="*/ 3048000 h 3065929"/>
              <a:gd name="connsiteX7" fmla="*/ 107577 w 2655710"/>
              <a:gd name="connsiteY7" fmla="*/ 2868706 h 3065929"/>
              <a:gd name="connsiteX8" fmla="*/ 0 w 2655710"/>
              <a:gd name="connsiteY8" fmla="*/ 2294964 h 3065929"/>
              <a:gd name="connsiteX9" fmla="*/ 62753 w 2655710"/>
              <a:gd name="connsiteY9" fmla="*/ 1272988 h 3065929"/>
              <a:gd name="connsiteX10" fmla="*/ 224118 w 2655710"/>
              <a:gd name="connsiteY10" fmla="*/ 412376 h 3065929"/>
              <a:gd name="connsiteX11" fmla="*/ 546847 w 2655710"/>
              <a:gd name="connsiteY11" fmla="*/ 26894 h 3065929"/>
              <a:gd name="connsiteX12" fmla="*/ 1120588 w 2655710"/>
              <a:gd name="connsiteY12" fmla="*/ 0 h 3065929"/>
              <a:gd name="connsiteX13" fmla="*/ 1963271 w 2655710"/>
              <a:gd name="connsiteY13" fmla="*/ 26894 h 3065929"/>
              <a:gd name="connsiteX14" fmla="*/ 2182607 w 2655710"/>
              <a:gd name="connsiteY14" fmla="*/ 170030 h 3065929"/>
              <a:gd name="connsiteX15" fmla="*/ 2180515 w 2655710"/>
              <a:gd name="connsiteY15" fmla="*/ 464073 h 3065929"/>
              <a:gd name="connsiteX16" fmla="*/ 1954306 w 2655710"/>
              <a:gd name="connsiteY16" fmla="*/ 546847 h 3065929"/>
              <a:gd name="connsiteX17" fmla="*/ 1335741 w 2655710"/>
              <a:gd name="connsiteY17" fmla="*/ 528917 h 3065929"/>
              <a:gd name="connsiteX18" fmla="*/ 990600 w 2655710"/>
              <a:gd name="connsiteY18" fmla="*/ 528917 h 3065929"/>
              <a:gd name="connsiteX19" fmla="*/ 923365 w 2655710"/>
              <a:gd name="connsiteY19" fmla="*/ 726141 h 3065929"/>
              <a:gd name="connsiteX20" fmla="*/ 1004047 w 2655710"/>
              <a:gd name="connsiteY20" fmla="*/ 896470 h 3065929"/>
              <a:gd name="connsiteX21" fmla="*/ 1596913 w 2655710"/>
              <a:gd name="connsiteY21" fmla="*/ 896171 h 3065929"/>
              <a:gd name="connsiteX22" fmla="*/ 2043953 w 2655710"/>
              <a:gd name="connsiteY22" fmla="*/ 887506 h 3065929"/>
              <a:gd name="connsiteX23" fmla="*/ 2268071 w 2655710"/>
              <a:gd name="connsiteY23" fmla="*/ 968188 h 3065929"/>
              <a:gd name="connsiteX24" fmla="*/ 2286000 w 2655710"/>
              <a:gd name="connsiteY24" fmla="*/ 1156447 h 3065929"/>
              <a:gd name="connsiteX25" fmla="*/ 2214282 w 2655710"/>
              <a:gd name="connsiteY25" fmla="*/ 1299882 h 3065929"/>
              <a:gd name="connsiteX26" fmla="*/ 1766047 w 2655710"/>
              <a:gd name="connsiteY26" fmla="*/ 1335741 h 3065929"/>
              <a:gd name="connsiteX27" fmla="*/ 609600 w 2655710"/>
              <a:gd name="connsiteY27" fmla="*/ 1353670 h 3065929"/>
              <a:gd name="connsiteX28" fmla="*/ 426122 w 2655710"/>
              <a:gd name="connsiteY28" fmla="*/ 1444513 h 3065929"/>
              <a:gd name="connsiteX29" fmla="*/ 430306 w 2655710"/>
              <a:gd name="connsiteY29" fmla="*/ 1649506 h 3065929"/>
              <a:gd name="connsiteX30" fmla="*/ 551927 w 2655710"/>
              <a:gd name="connsiteY30" fmla="*/ 1772621 h 3065929"/>
              <a:gd name="connsiteX31" fmla="*/ 1515035 w 2655710"/>
              <a:gd name="connsiteY31" fmla="*/ 1766047 h 3065929"/>
              <a:gd name="connsiteX32" fmla="*/ 2384612 w 2655710"/>
              <a:gd name="connsiteY32" fmla="*/ 1748117 h 3065929"/>
              <a:gd name="connsiteX0" fmla="*/ 2445572 w 2655710"/>
              <a:gd name="connsiteY0" fmla="*/ 1783677 h 3065929"/>
              <a:gd name="connsiteX1" fmla="*/ 2606638 w 2655710"/>
              <a:gd name="connsiteY1" fmla="*/ 1952214 h 3065929"/>
              <a:gd name="connsiteX2" fmla="*/ 2655645 w 2655710"/>
              <a:gd name="connsiteY2" fmla="*/ 2354729 h 3065929"/>
              <a:gd name="connsiteX3" fmla="*/ 2611120 w 2655710"/>
              <a:gd name="connsiteY3" fmla="*/ 2895600 h 3065929"/>
              <a:gd name="connsiteX4" fmla="*/ 2537012 w 2655710"/>
              <a:gd name="connsiteY4" fmla="*/ 2985247 h 3065929"/>
              <a:gd name="connsiteX5" fmla="*/ 2061882 w 2655710"/>
              <a:gd name="connsiteY5" fmla="*/ 3065929 h 3065929"/>
              <a:gd name="connsiteX6" fmla="*/ 313765 w 2655710"/>
              <a:gd name="connsiteY6" fmla="*/ 3048000 h 3065929"/>
              <a:gd name="connsiteX7" fmla="*/ 107577 w 2655710"/>
              <a:gd name="connsiteY7" fmla="*/ 2868706 h 3065929"/>
              <a:gd name="connsiteX8" fmla="*/ 0 w 2655710"/>
              <a:gd name="connsiteY8" fmla="*/ 2294964 h 3065929"/>
              <a:gd name="connsiteX9" fmla="*/ 62753 w 2655710"/>
              <a:gd name="connsiteY9" fmla="*/ 1272988 h 3065929"/>
              <a:gd name="connsiteX10" fmla="*/ 224118 w 2655710"/>
              <a:gd name="connsiteY10" fmla="*/ 412376 h 3065929"/>
              <a:gd name="connsiteX11" fmla="*/ 546847 w 2655710"/>
              <a:gd name="connsiteY11" fmla="*/ 26894 h 3065929"/>
              <a:gd name="connsiteX12" fmla="*/ 1120588 w 2655710"/>
              <a:gd name="connsiteY12" fmla="*/ 0 h 3065929"/>
              <a:gd name="connsiteX13" fmla="*/ 1963271 w 2655710"/>
              <a:gd name="connsiteY13" fmla="*/ 26894 h 3065929"/>
              <a:gd name="connsiteX14" fmla="*/ 2182607 w 2655710"/>
              <a:gd name="connsiteY14" fmla="*/ 170030 h 3065929"/>
              <a:gd name="connsiteX15" fmla="*/ 2180515 w 2655710"/>
              <a:gd name="connsiteY15" fmla="*/ 464073 h 3065929"/>
              <a:gd name="connsiteX16" fmla="*/ 1954306 w 2655710"/>
              <a:gd name="connsiteY16" fmla="*/ 546847 h 3065929"/>
              <a:gd name="connsiteX17" fmla="*/ 1335741 w 2655710"/>
              <a:gd name="connsiteY17" fmla="*/ 528917 h 3065929"/>
              <a:gd name="connsiteX18" fmla="*/ 990600 w 2655710"/>
              <a:gd name="connsiteY18" fmla="*/ 528917 h 3065929"/>
              <a:gd name="connsiteX19" fmla="*/ 923365 w 2655710"/>
              <a:gd name="connsiteY19" fmla="*/ 726141 h 3065929"/>
              <a:gd name="connsiteX20" fmla="*/ 1004047 w 2655710"/>
              <a:gd name="connsiteY20" fmla="*/ 896470 h 3065929"/>
              <a:gd name="connsiteX21" fmla="*/ 1596913 w 2655710"/>
              <a:gd name="connsiteY21" fmla="*/ 896171 h 3065929"/>
              <a:gd name="connsiteX22" fmla="*/ 2043953 w 2655710"/>
              <a:gd name="connsiteY22" fmla="*/ 887506 h 3065929"/>
              <a:gd name="connsiteX23" fmla="*/ 2268071 w 2655710"/>
              <a:gd name="connsiteY23" fmla="*/ 968188 h 3065929"/>
              <a:gd name="connsiteX24" fmla="*/ 2286000 w 2655710"/>
              <a:gd name="connsiteY24" fmla="*/ 1156447 h 3065929"/>
              <a:gd name="connsiteX25" fmla="*/ 2214282 w 2655710"/>
              <a:gd name="connsiteY25" fmla="*/ 1299882 h 3065929"/>
              <a:gd name="connsiteX26" fmla="*/ 1766047 w 2655710"/>
              <a:gd name="connsiteY26" fmla="*/ 1335741 h 3065929"/>
              <a:gd name="connsiteX27" fmla="*/ 609600 w 2655710"/>
              <a:gd name="connsiteY27" fmla="*/ 1353670 h 3065929"/>
              <a:gd name="connsiteX28" fmla="*/ 426122 w 2655710"/>
              <a:gd name="connsiteY28" fmla="*/ 1444513 h 3065929"/>
              <a:gd name="connsiteX29" fmla="*/ 430306 w 2655710"/>
              <a:gd name="connsiteY29" fmla="*/ 1649506 h 3065929"/>
              <a:gd name="connsiteX30" fmla="*/ 551927 w 2655710"/>
              <a:gd name="connsiteY30" fmla="*/ 1772621 h 3065929"/>
              <a:gd name="connsiteX31" fmla="*/ 1515035 w 2655710"/>
              <a:gd name="connsiteY31" fmla="*/ 1766047 h 3065929"/>
              <a:gd name="connsiteX32" fmla="*/ 2445572 w 2655710"/>
              <a:gd name="connsiteY32" fmla="*/ 1783677 h 3065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655710" h="3065929">
                <a:moveTo>
                  <a:pt x="2445572" y="1783677"/>
                </a:moveTo>
                <a:lnTo>
                  <a:pt x="2606638" y="1952214"/>
                </a:lnTo>
                <a:lnTo>
                  <a:pt x="2655645" y="2354729"/>
                </a:lnTo>
                <a:cubicBezTo>
                  <a:pt x="2657737" y="2509619"/>
                  <a:pt x="2609028" y="2740710"/>
                  <a:pt x="2611120" y="2895600"/>
                </a:cubicBezTo>
                <a:lnTo>
                  <a:pt x="2537012" y="2985247"/>
                </a:lnTo>
                <a:lnTo>
                  <a:pt x="2061882" y="3065929"/>
                </a:lnTo>
                <a:lnTo>
                  <a:pt x="313765" y="3048000"/>
                </a:lnTo>
                <a:lnTo>
                  <a:pt x="107577" y="2868706"/>
                </a:lnTo>
                <a:lnTo>
                  <a:pt x="0" y="2294964"/>
                </a:lnTo>
                <a:lnTo>
                  <a:pt x="62753" y="1272988"/>
                </a:lnTo>
                <a:lnTo>
                  <a:pt x="224118" y="412376"/>
                </a:lnTo>
                <a:lnTo>
                  <a:pt x="546847" y="26894"/>
                </a:lnTo>
                <a:lnTo>
                  <a:pt x="1120588" y="0"/>
                </a:lnTo>
                <a:lnTo>
                  <a:pt x="1963271" y="26894"/>
                </a:lnTo>
                <a:lnTo>
                  <a:pt x="2182607" y="170030"/>
                </a:lnTo>
                <a:cubicBezTo>
                  <a:pt x="2181910" y="268044"/>
                  <a:pt x="2181212" y="366059"/>
                  <a:pt x="2180515" y="464073"/>
                </a:cubicBezTo>
                <a:lnTo>
                  <a:pt x="1954306" y="546847"/>
                </a:lnTo>
                <a:lnTo>
                  <a:pt x="1335741" y="528917"/>
                </a:lnTo>
                <a:lnTo>
                  <a:pt x="990600" y="528917"/>
                </a:lnTo>
                <a:lnTo>
                  <a:pt x="923365" y="726141"/>
                </a:lnTo>
                <a:lnTo>
                  <a:pt x="1004047" y="896470"/>
                </a:lnTo>
                <a:lnTo>
                  <a:pt x="1596913" y="896171"/>
                </a:lnTo>
                <a:lnTo>
                  <a:pt x="2043953" y="887506"/>
                </a:lnTo>
                <a:lnTo>
                  <a:pt x="2268071" y="968188"/>
                </a:lnTo>
                <a:lnTo>
                  <a:pt x="2286000" y="1156447"/>
                </a:lnTo>
                <a:lnTo>
                  <a:pt x="2214282" y="1299882"/>
                </a:lnTo>
                <a:lnTo>
                  <a:pt x="1766047" y="1335741"/>
                </a:lnTo>
                <a:lnTo>
                  <a:pt x="609600" y="1353670"/>
                </a:lnTo>
                <a:lnTo>
                  <a:pt x="426122" y="1444513"/>
                </a:lnTo>
                <a:cubicBezTo>
                  <a:pt x="427517" y="1512844"/>
                  <a:pt x="428911" y="1581175"/>
                  <a:pt x="430306" y="1649506"/>
                </a:cubicBezTo>
                <a:lnTo>
                  <a:pt x="551927" y="1772621"/>
                </a:lnTo>
                <a:lnTo>
                  <a:pt x="1515035" y="1766047"/>
                </a:lnTo>
                <a:lnTo>
                  <a:pt x="2445572" y="1783677"/>
                </a:lnTo>
                <a:close/>
              </a:path>
            </a:pathLst>
          </a:custGeom>
          <a:noFill/>
          <a:ln w="28575">
            <a:solidFill>
              <a:srgbClr val="61D0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F7E1FA1-9CBB-B1E8-D945-83A681FFAB99}"/>
              </a:ext>
            </a:extLst>
          </p:cNvPr>
          <p:cNvSpPr txBox="1"/>
          <p:nvPr/>
        </p:nvSpPr>
        <p:spPr>
          <a:xfrm>
            <a:off x="2790180" y="3544210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 err="1">
                <a:solidFill>
                  <a:srgbClr val="61D0CE"/>
                </a:solidFill>
              </a:rPr>
              <a:t>staging</a:t>
            </a:r>
            <a:endParaRPr sz="1400" dirty="0">
              <a:solidFill>
                <a:srgbClr val="61D0CE"/>
              </a:solidFill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0591A664-DA03-D4F6-BF41-C6EDBE458DC5}"/>
              </a:ext>
            </a:extLst>
          </p:cNvPr>
          <p:cNvSpPr/>
          <p:nvPr/>
        </p:nvSpPr>
        <p:spPr>
          <a:xfrm>
            <a:off x="3722370" y="3615690"/>
            <a:ext cx="2453640" cy="1169670"/>
          </a:xfrm>
          <a:custGeom>
            <a:avLst/>
            <a:gdLst>
              <a:gd name="connsiteX0" fmla="*/ 556260 w 2453640"/>
              <a:gd name="connsiteY0" fmla="*/ 11430 h 1169670"/>
              <a:gd name="connsiteX1" fmla="*/ 529590 w 2453640"/>
              <a:gd name="connsiteY1" fmla="*/ 148590 h 1169670"/>
              <a:gd name="connsiteX2" fmla="*/ 552450 w 2453640"/>
              <a:gd name="connsiteY2" fmla="*/ 243840 h 1169670"/>
              <a:gd name="connsiteX3" fmla="*/ 601980 w 2453640"/>
              <a:gd name="connsiteY3" fmla="*/ 281940 h 1169670"/>
              <a:gd name="connsiteX4" fmla="*/ 792480 w 2453640"/>
              <a:gd name="connsiteY4" fmla="*/ 274320 h 1169670"/>
              <a:gd name="connsiteX5" fmla="*/ 1032510 w 2453640"/>
              <a:gd name="connsiteY5" fmla="*/ 274320 h 1169670"/>
              <a:gd name="connsiteX6" fmla="*/ 1329690 w 2453640"/>
              <a:gd name="connsiteY6" fmla="*/ 266700 h 1169670"/>
              <a:gd name="connsiteX7" fmla="*/ 1798320 w 2453640"/>
              <a:gd name="connsiteY7" fmla="*/ 308610 h 1169670"/>
              <a:gd name="connsiteX8" fmla="*/ 1908810 w 2453640"/>
              <a:gd name="connsiteY8" fmla="*/ 400050 h 1169670"/>
              <a:gd name="connsiteX9" fmla="*/ 1908810 w 2453640"/>
              <a:gd name="connsiteY9" fmla="*/ 472440 h 1169670"/>
              <a:gd name="connsiteX10" fmla="*/ 1920240 w 2453640"/>
              <a:gd name="connsiteY10" fmla="*/ 708660 h 1169670"/>
              <a:gd name="connsiteX11" fmla="*/ 1901190 w 2453640"/>
              <a:gd name="connsiteY11" fmla="*/ 781050 h 1169670"/>
              <a:gd name="connsiteX12" fmla="*/ 1798320 w 2453640"/>
              <a:gd name="connsiteY12" fmla="*/ 811530 h 1169670"/>
              <a:gd name="connsiteX13" fmla="*/ 1440180 w 2453640"/>
              <a:gd name="connsiteY13" fmla="*/ 842010 h 1169670"/>
              <a:gd name="connsiteX14" fmla="*/ 784860 w 2453640"/>
              <a:gd name="connsiteY14" fmla="*/ 826770 h 1169670"/>
              <a:gd name="connsiteX15" fmla="*/ 228600 w 2453640"/>
              <a:gd name="connsiteY15" fmla="*/ 834390 h 1169670"/>
              <a:gd name="connsiteX16" fmla="*/ 91440 w 2453640"/>
              <a:gd name="connsiteY16" fmla="*/ 849630 h 1169670"/>
              <a:gd name="connsiteX17" fmla="*/ 22860 w 2453640"/>
              <a:gd name="connsiteY17" fmla="*/ 887730 h 1169670"/>
              <a:gd name="connsiteX18" fmla="*/ 0 w 2453640"/>
              <a:gd name="connsiteY18" fmla="*/ 963930 h 1169670"/>
              <a:gd name="connsiteX19" fmla="*/ 7620 w 2453640"/>
              <a:gd name="connsiteY19" fmla="*/ 1062990 h 1169670"/>
              <a:gd name="connsiteX20" fmla="*/ 34290 w 2453640"/>
              <a:gd name="connsiteY20" fmla="*/ 1127760 h 1169670"/>
              <a:gd name="connsiteX21" fmla="*/ 118110 w 2453640"/>
              <a:gd name="connsiteY21" fmla="*/ 1150620 h 1169670"/>
              <a:gd name="connsiteX22" fmla="*/ 323850 w 2453640"/>
              <a:gd name="connsiteY22" fmla="*/ 1169670 h 1169670"/>
              <a:gd name="connsiteX23" fmla="*/ 1455420 w 2453640"/>
              <a:gd name="connsiteY23" fmla="*/ 1165860 h 1169670"/>
              <a:gd name="connsiteX24" fmla="*/ 1874520 w 2453640"/>
              <a:gd name="connsiteY24" fmla="*/ 1143000 h 1169670"/>
              <a:gd name="connsiteX25" fmla="*/ 2202180 w 2453640"/>
              <a:gd name="connsiteY25" fmla="*/ 1093470 h 1169670"/>
              <a:gd name="connsiteX26" fmla="*/ 2400300 w 2453640"/>
              <a:gd name="connsiteY26" fmla="*/ 941070 h 1169670"/>
              <a:gd name="connsiteX27" fmla="*/ 2453640 w 2453640"/>
              <a:gd name="connsiteY27" fmla="*/ 678180 h 1169670"/>
              <a:gd name="connsiteX28" fmla="*/ 2434590 w 2453640"/>
              <a:gd name="connsiteY28" fmla="*/ 419100 h 1169670"/>
              <a:gd name="connsiteX29" fmla="*/ 2377440 w 2453640"/>
              <a:gd name="connsiteY29" fmla="*/ 224790 h 1169670"/>
              <a:gd name="connsiteX30" fmla="*/ 2236470 w 2453640"/>
              <a:gd name="connsiteY30" fmla="*/ 102870 h 1169670"/>
              <a:gd name="connsiteX31" fmla="*/ 2011680 w 2453640"/>
              <a:gd name="connsiteY31" fmla="*/ 19050 h 1169670"/>
              <a:gd name="connsiteX32" fmla="*/ 1790700 w 2453640"/>
              <a:gd name="connsiteY32" fmla="*/ 22860 h 1169670"/>
              <a:gd name="connsiteX33" fmla="*/ 1383030 w 2453640"/>
              <a:gd name="connsiteY33" fmla="*/ 26670 h 1169670"/>
              <a:gd name="connsiteX34" fmla="*/ 1143000 w 2453640"/>
              <a:gd name="connsiteY34" fmla="*/ 7620 h 1169670"/>
              <a:gd name="connsiteX35" fmla="*/ 838200 w 2453640"/>
              <a:gd name="connsiteY35" fmla="*/ 0 h 1169670"/>
              <a:gd name="connsiteX36" fmla="*/ 556260 w 2453640"/>
              <a:gd name="connsiteY36" fmla="*/ 11430 h 1169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53640" h="1169670">
                <a:moveTo>
                  <a:pt x="556260" y="11430"/>
                </a:moveTo>
                <a:lnTo>
                  <a:pt x="529590" y="148590"/>
                </a:lnTo>
                <a:lnTo>
                  <a:pt x="552450" y="243840"/>
                </a:lnTo>
                <a:lnTo>
                  <a:pt x="601980" y="281940"/>
                </a:lnTo>
                <a:lnTo>
                  <a:pt x="792480" y="274320"/>
                </a:lnTo>
                <a:lnTo>
                  <a:pt x="1032510" y="274320"/>
                </a:lnTo>
                <a:lnTo>
                  <a:pt x="1329690" y="266700"/>
                </a:lnTo>
                <a:lnTo>
                  <a:pt x="1798320" y="308610"/>
                </a:lnTo>
                <a:lnTo>
                  <a:pt x="1908810" y="400050"/>
                </a:lnTo>
                <a:lnTo>
                  <a:pt x="1908810" y="472440"/>
                </a:lnTo>
                <a:lnTo>
                  <a:pt x="1920240" y="708660"/>
                </a:lnTo>
                <a:lnTo>
                  <a:pt x="1901190" y="781050"/>
                </a:lnTo>
                <a:lnTo>
                  <a:pt x="1798320" y="811530"/>
                </a:lnTo>
                <a:lnTo>
                  <a:pt x="1440180" y="842010"/>
                </a:lnTo>
                <a:lnTo>
                  <a:pt x="784860" y="826770"/>
                </a:lnTo>
                <a:lnTo>
                  <a:pt x="228600" y="834390"/>
                </a:lnTo>
                <a:lnTo>
                  <a:pt x="91440" y="849630"/>
                </a:lnTo>
                <a:lnTo>
                  <a:pt x="22860" y="887730"/>
                </a:lnTo>
                <a:lnTo>
                  <a:pt x="0" y="963930"/>
                </a:lnTo>
                <a:lnTo>
                  <a:pt x="7620" y="1062990"/>
                </a:lnTo>
                <a:lnTo>
                  <a:pt x="34290" y="1127760"/>
                </a:lnTo>
                <a:lnTo>
                  <a:pt x="118110" y="1150620"/>
                </a:lnTo>
                <a:lnTo>
                  <a:pt x="323850" y="1169670"/>
                </a:lnTo>
                <a:lnTo>
                  <a:pt x="1455420" y="1165860"/>
                </a:lnTo>
                <a:lnTo>
                  <a:pt x="1874520" y="1143000"/>
                </a:lnTo>
                <a:lnTo>
                  <a:pt x="2202180" y="1093470"/>
                </a:lnTo>
                <a:lnTo>
                  <a:pt x="2400300" y="941070"/>
                </a:lnTo>
                <a:lnTo>
                  <a:pt x="2453640" y="678180"/>
                </a:lnTo>
                <a:lnTo>
                  <a:pt x="2434590" y="419100"/>
                </a:lnTo>
                <a:lnTo>
                  <a:pt x="2377440" y="224790"/>
                </a:lnTo>
                <a:lnTo>
                  <a:pt x="2236470" y="102870"/>
                </a:lnTo>
                <a:lnTo>
                  <a:pt x="2011680" y="19050"/>
                </a:lnTo>
                <a:lnTo>
                  <a:pt x="1790700" y="22860"/>
                </a:lnTo>
                <a:lnTo>
                  <a:pt x="1383030" y="26670"/>
                </a:lnTo>
                <a:lnTo>
                  <a:pt x="1143000" y="7620"/>
                </a:lnTo>
                <a:lnTo>
                  <a:pt x="838200" y="0"/>
                </a:lnTo>
                <a:lnTo>
                  <a:pt x="556260" y="11430"/>
                </a:lnTo>
                <a:close/>
              </a:path>
            </a:pathLst>
          </a:custGeom>
          <a:noFill/>
          <a:ln>
            <a:solidFill>
              <a:srgbClr val="F15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D9BC477-DD03-FA26-37DC-0C9B5AC86987}"/>
              </a:ext>
            </a:extLst>
          </p:cNvPr>
          <p:cNvSpPr txBox="1"/>
          <p:nvPr/>
        </p:nvSpPr>
        <p:spPr>
          <a:xfrm>
            <a:off x="4903469" y="3820967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 err="1">
                <a:solidFill>
                  <a:srgbClr val="F15333"/>
                </a:solidFill>
              </a:rPr>
              <a:t>seed</a:t>
            </a:r>
            <a:endParaRPr sz="1400" dirty="0">
              <a:solidFill>
                <a:srgbClr val="F1533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BF4DF9-8725-9FE9-335B-BE0CE9D2F489}"/>
              </a:ext>
            </a:extLst>
          </p:cNvPr>
          <p:cNvSpPr/>
          <p:nvPr/>
        </p:nvSpPr>
        <p:spPr>
          <a:xfrm>
            <a:off x="47961" y="3095535"/>
            <a:ext cx="2787573" cy="2968329"/>
          </a:xfrm>
          <a:prstGeom prst="rect">
            <a:avLst/>
          </a:prstGeom>
          <a:noFill/>
          <a:ln w="28575">
            <a:solidFill>
              <a:srgbClr val="D9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6E633ED5-E12F-5B27-4289-EAB2756CEEE1}"/>
              </a:ext>
            </a:extLst>
          </p:cNvPr>
          <p:cNvSpPr txBox="1"/>
          <p:nvPr/>
        </p:nvSpPr>
        <p:spPr>
          <a:xfrm>
            <a:off x="-551387" y="3133370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 err="1">
                <a:solidFill>
                  <a:srgbClr val="D9F0F0"/>
                </a:solidFill>
              </a:rPr>
              <a:t>raw</a:t>
            </a:r>
            <a:endParaRPr sz="1400" dirty="0">
              <a:solidFill>
                <a:srgbClr val="D9F0F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900B4-CFE2-2AD9-78A3-67BE10F0891C}"/>
              </a:ext>
            </a:extLst>
          </p:cNvPr>
          <p:cNvSpPr/>
          <p:nvPr/>
        </p:nvSpPr>
        <p:spPr>
          <a:xfrm>
            <a:off x="10983406" y="3168316"/>
            <a:ext cx="1160632" cy="2541604"/>
          </a:xfrm>
          <a:prstGeom prst="rect">
            <a:avLst/>
          </a:prstGeom>
          <a:noFill/>
          <a:ln w="28575">
            <a:solidFill>
              <a:srgbClr val="F6A2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CC098DD6-E717-8008-FAB5-55F61DEA7E9E}"/>
              </a:ext>
            </a:extLst>
          </p:cNvPr>
          <p:cNvSpPr txBox="1"/>
          <p:nvPr/>
        </p:nvSpPr>
        <p:spPr>
          <a:xfrm>
            <a:off x="10396384" y="3236433"/>
            <a:ext cx="196596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rPr lang="fr-FR" sz="1400" dirty="0">
                <a:solidFill>
                  <a:srgbClr val="F6A2F8"/>
                </a:solidFill>
              </a:rPr>
              <a:t>test</a:t>
            </a:r>
            <a:endParaRPr sz="1400" dirty="0">
              <a:solidFill>
                <a:srgbClr val="F6A2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23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37D7D-AB73-67B7-0D0B-2CECBD61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temps accessibilité aux données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DB8A50-7536-F842-72A4-46515A7D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37C07A47-1DA1-2CC0-1400-D53A9C20F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266065"/>
            <a:ext cx="7226140" cy="415784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BEEC357-E065-0E9C-B384-518C1CEF04D5}"/>
              </a:ext>
            </a:extLst>
          </p:cNvPr>
          <p:cNvSpPr txBox="1"/>
          <p:nvPr/>
        </p:nvSpPr>
        <p:spPr>
          <a:xfrm>
            <a:off x="7960659" y="2420471"/>
            <a:ext cx="4087906" cy="37530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30000" indent="-3060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00000" indent="-2700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242000" indent="-2340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602000" indent="-23400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9000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</a:defRPr>
            </a:lvl6pPr>
            <a:lvl7pPr marL="22000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</a:defRPr>
            </a:lvl7pPr>
            <a:lvl8pPr marL="25000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</a:defRPr>
            </a:lvl8pPr>
            <a:lvl9pPr marL="2800000" indent="-228600"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Données des logs de synchro </a:t>
            </a:r>
            <a:r>
              <a:rPr lang="fr-FR" dirty="0" err="1"/>
              <a:t>Airbyte</a:t>
            </a:r>
            <a:endParaRPr lang="fr-FR" dirty="0"/>
          </a:p>
          <a:p>
            <a:endParaRPr lang="fr-FR" dirty="0"/>
          </a:p>
          <a:p>
            <a:r>
              <a:rPr lang="fr-FR" dirty="0"/>
              <a:t>Temps de chargement des données pouvant être supérieur à 6min</a:t>
            </a:r>
          </a:p>
          <a:p>
            <a:endParaRPr lang="fr-FR" dirty="0"/>
          </a:p>
          <a:p>
            <a:r>
              <a:rPr lang="fr-FR" dirty="0"/>
              <a:t>Le temps de chargement dépend de la connexion internet, des éventuelles latences d’</a:t>
            </a:r>
            <a:r>
              <a:rPr lang="fr-FR" dirty="0" err="1"/>
              <a:t>Airbyte</a:t>
            </a:r>
            <a:r>
              <a:rPr lang="fr-FR" dirty="0"/>
              <a:t>, de la quantité de données chargée</a:t>
            </a:r>
          </a:p>
        </p:txBody>
      </p:sp>
    </p:spTree>
    <p:extLst>
      <p:ext uri="{BB962C8B-B14F-4D97-AF65-F5344CB8AC3E}">
        <p14:creationId xmlns:p14="http://schemas.microsoft.com/office/powerpoint/2010/main" val="90262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6F9654A-AEF6-7C1B-5E4C-7A595150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9" y="2345312"/>
            <a:ext cx="8268854" cy="381053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C4CC017-D4E6-EF3B-F567-8E1DF81B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temps accessibilité aux données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5A87D0-4BCC-68DF-11C9-3CB00623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591C28-444A-7AE1-DCB0-4646E1938817}"/>
              </a:ext>
            </a:extLst>
          </p:cNvPr>
          <p:cNvSpPr/>
          <p:nvPr/>
        </p:nvSpPr>
        <p:spPr>
          <a:xfrm>
            <a:off x="5293360" y="2661920"/>
            <a:ext cx="3312160" cy="3048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A6F2CB-B5DC-F08C-E7B6-36062C3C8FD0}"/>
              </a:ext>
            </a:extLst>
          </p:cNvPr>
          <p:cNvSpPr txBox="1"/>
          <p:nvPr/>
        </p:nvSpPr>
        <p:spPr>
          <a:xfrm>
            <a:off x="7797800" y="2685812"/>
            <a:ext cx="90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marts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F3472F-1C0E-19C4-ADCC-E3787222C1D8}"/>
              </a:ext>
            </a:extLst>
          </p:cNvPr>
          <p:cNvSpPr txBox="1"/>
          <p:nvPr/>
        </p:nvSpPr>
        <p:spPr>
          <a:xfrm>
            <a:off x="8867793" y="2597346"/>
            <a:ext cx="3189736" cy="358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fr-FR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Données tirées des logs </a:t>
            </a:r>
            <a:r>
              <a:rPr lang="fr-FR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dbt</a:t>
            </a:r>
            <a:endParaRPr lang="fr-FR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061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FE391-4CF0-758A-E7F4-4B4C889F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Qualité des données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71A474-61E5-3615-DC06-7E7E4D47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5E074480-F0AE-1940-D5E5-68A0603A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0" y="2478299"/>
            <a:ext cx="4368800" cy="3255294"/>
          </a:xfrm>
        </p:spPr>
        <p:txBody>
          <a:bodyPr>
            <a:normAutofit fontScale="92500"/>
          </a:bodyPr>
          <a:lstStyle/>
          <a:p>
            <a:r>
              <a:rPr lang="fr-FR" dirty="0" err="1"/>
              <a:t>not_null</a:t>
            </a:r>
            <a:r>
              <a:rPr lang="fr-FR" dirty="0"/>
              <a:t> : identifiants, coordonnées, date, heure </a:t>
            </a:r>
            <a:r>
              <a:rPr lang="fr-FR" dirty="0" err="1"/>
              <a:t>etc</a:t>
            </a:r>
            <a:endParaRPr lang="fr-FR" dirty="0"/>
          </a:p>
          <a:p>
            <a:r>
              <a:rPr lang="fr-FR" dirty="0"/>
              <a:t>unique: </a:t>
            </a:r>
            <a:r>
              <a:rPr lang="fr-FR" dirty="0" err="1"/>
              <a:t>station_id</a:t>
            </a:r>
            <a:r>
              <a:rPr lang="fr-FR" dirty="0"/>
              <a:t>, </a:t>
            </a:r>
            <a:r>
              <a:rPr lang="fr-FR" dirty="0" err="1"/>
              <a:t>observation_date</a:t>
            </a:r>
            <a:r>
              <a:rPr lang="fr-FR" dirty="0"/>
              <a:t>, </a:t>
            </a:r>
            <a:r>
              <a:rPr lang="fr-FR" dirty="0" err="1"/>
              <a:t>observation_time</a:t>
            </a:r>
            <a:endParaRPr lang="fr-FR" dirty="0"/>
          </a:p>
          <a:p>
            <a:r>
              <a:rPr lang="fr-FR" dirty="0" err="1"/>
              <a:t>relationships</a:t>
            </a:r>
            <a:r>
              <a:rPr lang="fr-FR" dirty="0"/>
              <a:t> : </a:t>
            </a:r>
            <a:r>
              <a:rPr lang="fr-FR" dirty="0" err="1"/>
              <a:t>station_id</a:t>
            </a:r>
            <a:r>
              <a:rPr lang="fr-FR" dirty="0"/>
              <a:t>, </a:t>
            </a:r>
            <a:r>
              <a:rPr lang="fr-FR" dirty="0" err="1"/>
              <a:t>observation_date</a:t>
            </a:r>
            <a:r>
              <a:rPr lang="fr-FR" dirty="0"/>
              <a:t>, </a:t>
            </a:r>
            <a:r>
              <a:rPr lang="fr-FR" dirty="0" err="1"/>
              <a:t>observation_time</a:t>
            </a:r>
            <a:r>
              <a:rPr lang="fr-FR" dirty="0"/>
              <a:t> et table dimension</a:t>
            </a:r>
          </a:p>
          <a:p>
            <a:r>
              <a:rPr lang="fr-FR" dirty="0" err="1"/>
              <a:t>accepted_values</a:t>
            </a:r>
            <a:r>
              <a:rPr lang="fr-FR" dirty="0"/>
              <a:t>: amateur / officielle</a:t>
            </a:r>
          </a:p>
          <a:p>
            <a:r>
              <a:rPr lang="fr-FR" dirty="0"/>
              <a:t>Tests spécifiques : pluie, température, humidité, vent</a:t>
            </a:r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26A1C7F-44A5-26F2-476F-128B8DEC9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1" y="2303049"/>
            <a:ext cx="7582530" cy="353344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17AF984-AE83-DBFE-4D44-AFC0FBB24F45}"/>
              </a:ext>
            </a:extLst>
          </p:cNvPr>
          <p:cNvSpPr txBox="1"/>
          <p:nvPr/>
        </p:nvSpPr>
        <p:spPr>
          <a:xfrm>
            <a:off x="1228165" y="5971178"/>
            <a:ext cx="597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PASS=26 WARN=0 ERROR=0 SKIP=0 NO-OP=0 TOTAL=26</a:t>
            </a:r>
            <a:endParaRPr lang="fr-F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833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40D08-8ABD-C30D-8619-3A8A24D1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Mise en place AWS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A525BD-E384-4889-C5DF-7D6D0E5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E02770F-21A4-2DBE-C359-6DA9D735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113886"/>
            <a:ext cx="7000110" cy="460067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E7F2CA8-5623-0C70-B3D2-62A9492601D4}"/>
              </a:ext>
            </a:extLst>
          </p:cNvPr>
          <p:cNvSpPr txBox="1"/>
          <p:nvPr/>
        </p:nvSpPr>
        <p:spPr>
          <a:xfrm>
            <a:off x="8867793" y="2597346"/>
            <a:ext cx="3189736" cy="93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fr-FR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Mise en place du suivi des coûts des services AWS utilisés</a:t>
            </a:r>
          </a:p>
        </p:txBody>
      </p:sp>
    </p:spTree>
    <p:extLst>
      <p:ext uri="{BB962C8B-B14F-4D97-AF65-F5344CB8AC3E}">
        <p14:creationId xmlns:p14="http://schemas.microsoft.com/office/powerpoint/2010/main" val="1158311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FB7B3-C2E9-B591-225C-2751F4F0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Mise en place AWS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A488512-7A1E-4EA4-4950-8BF8390A6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09" y="2111441"/>
            <a:ext cx="12071582" cy="1084729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B487BB-D4F5-694E-7061-06FB285B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9150648-2A74-B357-6161-EE25115C8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1830"/>
            <a:ext cx="12192000" cy="289799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C780DC9-74CA-26FE-1638-12DEE96BEFB7}"/>
              </a:ext>
            </a:extLst>
          </p:cNvPr>
          <p:cNvSpPr txBox="1"/>
          <p:nvPr/>
        </p:nvSpPr>
        <p:spPr>
          <a:xfrm>
            <a:off x="5262282" y="2033370"/>
            <a:ext cx="2343669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RDS pour la base de données PostgreSQL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C5DD885-1EA2-7EED-3077-A930F4113357}"/>
              </a:ext>
            </a:extLst>
          </p:cNvPr>
          <p:cNvSpPr txBox="1"/>
          <p:nvPr/>
        </p:nvSpPr>
        <p:spPr>
          <a:xfrm>
            <a:off x="5262282" y="3416735"/>
            <a:ext cx="2343669" cy="92333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ECS cluster pour l’exécution des tâches et services</a:t>
            </a:r>
          </a:p>
        </p:txBody>
      </p:sp>
    </p:spTree>
    <p:extLst>
      <p:ext uri="{BB962C8B-B14F-4D97-AF65-F5344CB8AC3E}">
        <p14:creationId xmlns:p14="http://schemas.microsoft.com/office/powerpoint/2010/main" val="4060533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86C5D-57B6-AF21-AFA8-ABB98646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Mise en place AWS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53CFAD-7CEA-58FA-576E-447E6AA6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CB1789C-DB7B-86E2-2496-D6630252D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3320"/>
            <a:ext cx="12192000" cy="133489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E91910B-AD22-B974-8056-3B56ADF0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0654"/>
            <a:ext cx="12192000" cy="243712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A9FB985-0B06-0CBF-438D-46ABAFCF8231}"/>
              </a:ext>
            </a:extLst>
          </p:cNvPr>
          <p:cNvSpPr txBox="1"/>
          <p:nvPr/>
        </p:nvSpPr>
        <p:spPr>
          <a:xfrm>
            <a:off x="5262282" y="1851655"/>
            <a:ext cx="2343669" cy="923330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ECS définitions de tâches pour </a:t>
            </a:r>
            <a:r>
              <a:rPr lang="fr-FR" dirty="0" err="1"/>
              <a:t>dbt</a:t>
            </a:r>
            <a:r>
              <a:rPr lang="fr-FR" dirty="0"/>
              <a:t> </a:t>
            </a:r>
            <a:r>
              <a:rPr lang="fr-FR" dirty="0" err="1"/>
              <a:t>build</a:t>
            </a:r>
            <a:r>
              <a:rPr lang="fr-FR" dirty="0"/>
              <a:t> et </a:t>
            </a:r>
            <a:r>
              <a:rPr lang="fr-FR" dirty="0" err="1"/>
              <a:t>dbt</a:t>
            </a:r>
            <a:r>
              <a:rPr lang="fr-FR" dirty="0"/>
              <a:t> docs serve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4AF8742-CFC9-4331-6634-9CAF9FF5D93E}"/>
              </a:ext>
            </a:extLst>
          </p:cNvPr>
          <p:cNvSpPr txBox="1"/>
          <p:nvPr/>
        </p:nvSpPr>
        <p:spPr>
          <a:xfrm>
            <a:off x="5262282" y="3789393"/>
            <a:ext cx="2343669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CloudWatch</a:t>
            </a:r>
            <a:r>
              <a:rPr lang="fr-FR" dirty="0"/>
              <a:t> pour les logs ECS et RDS</a:t>
            </a:r>
          </a:p>
        </p:txBody>
      </p:sp>
    </p:spTree>
    <p:extLst>
      <p:ext uri="{BB962C8B-B14F-4D97-AF65-F5344CB8AC3E}">
        <p14:creationId xmlns:p14="http://schemas.microsoft.com/office/powerpoint/2010/main" val="974407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204384-C579-428E-B31F-A6839AC9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Mise en place AWS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A5D890-4253-D028-03BE-D39849BDD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3B86879-0D6C-1AD0-9D4C-EE4799FB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2180"/>
            <a:ext cx="12192000" cy="1973640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C7D436D-9332-AA20-3E59-0AD3CE91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9"/>
          <a:stretch>
            <a:fillRect/>
          </a:stretch>
        </p:blipFill>
        <p:spPr>
          <a:xfrm>
            <a:off x="0" y="4805081"/>
            <a:ext cx="12192000" cy="1265195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954C034-F17C-B0E2-D36E-61FDD169DB68}"/>
              </a:ext>
            </a:extLst>
          </p:cNvPr>
          <p:cNvSpPr txBox="1"/>
          <p:nvPr/>
        </p:nvSpPr>
        <p:spPr>
          <a:xfrm>
            <a:off x="5468470" y="2244513"/>
            <a:ext cx="2343669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err="1"/>
              <a:t>EvenBridge</a:t>
            </a:r>
            <a:r>
              <a:rPr lang="fr-FR" dirty="0"/>
              <a:t> pour la planification de tâche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3C9884-3489-FA0F-12F4-C45931198EA8}"/>
              </a:ext>
            </a:extLst>
          </p:cNvPr>
          <p:cNvSpPr txBox="1"/>
          <p:nvPr/>
        </p:nvSpPr>
        <p:spPr>
          <a:xfrm>
            <a:off x="5468470" y="4613487"/>
            <a:ext cx="2137481" cy="646331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EC2 instance pour </a:t>
            </a:r>
            <a:r>
              <a:rPr lang="fr-FR" dirty="0" err="1"/>
              <a:t>Airbyte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8839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F9EC2F-E413-80D3-EC77-F6F68044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Mise en place AWS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ADD723-D08F-A92C-01E8-2B4079CA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25/08/2026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8AEA79-6EA6-AEBB-2E50-825E19C15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0250"/>
            <a:ext cx="12192000" cy="1357499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23BB8A1-670A-9FC6-E9EF-A94486AA58FD}"/>
              </a:ext>
            </a:extLst>
          </p:cNvPr>
          <p:cNvSpPr txBox="1"/>
          <p:nvPr/>
        </p:nvSpPr>
        <p:spPr>
          <a:xfrm>
            <a:off x="5477435" y="2150085"/>
            <a:ext cx="2343669" cy="1200329"/>
          </a:xfrm>
          <a:prstGeom prst="rect">
            <a:avLst/>
          </a:prstGeom>
          <a:solidFill>
            <a:schemeClr val="bg1"/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Secret Manager pour la gestion des secrets RDS (PostgreSQL) et DBT</a:t>
            </a:r>
          </a:p>
        </p:txBody>
      </p:sp>
    </p:spTree>
    <p:extLst>
      <p:ext uri="{BB962C8B-B14F-4D97-AF65-F5344CB8AC3E}">
        <p14:creationId xmlns:p14="http://schemas.microsoft.com/office/powerpoint/2010/main" val="122664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Zoom sur un logo&#10;&#10;Description générée automatiquement">
            <a:extLst>
              <a:ext uri="{FF2B5EF4-FFF2-40B4-BE49-F238E27FC236}">
                <a16:creationId xmlns:a16="http://schemas.microsoft.com/office/drawing/2014/main" id="{04583C04-0D49-893D-0970-03D464B262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8083" y="551281"/>
            <a:ext cx="5501641" cy="267690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FF07263C-067E-9E13-03BB-5E6100C1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561DFB75-921A-D949-3E0B-E858BC02A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4674" y="1896367"/>
            <a:ext cx="5501641" cy="4412233"/>
          </a:xfrm>
        </p:spPr>
        <p:txBody>
          <a:bodyPr>
            <a:normAutofit/>
          </a:bodyPr>
          <a:lstStyle/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fr-FR" sz="1800" dirty="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Un socle météo prêt à grandir</a:t>
            </a:r>
          </a:p>
          <a:p>
            <a:r>
              <a:rPr lang="fr-FR" sz="1800" dirty="0">
                <a:solidFill>
                  <a:schemeClr val="tx1"/>
                </a:solidFill>
              </a:rPr>
              <a:t>Une base structurée, contrôlée et documentée. </a:t>
            </a:r>
          </a:p>
          <a:p>
            <a:r>
              <a:rPr lang="fr-FR" sz="1800" dirty="0">
                <a:solidFill>
                  <a:schemeClr val="tx1"/>
                </a:solidFill>
              </a:rPr>
              <a:t>La prochaine étape est l’observabilité opérationnelle et la fiabilisation du déploiement </a:t>
            </a:r>
            <a:r>
              <a:rPr lang="fr-FR" sz="1800" dirty="0" err="1">
                <a:solidFill>
                  <a:schemeClr val="tx1"/>
                </a:solidFill>
              </a:rPr>
              <a:t>Airbyte</a:t>
            </a:r>
            <a:r>
              <a:rPr lang="fr-FR" sz="1800" dirty="0">
                <a:solidFill>
                  <a:schemeClr val="tx1"/>
                </a:solidFill>
              </a:rPr>
              <a:t>.</a:t>
            </a:r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  <a:p>
            <a:endParaRPr lang="fr-FR" sz="1800" dirty="0">
              <a:solidFill>
                <a:schemeClr val="tx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194F2B51-DED5-21C8-C7D5-65B4B3DBB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6039" y="1717989"/>
            <a:ext cx="5501641" cy="50710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b="1" u="sng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886762-B5AB-8018-4F83-43D53431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1255F31-5DB3-4925-BA87-822F5B17A2F1}" type="datetime1">
              <a:rPr lang="fr-FR" smtClean="0"/>
              <a:t>25/08/2026</a:t>
            </a:fld>
            <a:endParaRPr lang="en-US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52691BAD-08AB-B78A-CC60-835F24A8FF14}"/>
              </a:ext>
            </a:extLst>
          </p:cNvPr>
          <p:cNvGrpSpPr/>
          <p:nvPr/>
        </p:nvGrpSpPr>
        <p:grpSpPr>
          <a:xfrm>
            <a:off x="731520" y="4156040"/>
            <a:ext cx="10698480" cy="1417320"/>
            <a:chOff x="731520" y="2103120"/>
            <a:chExt cx="10698480" cy="1417320"/>
          </a:xfrm>
        </p:grpSpPr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4CD7F2C1-B3B3-B492-3FD4-B95DF910DD67}"/>
                </a:ext>
              </a:extLst>
            </p:cNvPr>
            <p:cNvSpPr/>
            <p:nvPr/>
          </p:nvSpPr>
          <p:spPr>
            <a:xfrm>
              <a:off x="731520" y="2103120"/>
              <a:ext cx="2331720" cy="14173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2148C4-404F-62BD-03B2-FC89CEB5D8ED}"/>
                </a:ext>
              </a:extLst>
            </p:cNvPr>
            <p:cNvSpPr/>
            <p:nvPr/>
          </p:nvSpPr>
          <p:spPr>
            <a:xfrm>
              <a:off x="731520" y="2103120"/>
              <a:ext cx="73152" cy="1417320"/>
            </a:xfrm>
            <a:prstGeom prst="rect">
              <a:avLst/>
            </a:prstGeom>
            <a:solidFill>
              <a:srgbClr val="17BEBB"/>
            </a:solidFill>
            <a:ln w="10160">
              <a:solidFill>
                <a:srgbClr val="17B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19711A0D-E243-1E55-16B8-FA9C69809BFE}"/>
                </a:ext>
              </a:extLst>
            </p:cNvPr>
            <p:cNvSpPr txBox="1"/>
            <p:nvPr/>
          </p:nvSpPr>
          <p:spPr>
            <a:xfrm>
              <a:off x="932688" y="2286000"/>
              <a:ext cx="2011679" cy="323165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500" b="1">
                  <a:solidFill>
                    <a:srgbClr val="14213D"/>
                  </a:solidFill>
                  <a:latin typeface="Aptos"/>
                </a:defRPr>
              </a:pPr>
              <a:r>
                <a:t>Fiable</a:t>
              </a: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535E353-C77A-7BA6-191C-72AE969C1E66}"/>
                </a:ext>
              </a:extLst>
            </p:cNvPr>
            <p:cNvSpPr txBox="1"/>
            <p:nvPr/>
          </p:nvSpPr>
          <p:spPr>
            <a:xfrm>
              <a:off x="932688" y="2670048"/>
              <a:ext cx="2011679" cy="276999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200" b="0">
                  <a:solidFill>
                    <a:srgbClr val="5B6770"/>
                  </a:solidFill>
                  <a:latin typeface="Aptos"/>
                </a:defRPr>
              </a:pPr>
              <a:r>
                <a:rPr lang="fr-FR" dirty="0"/>
                <a:t>26</a:t>
              </a:r>
              <a:r>
                <a:rPr dirty="0"/>
                <a:t>/</a:t>
              </a:r>
              <a:r>
                <a:rPr lang="fr-FR" dirty="0"/>
                <a:t>26</a:t>
              </a:r>
              <a:r>
                <a:rPr dirty="0"/>
                <a:t> tests PASS</a:t>
              </a:r>
            </a:p>
          </p:txBody>
        </p:sp>
        <p:sp>
          <p:nvSpPr>
            <p:cNvPr id="14" name="Rounded Rectangle 8">
              <a:extLst>
                <a:ext uri="{FF2B5EF4-FFF2-40B4-BE49-F238E27FC236}">
                  <a16:creationId xmlns:a16="http://schemas.microsoft.com/office/drawing/2014/main" id="{254C3378-B827-B28B-79A8-81437A38D090}"/>
                </a:ext>
              </a:extLst>
            </p:cNvPr>
            <p:cNvSpPr/>
            <p:nvPr/>
          </p:nvSpPr>
          <p:spPr>
            <a:xfrm>
              <a:off x="3520439" y="2103120"/>
              <a:ext cx="2331720" cy="14173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79B3F0-D919-4941-8494-C72C6F9F155F}"/>
                </a:ext>
              </a:extLst>
            </p:cNvPr>
            <p:cNvSpPr/>
            <p:nvPr/>
          </p:nvSpPr>
          <p:spPr>
            <a:xfrm>
              <a:off x="3520439" y="2103120"/>
              <a:ext cx="73152" cy="1417320"/>
            </a:xfrm>
            <a:prstGeom prst="rect">
              <a:avLst/>
            </a:prstGeom>
            <a:solidFill>
              <a:srgbClr val="F2C14E"/>
            </a:solidFill>
            <a:ln w="10160">
              <a:solidFill>
                <a:srgbClr val="F2C1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5CAD90E6-2204-0C8A-4092-98AC13F45991}"/>
                </a:ext>
              </a:extLst>
            </p:cNvPr>
            <p:cNvSpPr txBox="1"/>
            <p:nvPr/>
          </p:nvSpPr>
          <p:spPr>
            <a:xfrm>
              <a:off x="3721607" y="2286000"/>
              <a:ext cx="2011679" cy="323165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500" b="1">
                  <a:solidFill>
                    <a:srgbClr val="14213D"/>
                  </a:solidFill>
                  <a:latin typeface="Aptos"/>
                </a:defRPr>
              </a:pPr>
              <a:r>
                <a:rPr dirty="0" err="1"/>
                <a:t>Lisible</a:t>
              </a:r>
              <a:endParaRPr dirty="0"/>
            </a:p>
          </p:txBody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239CB367-7838-9D8E-0D1D-42CA6AD78265}"/>
                </a:ext>
              </a:extLst>
            </p:cNvPr>
            <p:cNvSpPr txBox="1"/>
            <p:nvPr/>
          </p:nvSpPr>
          <p:spPr>
            <a:xfrm>
              <a:off x="3721607" y="2670048"/>
              <a:ext cx="2011679" cy="276999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200" b="0">
                  <a:solidFill>
                    <a:srgbClr val="5B6770"/>
                  </a:solidFill>
                  <a:latin typeface="Aptos"/>
                </a:defRPr>
              </a:pPr>
              <a:r>
                <a:t>Lineage + docs DBT</a:t>
              </a:r>
            </a:p>
          </p:txBody>
        </p:sp>
        <p:sp>
          <p:nvSpPr>
            <p:cNvPr id="18" name="Rounded Rectangle 12">
              <a:extLst>
                <a:ext uri="{FF2B5EF4-FFF2-40B4-BE49-F238E27FC236}">
                  <a16:creationId xmlns:a16="http://schemas.microsoft.com/office/drawing/2014/main" id="{896123B5-B372-6F23-ED25-4D182E87871C}"/>
                </a:ext>
              </a:extLst>
            </p:cNvPr>
            <p:cNvSpPr/>
            <p:nvPr/>
          </p:nvSpPr>
          <p:spPr>
            <a:xfrm>
              <a:off x="6309359" y="2103120"/>
              <a:ext cx="2331720" cy="14173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692B6-E82F-14FC-9A32-33A4BC6BEF01}"/>
                </a:ext>
              </a:extLst>
            </p:cNvPr>
            <p:cNvSpPr/>
            <p:nvPr/>
          </p:nvSpPr>
          <p:spPr>
            <a:xfrm>
              <a:off x="6309359" y="2103120"/>
              <a:ext cx="73152" cy="1417320"/>
            </a:xfrm>
            <a:prstGeom prst="rect">
              <a:avLst/>
            </a:prstGeom>
            <a:solidFill>
              <a:srgbClr val="D9F0F0"/>
            </a:solidFill>
            <a:ln w="10160">
              <a:solidFill>
                <a:srgbClr val="D9F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0C269E9C-0F70-E672-861F-DB9C6BA33DC0}"/>
                </a:ext>
              </a:extLst>
            </p:cNvPr>
            <p:cNvSpPr txBox="1"/>
            <p:nvPr/>
          </p:nvSpPr>
          <p:spPr>
            <a:xfrm>
              <a:off x="6510527" y="2286000"/>
              <a:ext cx="2011679" cy="323165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500" b="1">
                  <a:solidFill>
                    <a:srgbClr val="14213D"/>
                  </a:solidFill>
                  <a:latin typeface="Aptos"/>
                </a:defRPr>
              </a:pPr>
              <a:r>
                <a:t>Performant</a:t>
              </a:r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F4D65C81-E123-C243-E9B1-D5FFF178439E}"/>
                </a:ext>
              </a:extLst>
            </p:cNvPr>
            <p:cNvSpPr txBox="1"/>
            <p:nvPr/>
          </p:nvSpPr>
          <p:spPr>
            <a:xfrm>
              <a:off x="6510527" y="2670048"/>
              <a:ext cx="2011679" cy="276999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200" b="0">
                  <a:solidFill>
                    <a:srgbClr val="5B6770"/>
                  </a:solidFill>
                  <a:latin typeface="Aptos"/>
                </a:defRPr>
              </a:pPr>
              <a:r>
                <a:rPr lang="fr-FR" dirty="0"/>
                <a:t>1,44</a:t>
              </a:r>
              <a:r>
                <a:rPr dirty="0"/>
                <a:t> s sur les marts</a:t>
              </a:r>
            </a:p>
          </p:txBody>
        </p:sp>
        <p:sp>
          <p:nvSpPr>
            <p:cNvPr id="22" name="Rounded Rectangle 16">
              <a:extLst>
                <a:ext uri="{FF2B5EF4-FFF2-40B4-BE49-F238E27FC236}">
                  <a16:creationId xmlns:a16="http://schemas.microsoft.com/office/drawing/2014/main" id="{F4485261-4999-DA8F-A3D5-E79BC9EA4A88}"/>
                </a:ext>
              </a:extLst>
            </p:cNvPr>
            <p:cNvSpPr/>
            <p:nvPr/>
          </p:nvSpPr>
          <p:spPr>
            <a:xfrm>
              <a:off x="9098280" y="2103120"/>
              <a:ext cx="2331720" cy="14173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6068818-B279-7D37-9820-C9879D6CCDE3}"/>
                </a:ext>
              </a:extLst>
            </p:cNvPr>
            <p:cNvSpPr/>
            <p:nvPr/>
          </p:nvSpPr>
          <p:spPr>
            <a:xfrm>
              <a:off x="9098280" y="2103120"/>
              <a:ext cx="73152" cy="1417320"/>
            </a:xfrm>
            <a:prstGeom prst="rect">
              <a:avLst/>
            </a:prstGeom>
            <a:solidFill>
              <a:srgbClr val="3AA76D"/>
            </a:solidFill>
            <a:ln w="10160">
              <a:solidFill>
                <a:srgbClr val="3AA76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4" name="TextBox 18">
              <a:extLst>
                <a:ext uri="{FF2B5EF4-FFF2-40B4-BE49-F238E27FC236}">
                  <a16:creationId xmlns:a16="http://schemas.microsoft.com/office/drawing/2014/main" id="{D8CAC2E8-51FF-0253-B81F-754786307ABD}"/>
                </a:ext>
              </a:extLst>
            </p:cNvPr>
            <p:cNvSpPr txBox="1"/>
            <p:nvPr/>
          </p:nvSpPr>
          <p:spPr>
            <a:xfrm>
              <a:off x="9299448" y="2286000"/>
              <a:ext cx="2011679" cy="323165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500" b="1">
                  <a:solidFill>
                    <a:srgbClr val="14213D"/>
                  </a:solidFill>
                  <a:latin typeface="Aptos"/>
                </a:defRPr>
              </a:pPr>
              <a:r>
                <a:t>Évolutif</a:t>
              </a:r>
            </a:p>
          </p:txBody>
        </p:sp>
        <p:sp>
          <p:nvSpPr>
            <p:cNvPr id="25" name="TextBox 19">
              <a:extLst>
                <a:ext uri="{FF2B5EF4-FFF2-40B4-BE49-F238E27FC236}">
                  <a16:creationId xmlns:a16="http://schemas.microsoft.com/office/drawing/2014/main" id="{DCAE86F1-6F8E-B6E7-B16E-1AC35A02BF93}"/>
                </a:ext>
              </a:extLst>
            </p:cNvPr>
            <p:cNvSpPr txBox="1"/>
            <p:nvPr/>
          </p:nvSpPr>
          <p:spPr>
            <a:xfrm>
              <a:off x="9299448" y="2670048"/>
              <a:ext cx="2011679" cy="276999"/>
            </a:xfrm>
            <a:prstGeom prst="rect">
              <a:avLst/>
            </a:prstGeom>
            <a:noFill/>
          </p:spPr>
          <p:txBody>
            <a:bodyPr wrap="square" lIns="45720" rIns="45720" anchor="t">
              <a:spAutoFit/>
            </a:bodyPr>
            <a:lstStyle/>
            <a:p>
              <a:pPr algn="l">
                <a:defRPr sz="1200" b="0">
                  <a:solidFill>
                    <a:srgbClr val="5B6770"/>
                  </a:solidFill>
                  <a:latin typeface="Aptos"/>
                </a:defRPr>
              </a:pPr>
              <a:r>
                <a:rPr dirty="0"/>
                <a:t>AWS · Docker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2824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7FC931-858E-2DB7-4048-52FB41AC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CEC98BE-FCE2-445F-8146-3A7F8CC3881D}" type="datetime1">
              <a:rPr lang="fr-FR" smtClean="0"/>
              <a:t>25/08/2026</a:t>
            </a:fld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3474F2F-61F5-F692-ADEB-B18AD9569016}"/>
              </a:ext>
            </a:extLst>
          </p:cNvPr>
          <p:cNvSpPr txBox="1"/>
          <p:nvPr/>
        </p:nvSpPr>
        <p:spPr>
          <a:xfrm>
            <a:off x="4978400" y="3190240"/>
            <a:ext cx="329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46472654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3_TF33552983" id="{8919647C-0055-458C-B827-A2A950DB19BD}" vid="{05B00E4D-3D0B-4DF2-A663-65D33D9625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{E5AA1841-0B6B-420C-B166-ADB295CE9748}TF201209c3-d067-44f9-a26f-c8f216c44313bd85a48a_win32-aaf37d2e3a1e</Template>
  <TotalTime>0</TotalTime>
  <Words>1068</Words>
  <Application>Microsoft Office PowerPoint</Application>
  <PresentationFormat>Grand écran</PresentationFormat>
  <Paragraphs>312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Calibri</vt:lpstr>
      <vt:lpstr>Consolas</vt:lpstr>
      <vt:lpstr>Franklin Gothic Book</vt:lpstr>
      <vt:lpstr>Franklin Gothic Demi</vt:lpstr>
      <vt:lpstr>Wingdings 2</vt:lpstr>
      <vt:lpstr>DividendVTI</vt:lpstr>
      <vt:lpstr>CONSTRUIRE ET TESTER UNE INFRASTRUCTURE DE DONNEES</vt:lpstr>
      <vt:lpstr>Sommaire</vt:lpstr>
      <vt:lpstr>1 - Contexte et objectif </vt:lpstr>
      <vt:lpstr>2. Schéma DE LA base de données </vt:lpstr>
      <vt:lpstr>3. PROCESSUS collecter, transformer, stocker et tester les données </vt:lpstr>
      <vt:lpstr>4. Schéma d’architecture </vt:lpstr>
      <vt:lpstr>5. Mise en place Airbyte </vt:lpstr>
      <vt:lpstr>5. Mise en place Airbyte </vt:lpstr>
      <vt:lpstr>5. Mise en place Airbyte </vt:lpstr>
      <vt:lpstr>5. Mise en place Airbyte </vt:lpstr>
      <vt:lpstr>5. Mise en place Airbyte </vt:lpstr>
      <vt:lpstr>5. Mise en place Airbyte </vt:lpstr>
      <vt:lpstr>6. Mise en place DBT </vt:lpstr>
      <vt:lpstr>6. Mise en place DBT </vt:lpstr>
      <vt:lpstr>6. Mise en place DBT </vt:lpstr>
      <vt:lpstr>6. Mise en place DBT </vt:lpstr>
      <vt:lpstr>6. Mise en place DBT </vt:lpstr>
      <vt:lpstr>7. temps accessibilité aux données</vt:lpstr>
      <vt:lpstr>7. temps accessibilité aux données</vt:lpstr>
      <vt:lpstr>8. Qualité des données</vt:lpstr>
      <vt:lpstr>9. Mise en place AWS</vt:lpstr>
      <vt:lpstr>9. Mise en place AWS</vt:lpstr>
      <vt:lpstr>9. Mise en place AWS</vt:lpstr>
      <vt:lpstr>9. Mise en place AWS</vt:lpstr>
      <vt:lpstr>9. Mise en place AWS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Ulésie</dc:creator>
  <cp:lastModifiedBy>Sébastien Ulésie</cp:lastModifiedBy>
  <cp:revision>432</cp:revision>
  <dcterms:created xsi:type="dcterms:W3CDTF">2026-04-28T09:18:39Z</dcterms:created>
  <dcterms:modified xsi:type="dcterms:W3CDTF">2026-08-25T13:41:23Z</dcterms:modified>
</cp:coreProperties>
</file>