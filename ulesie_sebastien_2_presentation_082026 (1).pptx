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0"/>
  </p:notesMasterIdLst>
  <p:handoutMasterIdLst>
    <p:handoutMasterId r:id="rId31"/>
  </p:handoutMasterIdLst>
  <p:sldIdLst>
    <p:sldId id="257" r:id="rId2"/>
    <p:sldId id="261" r:id="rId3"/>
    <p:sldId id="259" r:id="rId4"/>
    <p:sldId id="260" r:id="rId5"/>
    <p:sldId id="344" r:id="rId6"/>
    <p:sldId id="345" r:id="rId7"/>
    <p:sldId id="346" r:id="rId8"/>
    <p:sldId id="351" r:id="rId9"/>
    <p:sldId id="352" r:id="rId10"/>
    <p:sldId id="353" r:id="rId11"/>
    <p:sldId id="354" r:id="rId12"/>
    <p:sldId id="356" r:id="rId13"/>
    <p:sldId id="347" r:id="rId14"/>
    <p:sldId id="358" r:id="rId15"/>
    <p:sldId id="357" r:id="rId16"/>
    <p:sldId id="359" r:id="rId17"/>
    <p:sldId id="362" r:id="rId18"/>
    <p:sldId id="360" r:id="rId19"/>
    <p:sldId id="348" r:id="rId20"/>
    <p:sldId id="349" r:id="rId21"/>
    <p:sldId id="350" r:id="rId22"/>
    <p:sldId id="363" r:id="rId23"/>
    <p:sldId id="364" r:id="rId24"/>
    <p:sldId id="365" r:id="rId25"/>
    <p:sldId id="366" r:id="rId26"/>
    <p:sldId id="282" r:id="rId27"/>
    <p:sldId id="367" r:id="rId28"/>
    <p:sldId id="299" r:id="rId29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FFD5"/>
    <a:srgbClr val="B3E7FF"/>
    <a:srgbClr val="FAE6B8"/>
    <a:srgbClr val="F6A2F8"/>
    <a:srgbClr val="F15333"/>
    <a:srgbClr val="61D0CE"/>
    <a:srgbClr val="2DA1DB"/>
    <a:srgbClr val="EA580C"/>
    <a:srgbClr val="7C3AED"/>
    <a:srgbClr val="1A5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&amp; Objectif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Schéma d’architecture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Processus collecter, transformer, stocker et tester les données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Schéma de la base de données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Mise en place </a:t>
          </a:r>
          <a:r>
            <a:rPr lang="fr-FR" dirty="0" err="1"/>
            <a:t>Airbyte</a:t>
          </a:r>
          <a:endParaRPr lang="fr-FR" dirty="0"/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Mise en place DBT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Temps accessibilité aux données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40B4F6-4EB6-4EBF-9E1B-B9D404846270}">
      <dgm:prSet phldrT="[Texte]" phldr="0"/>
      <dgm:spPr/>
      <dgm:t>
        <a:bodyPr/>
        <a:lstStyle/>
        <a:p>
          <a:r>
            <a:rPr lang="fr-FR" dirty="0"/>
            <a:t>8- Qualité des données</a:t>
          </a:r>
        </a:p>
      </dgm:t>
    </dgm:pt>
    <dgm:pt modelId="{907C754D-DDD4-4E71-AFE2-02BB244F0F38}" type="parTrans" cxnId="{8A736A9F-65F0-4A55-9A3F-CCF416234F97}">
      <dgm:prSet/>
      <dgm:spPr/>
      <dgm:t>
        <a:bodyPr/>
        <a:lstStyle/>
        <a:p>
          <a:endParaRPr lang="fr-FR"/>
        </a:p>
      </dgm:t>
    </dgm:pt>
    <dgm:pt modelId="{FAB9DC6E-0691-4B3E-84B9-DFFF68013930}" type="sibTrans" cxnId="{8A736A9F-65F0-4A55-9A3F-CCF416234F97}">
      <dgm:prSet/>
      <dgm:spPr/>
      <dgm:t>
        <a:bodyPr/>
        <a:lstStyle/>
        <a:p>
          <a:endParaRPr lang="fr-FR"/>
        </a:p>
      </dgm:t>
    </dgm:pt>
    <dgm:pt modelId="{3CD23260-9728-4408-BFD6-CE02FEDB8461}">
      <dgm:prSet phldrT="[Texte]" phldr="0"/>
      <dgm:spPr/>
      <dgm:t>
        <a:bodyPr/>
        <a:lstStyle/>
        <a:p>
          <a:r>
            <a:rPr lang="fr-FR" dirty="0"/>
            <a:t>9- Mise en place AWS</a:t>
          </a:r>
        </a:p>
      </dgm:t>
    </dgm:pt>
    <dgm:pt modelId="{B46BBC53-87DA-461B-A8AE-AC308B5637EE}" type="parTrans" cxnId="{DCFE94A2-0395-4927-9F3F-AF2253C34E08}">
      <dgm:prSet/>
      <dgm:spPr/>
    </dgm:pt>
    <dgm:pt modelId="{6DD7A032-6B21-43D6-BF72-FE2756121EE7}" type="sibTrans" cxnId="{DCFE94A2-0395-4927-9F3F-AF2253C34E08}">
      <dgm:prSet/>
      <dgm:spPr/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99D02E02-2418-40A3-B359-C1BC5D14D341}" type="pres">
      <dgm:prSet presAssocID="{51CD5044-32D5-4267-9452-9F02006ACD1D}" presName="spacer" presStyleCnt="0"/>
      <dgm:spPr/>
    </dgm:pt>
    <dgm:pt modelId="{1FDD8F32-99D9-4BBE-AF0A-DA191E5D1B76}" type="pres">
      <dgm:prSet presAssocID="{BB40B4F6-4EB6-4EBF-9E1B-B9D404846270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22C40D4C-2771-429E-B890-4635503557F1}" type="pres">
      <dgm:prSet presAssocID="{FAB9DC6E-0691-4B3E-84B9-DFFF68013930}" presName="spacer" presStyleCnt="0"/>
      <dgm:spPr/>
    </dgm:pt>
    <dgm:pt modelId="{B65EB578-92C6-4AE5-8CB8-023DE47A0834}" type="pres">
      <dgm:prSet presAssocID="{3CD23260-9728-4408-BFD6-CE02FEDB8461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B440795D-9897-4394-885B-8552AAFE099C}" type="presOf" srcId="{BB40B4F6-4EB6-4EBF-9E1B-B9D404846270}" destId="{1FDD8F32-99D9-4BBE-AF0A-DA191E5D1B76}" srcOrd="0" destOrd="0" presId="urn:microsoft.com/office/officeart/2005/8/layout/vList2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DB10A97E-ED05-4997-B914-A888129BEA2A}" type="presOf" srcId="{3CD23260-9728-4408-BFD6-CE02FEDB8461}" destId="{B65EB578-92C6-4AE5-8CB8-023DE47A0834}" srcOrd="0" destOrd="0" presId="urn:microsoft.com/office/officeart/2005/8/layout/vList2"/>
    <dgm:cxn modelId="{8A736A9F-65F0-4A55-9A3F-CCF416234F97}" srcId="{2A0612ED-5876-4919-BCC8-600F5B229E71}" destId="{BB40B4F6-4EB6-4EBF-9E1B-B9D404846270}" srcOrd="7" destOrd="0" parTransId="{907C754D-DDD4-4E71-AFE2-02BB244F0F38}" sibTransId="{FAB9DC6E-0691-4B3E-84B9-DFFF68013930}"/>
    <dgm:cxn modelId="{DCFE94A2-0395-4927-9F3F-AF2253C34E08}" srcId="{2A0612ED-5876-4919-BCC8-600F5B229E71}" destId="{3CD23260-9728-4408-BFD6-CE02FEDB8461}" srcOrd="8" destOrd="0" parTransId="{B46BBC53-87DA-461B-A8AE-AC308B5637EE}" sibTransId="{6DD7A032-6B21-43D6-BF72-FE2756121EE7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9070E65-CB06-46BC-8828-A6A194CFD53B}" type="presParOf" srcId="{BB89F849-78B2-43DF-933A-2353D297DD5D}" destId="{99D02E02-2418-40A3-B359-C1BC5D14D341}" srcOrd="13" destOrd="0" presId="urn:microsoft.com/office/officeart/2005/8/layout/vList2"/>
    <dgm:cxn modelId="{0EA99179-2EB5-4B06-AD79-2011946C006C}" type="presParOf" srcId="{BB89F849-78B2-43DF-933A-2353D297DD5D}" destId="{1FDD8F32-99D9-4BBE-AF0A-DA191E5D1B76}" srcOrd="14" destOrd="0" presId="urn:microsoft.com/office/officeart/2005/8/layout/vList2"/>
    <dgm:cxn modelId="{B71ADAED-8DAB-404E-877A-8A1551EA11C8}" type="presParOf" srcId="{BB89F849-78B2-43DF-933A-2353D297DD5D}" destId="{22C40D4C-2771-429E-B890-4635503557F1}" srcOrd="15" destOrd="0" presId="urn:microsoft.com/office/officeart/2005/8/layout/vList2"/>
    <dgm:cxn modelId="{AB1E2936-FCDF-48A0-B231-6C06B89AF1E1}" type="presParOf" srcId="{BB89F849-78B2-43DF-933A-2353D297DD5D}" destId="{B65EB578-92C6-4AE5-8CB8-023DE47A0834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8/layout/AlternatingHexagons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>
        <a:solidFill>
          <a:srgbClr val="FFC000"/>
        </a:solidFill>
      </dgm:spPr>
      <dgm:t>
        <a:bodyPr/>
        <a:lstStyle/>
        <a:p>
          <a:endParaRPr lang="fr-FR"/>
        </a:p>
      </dgm:t>
    </dgm:pt>
    <dgm:pt modelId="{AC29BA73-9A8E-4DD8-9338-B4E11418CE49}">
      <dgm:prSet phldrT="[Texte]" phldr="0"/>
      <dgm:spPr>
        <a:solidFill>
          <a:srgbClr val="00B050"/>
        </a:solidFill>
      </dgm:spPr>
      <dgm:t>
        <a:bodyPr/>
        <a:lstStyle/>
        <a:p>
          <a:pPr algn="ctr"/>
          <a:r>
            <a:rPr lang="fr-FR" b="1" dirty="0"/>
            <a:t>OBJECTIF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>
        <a:solidFill>
          <a:srgbClr val="FF9900"/>
        </a:solidFill>
      </dgm:spPr>
      <dgm:t>
        <a:bodyPr/>
        <a:lstStyle/>
        <a:p>
          <a:endParaRPr lang="fr-FR"/>
        </a:p>
      </dgm:t>
    </dgm:pt>
    <dgm:pt modelId="{DDD1A813-A5E6-4960-B20A-DEC5A896AAA8}">
      <dgm:prSet phldrT="[Texte]" custT="1"/>
      <dgm:spPr/>
      <dgm:t>
        <a:bodyPr/>
        <a:lstStyle/>
        <a:p>
          <a:pPr algn="l"/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b="1" i="0" dirty="0"/>
            <a:t>Ingérer des formats hétérogènes</a:t>
          </a:r>
          <a:br>
            <a:rPr lang="fr-FR" b="1" i="0" dirty="0"/>
          </a:br>
          <a:r>
            <a:rPr lang="fr-FR" b="1" i="0" dirty="0"/>
            <a:t>Conserver les données brutes</a:t>
          </a:r>
          <a:br>
            <a:rPr lang="fr-FR" b="1" i="0" dirty="0"/>
          </a:br>
          <a:r>
            <a:rPr lang="fr-FR" b="1" i="0" dirty="0"/>
            <a:t>Transformer dans PostgreSQL avec DBT</a:t>
          </a:r>
          <a:br>
            <a:rPr lang="fr-FR" b="1" i="0" dirty="0"/>
          </a:br>
          <a:r>
            <a:rPr lang="fr-FR" b="1" i="0" dirty="0"/>
            <a:t>Tester et documenter</a:t>
          </a:r>
          <a:br>
            <a:rPr lang="fr-FR" b="1" i="0" dirty="0"/>
          </a:br>
          <a:r>
            <a:rPr lang="fr-FR" b="1" i="0" dirty="0"/>
            <a:t>Rendre les données accessibles au ML</a:t>
          </a:r>
          <a:endParaRPr lang="fr-FR" b="1" dirty="0"/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70E376D1-A4CD-42B5-93F4-3F937F8760F9}" type="pres">
      <dgm:prSet presAssocID="{8D05CF17-EFD1-4CB7-B633-3BFB5E6F1D40}" presName="Name0" presStyleCnt="0">
        <dgm:presLayoutVars>
          <dgm:chMax/>
          <dgm:chPref/>
          <dgm:dir/>
          <dgm:animLvl val="lvl"/>
        </dgm:presLayoutVars>
      </dgm:prSet>
      <dgm:spPr/>
    </dgm:pt>
    <dgm:pt modelId="{DAB1C598-7380-4205-A199-304DB9D9AA18}" type="pres">
      <dgm:prSet presAssocID="{637B7BD1-6FE4-4F79-B085-330B55BDE317}" presName="composite" presStyleCnt="0"/>
      <dgm:spPr/>
    </dgm:pt>
    <dgm:pt modelId="{56A13A4E-84D7-4D91-BEDB-90F24C5C496A}" type="pres">
      <dgm:prSet presAssocID="{637B7BD1-6FE4-4F79-B085-330B55BDE317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9B056C53-7419-4F9C-91E4-BA19F0141D87}" type="pres">
      <dgm:prSet presAssocID="{637B7BD1-6FE4-4F79-B085-330B55BDE317}" presName="Childtext1" presStyleLbl="revTx" presStyleIdx="0" presStyleCnt="2">
        <dgm:presLayoutVars>
          <dgm:chMax val="0"/>
          <dgm:chPref val="0"/>
          <dgm:bulletEnabled val="1"/>
        </dgm:presLayoutVars>
      </dgm:prSet>
      <dgm:spPr/>
    </dgm:pt>
    <dgm:pt modelId="{6F53C1AC-6895-430E-BA0D-360B017D4D9E}" type="pres">
      <dgm:prSet presAssocID="{637B7BD1-6FE4-4F79-B085-330B55BDE317}" presName="BalanceSpacing" presStyleCnt="0"/>
      <dgm:spPr/>
    </dgm:pt>
    <dgm:pt modelId="{EDA89EB7-457B-4BA5-82D3-E999EDF663ED}" type="pres">
      <dgm:prSet presAssocID="{637B7BD1-6FE4-4F79-B085-330B55BDE317}" presName="BalanceSpacing1" presStyleCnt="0"/>
      <dgm:spPr/>
    </dgm:pt>
    <dgm:pt modelId="{6999D6AC-DDB9-4FD7-AFBB-DD7E27F8F5BE}" type="pres">
      <dgm:prSet presAssocID="{BAAAB516-174F-4396-83ED-099C68A09F32}" presName="Accent1Text" presStyleLbl="node1" presStyleIdx="1" presStyleCnt="4"/>
      <dgm:spPr/>
    </dgm:pt>
    <dgm:pt modelId="{12C40042-6A22-4C0C-8624-51D90A259334}" type="pres">
      <dgm:prSet presAssocID="{BAAAB516-174F-4396-83ED-099C68A09F32}" presName="spaceBetweenRectangles" presStyleCnt="0"/>
      <dgm:spPr/>
    </dgm:pt>
    <dgm:pt modelId="{E18AD5E0-511D-4DD1-9F6C-A3FEB4015259}" type="pres">
      <dgm:prSet presAssocID="{AC29BA73-9A8E-4DD8-9338-B4E11418CE49}" presName="composite" presStyleCnt="0"/>
      <dgm:spPr/>
    </dgm:pt>
    <dgm:pt modelId="{DC18BF4A-2A0F-46C3-B95A-6DD9B50BD378}" type="pres">
      <dgm:prSet presAssocID="{AC29BA73-9A8E-4DD8-9338-B4E11418CE49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1248949E-B79E-4EED-9628-C52D6386C977}" type="pres">
      <dgm:prSet presAssocID="{AC29BA73-9A8E-4DD8-9338-B4E11418CE49}" presName="Childtext1" presStyleLbl="revTx" presStyleIdx="1" presStyleCnt="2">
        <dgm:presLayoutVars>
          <dgm:chMax val="0"/>
          <dgm:chPref val="0"/>
          <dgm:bulletEnabled val="1"/>
        </dgm:presLayoutVars>
      </dgm:prSet>
      <dgm:spPr/>
    </dgm:pt>
    <dgm:pt modelId="{04B8B441-F20F-4D86-A38D-6BFFF682C23B}" type="pres">
      <dgm:prSet presAssocID="{AC29BA73-9A8E-4DD8-9338-B4E11418CE49}" presName="BalanceSpacing" presStyleCnt="0"/>
      <dgm:spPr/>
    </dgm:pt>
    <dgm:pt modelId="{DFF4F660-0F2C-47B9-9BDF-2EA18224B174}" type="pres">
      <dgm:prSet presAssocID="{AC29BA73-9A8E-4DD8-9338-B4E11418CE49}" presName="BalanceSpacing1" presStyleCnt="0"/>
      <dgm:spPr/>
    </dgm:pt>
    <dgm:pt modelId="{50931873-200F-47FE-9D6F-FC2A93EFCE66}" type="pres">
      <dgm:prSet presAssocID="{536F5F02-EADD-4809-AD98-9B2EB9A00C9A}" presName="Accent1Text" presStyleLbl="node1" presStyleIdx="3" presStyleCnt="4"/>
      <dgm:spPr/>
    </dgm:pt>
  </dgm:ptLst>
  <dgm:cxnLst>
    <dgm:cxn modelId="{DC623A0E-398D-42CD-B596-7E8E6292A830}" type="presOf" srcId="{DDD1A813-A5E6-4960-B20A-DEC5A896AAA8}" destId="{9B056C53-7419-4F9C-91E4-BA19F0141D87}" srcOrd="0" destOrd="0" presId="urn:microsoft.com/office/officeart/2008/layout/AlternatingHexagons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D0B4197E-38F3-4303-8784-0C02C3140386}" type="presOf" srcId="{536F5F02-EADD-4809-AD98-9B2EB9A00C9A}" destId="{50931873-200F-47FE-9D6F-FC2A93EFCE66}" srcOrd="0" destOrd="0" presId="urn:microsoft.com/office/officeart/2008/layout/AlternatingHexagons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C77D5FBE-FA3C-4F5D-A191-76D54E9BC433}" type="presOf" srcId="{8D05CF17-EFD1-4CB7-B633-3BFB5E6F1D40}" destId="{70E376D1-A4CD-42B5-93F4-3F937F8760F9}" srcOrd="0" destOrd="0" presId="urn:microsoft.com/office/officeart/2008/layout/AlternatingHexagons"/>
    <dgm:cxn modelId="{D09DC1D5-0FBB-42FC-ADB6-D55D62E31B30}" type="presOf" srcId="{CFF3B573-BAC6-426A-BDAA-76B161A76E5A}" destId="{1248949E-B79E-4EED-9628-C52D6386C977}" srcOrd="0" destOrd="0" presId="urn:microsoft.com/office/officeart/2008/layout/AlternatingHexagons"/>
    <dgm:cxn modelId="{503D3EF4-7711-4570-B979-4C2F3FCCD613}" type="presOf" srcId="{BAAAB516-174F-4396-83ED-099C68A09F32}" destId="{6999D6AC-DDB9-4FD7-AFBB-DD7E27F8F5BE}" srcOrd="0" destOrd="0" presId="urn:microsoft.com/office/officeart/2008/layout/AlternatingHexagons"/>
    <dgm:cxn modelId="{91F6B2FF-BFC6-4DBE-AEF5-D9B36F7F5950}" type="presOf" srcId="{637B7BD1-6FE4-4F79-B085-330B55BDE317}" destId="{56A13A4E-84D7-4D91-BEDB-90F24C5C496A}" srcOrd="0" destOrd="0" presId="urn:microsoft.com/office/officeart/2008/layout/AlternatingHexagons"/>
    <dgm:cxn modelId="{14DBFBFF-624D-4700-AD81-7FBDA7141C78}" type="presOf" srcId="{AC29BA73-9A8E-4DD8-9338-B4E11418CE49}" destId="{DC18BF4A-2A0F-46C3-B95A-6DD9B50BD378}" srcOrd="0" destOrd="0" presId="urn:microsoft.com/office/officeart/2008/layout/AlternatingHexagons"/>
    <dgm:cxn modelId="{0E6669B4-3C05-48BC-A166-2D79458D7DA4}" type="presParOf" srcId="{70E376D1-A4CD-42B5-93F4-3F937F8760F9}" destId="{DAB1C598-7380-4205-A199-304DB9D9AA18}" srcOrd="0" destOrd="0" presId="urn:microsoft.com/office/officeart/2008/layout/AlternatingHexagons"/>
    <dgm:cxn modelId="{9A12199C-B1C9-4AC1-8883-0EF640B172BF}" type="presParOf" srcId="{DAB1C598-7380-4205-A199-304DB9D9AA18}" destId="{56A13A4E-84D7-4D91-BEDB-90F24C5C496A}" srcOrd="0" destOrd="0" presId="urn:microsoft.com/office/officeart/2008/layout/AlternatingHexagons"/>
    <dgm:cxn modelId="{22B74AE0-75F9-4FD2-8BF3-B9A7DA0E0F6F}" type="presParOf" srcId="{DAB1C598-7380-4205-A199-304DB9D9AA18}" destId="{9B056C53-7419-4F9C-91E4-BA19F0141D87}" srcOrd="1" destOrd="0" presId="urn:microsoft.com/office/officeart/2008/layout/AlternatingHexagons"/>
    <dgm:cxn modelId="{FD829948-16CB-49E9-9A04-F11162A84B62}" type="presParOf" srcId="{DAB1C598-7380-4205-A199-304DB9D9AA18}" destId="{6F53C1AC-6895-430E-BA0D-360B017D4D9E}" srcOrd="2" destOrd="0" presId="urn:microsoft.com/office/officeart/2008/layout/AlternatingHexagons"/>
    <dgm:cxn modelId="{F61CFB38-A64A-4445-AA0A-0CC7AA08792D}" type="presParOf" srcId="{DAB1C598-7380-4205-A199-304DB9D9AA18}" destId="{EDA89EB7-457B-4BA5-82D3-E999EDF663ED}" srcOrd="3" destOrd="0" presId="urn:microsoft.com/office/officeart/2008/layout/AlternatingHexagons"/>
    <dgm:cxn modelId="{A0C28BE9-3495-4121-833D-21DC062C9D6C}" type="presParOf" srcId="{DAB1C598-7380-4205-A199-304DB9D9AA18}" destId="{6999D6AC-DDB9-4FD7-AFBB-DD7E27F8F5BE}" srcOrd="4" destOrd="0" presId="urn:microsoft.com/office/officeart/2008/layout/AlternatingHexagons"/>
    <dgm:cxn modelId="{79259858-C7AE-42B5-8EFB-CD3C1697AA9E}" type="presParOf" srcId="{70E376D1-A4CD-42B5-93F4-3F937F8760F9}" destId="{12C40042-6A22-4C0C-8624-51D90A259334}" srcOrd="1" destOrd="0" presId="urn:microsoft.com/office/officeart/2008/layout/AlternatingHexagons"/>
    <dgm:cxn modelId="{8E11024F-AD1D-41E1-A907-6A80C35C9BF0}" type="presParOf" srcId="{70E376D1-A4CD-42B5-93F4-3F937F8760F9}" destId="{E18AD5E0-511D-4DD1-9F6C-A3FEB4015259}" srcOrd="2" destOrd="0" presId="urn:microsoft.com/office/officeart/2008/layout/AlternatingHexagons"/>
    <dgm:cxn modelId="{0A7C8B23-2275-4A7B-8F9D-C13655D6F0CF}" type="presParOf" srcId="{E18AD5E0-511D-4DD1-9F6C-A3FEB4015259}" destId="{DC18BF4A-2A0F-46C3-B95A-6DD9B50BD378}" srcOrd="0" destOrd="0" presId="urn:microsoft.com/office/officeart/2008/layout/AlternatingHexagons"/>
    <dgm:cxn modelId="{3E688AF3-8FE0-4E88-B67B-C656EEADC0E7}" type="presParOf" srcId="{E18AD5E0-511D-4DD1-9F6C-A3FEB4015259}" destId="{1248949E-B79E-4EED-9628-C52D6386C977}" srcOrd="1" destOrd="0" presId="urn:microsoft.com/office/officeart/2008/layout/AlternatingHexagons"/>
    <dgm:cxn modelId="{22FE1075-5BFB-461D-8167-A87972DDC0C4}" type="presParOf" srcId="{E18AD5E0-511D-4DD1-9F6C-A3FEB4015259}" destId="{04B8B441-F20F-4D86-A38D-6BFFF682C23B}" srcOrd="2" destOrd="0" presId="urn:microsoft.com/office/officeart/2008/layout/AlternatingHexagons"/>
    <dgm:cxn modelId="{313F630A-6343-46BC-BE06-2F90BC97D0FB}" type="presParOf" srcId="{E18AD5E0-511D-4DD1-9F6C-A3FEB4015259}" destId="{DFF4F660-0F2C-47B9-9BDF-2EA18224B174}" srcOrd="3" destOrd="0" presId="urn:microsoft.com/office/officeart/2008/layout/AlternatingHexagons"/>
    <dgm:cxn modelId="{455D0DEA-5E93-4BB9-B426-06DF78477668}" type="presParOf" srcId="{E18AD5E0-511D-4DD1-9F6C-A3FEB4015259}" destId="{50931873-200F-47FE-9D6F-FC2A93EFCE6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3676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1- Contexte &amp; Objectif</a:t>
          </a:r>
        </a:p>
      </dsp:txBody>
      <dsp:txXfrm>
        <a:off x="23388" y="27064"/>
        <a:ext cx="11301439" cy="432338"/>
      </dsp:txXfrm>
    </dsp:sp>
    <dsp:sp modelId="{90650EEF-1F9D-463E-A867-D4AB9F2E38B6}">
      <dsp:nvSpPr>
        <dsp:cNvPr id="0" name=""/>
        <dsp:cNvSpPr/>
      </dsp:nvSpPr>
      <dsp:spPr>
        <a:xfrm>
          <a:off x="0" y="543271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0" kern="1200" dirty="0"/>
            <a:t>2- Schéma de la base de données</a:t>
          </a:r>
        </a:p>
      </dsp:txBody>
      <dsp:txXfrm>
        <a:off x="23388" y="566659"/>
        <a:ext cx="11301439" cy="432338"/>
      </dsp:txXfrm>
    </dsp:sp>
    <dsp:sp modelId="{C0F2F60F-49A7-486C-BA84-7742A146D8C7}">
      <dsp:nvSpPr>
        <dsp:cNvPr id="0" name=""/>
        <dsp:cNvSpPr/>
      </dsp:nvSpPr>
      <dsp:spPr>
        <a:xfrm>
          <a:off x="0" y="1082866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3- Processus collecter, transformer, stocker et tester les données</a:t>
          </a:r>
        </a:p>
      </dsp:txBody>
      <dsp:txXfrm>
        <a:off x="23388" y="1106254"/>
        <a:ext cx="11301439" cy="432338"/>
      </dsp:txXfrm>
    </dsp:sp>
    <dsp:sp modelId="{188E501D-B60D-4714-8E70-1CD5D6D0CD0B}">
      <dsp:nvSpPr>
        <dsp:cNvPr id="0" name=""/>
        <dsp:cNvSpPr/>
      </dsp:nvSpPr>
      <dsp:spPr>
        <a:xfrm>
          <a:off x="0" y="1622461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4- Schéma d’architecture</a:t>
          </a:r>
        </a:p>
      </dsp:txBody>
      <dsp:txXfrm>
        <a:off x="23388" y="1645849"/>
        <a:ext cx="11301439" cy="432338"/>
      </dsp:txXfrm>
    </dsp:sp>
    <dsp:sp modelId="{DF10A574-F3D9-4FC2-A6EE-E7E8311CF638}">
      <dsp:nvSpPr>
        <dsp:cNvPr id="0" name=""/>
        <dsp:cNvSpPr/>
      </dsp:nvSpPr>
      <dsp:spPr>
        <a:xfrm>
          <a:off x="0" y="2162056"/>
          <a:ext cx="11348215" cy="47911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5- Mise en place </a:t>
          </a:r>
          <a:r>
            <a:rPr lang="fr-FR" sz="2100" kern="1200" dirty="0" err="1"/>
            <a:t>Airbyte</a:t>
          </a:r>
          <a:endParaRPr lang="fr-FR" sz="2100" kern="1200" dirty="0"/>
        </a:p>
      </dsp:txBody>
      <dsp:txXfrm>
        <a:off x="23388" y="2185444"/>
        <a:ext cx="11301439" cy="432338"/>
      </dsp:txXfrm>
    </dsp:sp>
    <dsp:sp modelId="{9F5EF941-1609-4E21-A343-705F89535533}">
      <dsp:nvSpPr>
        <dsp:cNvPr id="0" name=""/>
        <dsp:cNvSpPr/>
      </dsp:nvSpPr>
      <dsp:spPr>
        <a:xfrm>
          <a:off x="0" y="2701651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6- Mise en place DBT</a:t>
          </a:r>
        </a:p>
      </dsp:txBody>
      <dsp:txXfrm>
        <a:off x="23388" y="2725039"/>
        <a:ext cx="11301439" cy="432338"/>
      </dsp:txXfrm>
    </dsp:sp>
    <dsp:sp modelId="{F241338E-DAFB-437E-BAC6-556E992CF66B}">
      <dsp:nvSpPr>
        <dsp:cNvPr id="0" name=""/>
        <dsp:cNvSpPr/>
      </dsp:nvSpPr>
      <dsp:spPr>
        <a:xfrm>
          <a:off x="0" y="3241246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7- Temps accessibilité aux données</a:t>
          </a:r>
        </a:p>
      </dsp:txBody>
      <dsp:txXfrm>
        <a:off x="23388" y="3264634"/>
        <a:ext cx="11301439" cy="432338"/>
      </dsp:txXfrm>
    </dsp:sp>
    <dsp:sp modelId="{1FDD8F32-99D9-4BBE-AF0A-DA191E5D1B76}">
      <dsp:nvSpPr>
        <dsp:cNvPr id="0" name=""/>
        <dsp:cNvSpPr/>
      </dsp:nvSpPr>
      <dsp:spPr>
        <a:xfrm>
          <a:off x="0" y="3780841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8- Qualité des données</a:t>
          </a:r>
        </a:p>
      </dsp:txBody>
      <dsp:txXfrm>
        <a:off x="23388" y="3804229"/>
        <a:ext cx="11301439" cy="432338"/>
      </dsp:txXfrm>
    </dsp:sp>
    <dsp:sp modelId="{B65EB578-92C6-4AE5-8CB8-023DE47A0834}">
      <dsp:nvSpPr>
        <dsp:cNvPr id="0" name=""/>
        <dsp:cNvSpPr/>
      </dsp:nvSpPr>
      <dsp:spPr>
        <a:xfrm>
          <a:off x="0" y="4320436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9- Mise en place AWS</a:t>
          </a:r>
        </a:p>
      </dsp:txBody>
      <dsp:txXfrm>
        <a:off x="23388" y="4343824"/>
        <a:ext cx="11301439" cy="4323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A13A4E-84D7-4D91-BEDB-90F24C5C496A}">
      <dsp:nvSpPr>
        <dsp:cNvPr id="0" name=""/>
        <dsp:cNvSpPr/>
      </dsp:nvSpPr>
      <dsp:spPr>
        <a:xfrm rot="5400000">
          <a:off x="4020074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CONTEXTE</a:t>
          </a:r>
        </a:p>
      </dsp:txBody>
      <dsp:txXfrm rot="-5400000">
        <a:off x="4549034" y="1469064"/>
        <a:ext cx="1579300" cy="1815287"/>
      </dsp:txXfrm>
    </dsp:sp>
    <dsp:sp modelId="{9B056C53-7419-4F9C-91E4-BA19F0141D87}">
      <dsp:nvSpPr>
        <dsp:cNvPr id="0" name=""/>
        <dsp:cNvSpPr/>
      </dsp:nvSpPr>
      <dsp:spPr>
        <a:xfrm>
          <a:off x="6555499" y="1585541"/>
          <a:ext cx="294313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/>
            <a:t>L’entreprise </a:t>
          </a:r>
          <a:r>
            <a:rPr lang="fr-FR" sz="1600" b="1" kern="1200" dirty="0" err="1"/>
            <a:t>GreenCoop</a:t>
          </a:r>
          <a:r>
            <a:rPr lang="fr-FR" sz="1600" b="1" kern="1200" dirty="0"/>
            <a:t> est un fournisseur coopératif français d’électricité d’origine renouvelable dans les Hauts-de-France. </a:t>
          </a:r>
          <a:r>
            <a:rPr lang="fr-FR" sz="1600" b="1" i="0" kern="1200" dirty="0"/>
            <a:t>Les Data Scientists veulent enrichir leurs modèles de prévisions météo avec des données de stations officielles et semi-professionnelles.</a:t>
          </a:r>
          <a:endParaRPr lang="fr-FR" sz="1600" b="1" kern="1200" dirty="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Franklin Gothic Book" panose="020B0502020104020203"/>
            <a:ea typeface="+mn-ea"/>
            <a:cs typeface="+mn-cs"/>
          </a:endParaRPr>
        </a:p>
      </dsp:txBody>
      <dsp:txXfrm>
        <a:off x="6555499" y="1585541"/>
        <a:ext cx="2943139" cy="1582333"/>
      </dsp:txXfrm>
    </dsp:sp>
    <dsp:sp modelId="{6999D6AC-DDB9-4FD7-AFBB-DD7E27F8F5BE}">
      <dsp:nvSpPr>
        <dsp:cNvPr id="0" name=""/>
        <dsp:cNvSpPr/>
      </dsp:nvSpPr>
      <dsp:spPr>
        <a:xfrm rot="5400000">
          <a:off x="1542140" y="1229516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C0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2071100" y="1469064"/>
        <a:ext cx="1579300" cy="1815287"/>
      </dsp:txXfrm>
    </dsp:sp>
    <dsp:sp modelId="{DC18BF4A-2A0F-46C3-B95A-6DD9B50BD378}">
      <dsp:nvSpPr>
        <dsp:cNvPr id="0" name=""/>
        <dsp:cNvSpPr/>
      </dsp:nvSpPr>
      <dsp:spPr>
        <a:xfrm rot="5400000">
          <a:off x="2776360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00B05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b="1" kern="1200" dirty="0"/>
            <a:t>OBJECTIF</a:t>
          </a:r>
        </a:p>
      </dsp:txBody>
      <dsp:txXfrm rot="-5400000">
        <a:off x="3305320" y="3707537"/>
        <a:ext cx="1579300" cy="1815287"/>
      </dsp:txXfrm>
    </dsp:sp>
    <dsp:sp modelId="{1248949E-B79E-4EED-9628-C52D6386C977}">
      <dsp:nvSpPr>
        <dsp:cNvPr id="0" name=""/>
        <dsp:cNvSpPr/>
      </dsp:nvSpPr>
      <dsp:spPr>
        <a:xfrm>
          <a:off x="4640" y="3824014"/>
          <a:ext cx="2848199" cy="1582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i="0" kern="1200" dirty="0"/>
            <a:t>Ingérer des formats hétérogènes</a:t>
          </a:r>
          <a:br>
            <a:rPr lang="fr-FR" sz="1500" b="1" i="0" kern="1200" dirty="0"/>
          </a:br>
          <a:r>
            <a:rPr lang="fr-FR" sz="1500" b="1" i="0" kern="1200" dirty="0"/>
            <a:t>Conserver les données brutes</a:t>
          </a:r>
          <a:br>
            <a:rPr lang="fr-FR" sz="1500" b="1" i="0" kern="1200" dirty="0"/>
          </a:br>
          <a:r>
            <a:rPr lang="fr-FR" sz="1500" b="1" i="0" kern="1200" dirty="0"/>
            <a:t>Transformer dans PostgreSQL avec DBT</a:t>
          </a:r>
          <a:br>
            <a:rPr lang="fr-FR" sz="1500" b="1" i="0" kern="1200" dirty="0"/>
          </a:br>
          <a:r>
            <a:rPr lang="fr-FR" sz="1500" b="1" i="0" kern="1200" dirty="0"/>
            <a:t>Tester et documenter</a:t>
          </a:r>
          <a:br>
            <a:rPr lang="fr-FR" sz="1500" b="1" i="0" kern="1200" dirty="0"/>
          </a:br>
          <a:r>
            <a:rPr lang="fr-FR" sz="1500" b="1" i="0" kern="1200" dirty="0"/>
            <a:t>Rendre les données accessibles au ML</a:t>
          </a:r>
          <a:endParaRPr lang="fr-FR" sz="1500" b="1" kern="1200" dirty="0"/>
        </a:p>
      </dsp:txBody>
      <dsp:txXfrm>
        <a:off x="4640" y="3824014"/>
        <a:ext cx="2848199" cy="1582333"/>
      </dsp:txXfrm>
    </dsp:sp>
    <dsp:sp modelId="{50931873-200F-47FE-9D6F-FC2A93EFCE66}">
      <dsp:nvSpPr>
        <dsp:cNvPr id="0" name=""/>
        <dsp:cNvSpPr/>
      </dsp:nvSpPr>
      <dsp:spPr>
        <a:xfrm rot="5400000">
          <a:off x="5254293" y="3467989"/>
          <a:ext cx="2637221" cy="2294382"/>
        </a:xfrm>
        <a:prstGeom prst="hexagon">
          <a:avLst>
            <a:gd name="adj" fmla="val 25000"/>
            <a:gd name="vf" fmla="val 115470"/>
          </a:avLst>
        </a:prstGeom>
        <a:solidFill>
          <a:srgbClr val="FF9900"/>
        </a:soli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600" kern="1200"/>
        </a:p>
      </dsp:txBody>
      <dsp:txXfrm rot="-5400000">
        <a:off x="5783253" y="3707537"/>
        <a:ext cx="1579300" cy="1815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21/08/2026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ocs.airbyte.com/platform/using-airbyte/getting-started/oss-quickstar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CONSTRUIRE ET TESTER UNE INFRASTRUCTURE DE DONNEES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85000" lnSpcReduction="20000"/>
          </a:bodyPr>
          <a:lstStyle/>
          <a:p>
            <a:pPr rtl="0"/>
            <a:endParaRPr lang="fr" sz="900" dirty="0"/>
          </a:p>
          <a:p>
            <a:pPr rtl="0"/>
            <a:r>
              <a:rPr lang="fr" sz="1300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Airbyte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PostgreSQL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7457093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0522826"/>
              </p:ext>
            </p:extLst>
          </p:nvPr>
        </p:nvGraphicFramePr>
        <p:xfrm>
          <a:off x="1030794" y="833616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et objectif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fr-FR" dirty="0"/>
              <a:t>2. Schéma DE LA base de données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fld id="{22897033-9A55-4DAC-991D-1FF1921C78B7}" type="datetime1">
              <a:rPr lang="fr-FR" smtClean="0"/>
              <a:pPr/>
              <a:t>21/08/2026</a:t>
            </a:fld>
            <a:endParaRPr lang="en-US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CEF4C45-6790-7893-FAD2-D1507F362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949" y="1813712"/>
            <a:ext cx="6302101" cy="504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4ED0F-FEE1-6287-7A99-C636960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3. PROCESSUS collecter, transformer, stocker et tester les données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B69C16-A160-1EAA-9A69-2F3B43D1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DB34A6D1-A609-0C22-EB3F-D61F9EF883E2}"/>
              </a:ext>
            </a:extLst>
          </p:cNvPr>
          <p:cNvGrpSpPr/>
          <p:nvPr/>
        </p:nvGrpSpPr>
        <p:grpSpPr>
          <a:xfrm>
            <a:off x="716989" y="2154754"/>
            <a:ext cx="10330116" cy="4184937"/>
            <a:chOff x="716989" y="2154754"/>
            <a:chExt cx="10330116" cy="4184937"/>
          </a:xfrm>
        </p:grpSpPr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A6E636DF-6A4B-6970-47DD-DF403631F929}"/>
                </a:ext>
              </a:extLst>
            </p:cNvPr>
            <p:cNvGrpSpPr/>
            <p:nvPr/>
          </p:nvGrpSpPr>
          <p:grpSpPr>
            <a:xfrm>
              <a:off x="716989" y="2154754"/>
              <a:ext cx="10330116" cy="4184937"/>
              <a:chOff x="218230" y="2154754"/>
              <a:chExt cx="10330116" cy="4184937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A11B60FC-FD80-D85B-D625-6670147D1715}"/>
                  </a:ext>
                </a:extLst>
              </p:cNvPr>
              <p:cNvSpPr/>
              <p:nvPr/>
            </p:nvSpPr>
            <p:spPr>
              <a:xfrm>
                <a:off x="218230" y="2339787"/>
                <a:ext cx="1719730" cy="3370901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BCF1574-EB91-B853-4DC0-DB197D620272}"/>
                  </a:ext>
                </a:extLst>
              </p:cNvPr>
              <p:cNvSpPr/>
              <p:nvPr/>
            </p:nvSpPr>
            <p:spPr>
              <a:xfrm>
                <a:off x="5386713" y="2154754"/>
                <a:ext cx="3542135" cy="3819811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4" name="Text 38">
                <a:extLst>
                  <a:ext uri="{FF2B5EF4-FFF2-40B4-BE49-F238E27FC236}">
                    <a16:creationId xmlns:a16="http://schemas.microsoft.com/office/drawing/2014/main" id="{F56F12FC-33C9-5EC9-86D9-8EBD16A1C8F4}"/>
                  </a:ext>
                </a:extLst>
              </p:cNvPr>
              <p:cNvSpPr/>
              <p:nvPr/>
            </p:nvSpPr>
            <p:spPr>
              <a:xfrm>
                <a:off x="345439" y="5709571"/>
                <a:ext cx="1372687" cy="3651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i="1" dirty="0">
                    <a:solidFill>
                      <a:schemeClr val="accent5">
                        <a:lumMod val="50000"/>
                      </a:schemeClr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GitHub</a:t>
                </a:r>
                <a:endParaRPr lang="en-US" sz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3533824B-B001-59A5-6458-595BD4F937E1}"/>
                  </a:ext>
                </a:extLst>
              </p:cNvPr>
              <p:cNvGrpSpPr/>
              <p:nvPr/>
            </p:nvGrpSpPr>
            <p:grpSpPr>
              <a:xfrm>
                <a:off x="345439" y="2468880"/>
                <a:ext cx="10202907" cy="3870811"/>
                <a:chOff x="1512345" y="2666104"/>
                <a:chExt cx="8595361" cy="3657596"/>
              </a:xfrm>
            </p:grpSpPr>
            <p:sp>
              <p:nvSpPr>
                <p:cNvPr id="7" name="Shape 3">
                  <a:extLst>
                    <a:ext uri="{FF2B5EF4-FFF2-40B4-BE49-F238E27FC236}">
                      <a16:creationId xmlns:a16="http://schemas.microsoft.com/office/drawing/2014/main" id="{D496A681-B39F-7591-F54F-F4D481474C56}"/>
                    </a:ext>
                  </a:extLst>
                </p:cNvPr>
                <p:cNvSpPr/>
                <p:nvPr/>
              </p:nvSpPr>
              <p:spPr>
                <a:xfrm>
                  <a:off x="151234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" name="Shape 4">
                  <a:extLst>
                    <a:ext uri="{FF2B5EF4-FFF2-40B4-BE49-F238E27FC236}">
                      <a16:creationId xmlns:a16="http://schemas.microsoft.com/office/drawing/2014/main" id="{C5C7E39A-7E5C-6DFD-1053-740C5498CC3B}"/>
                    </a:ext>
                  </a:extLst>
                </p:cNvPr>
                <p:cNvSpPr/>
                <p:nvPr/>
              </p:nvSpPr>
              <p:spPr>
                <a:xfrm>
                  <a:off x="1512345" y="2666104"/>
                  <a:ext cx="1280160" cy="640080"/>
                </a:xfrm>
                <a:prstGeom prst="rect">
                  <a:avLst/>
                </a:prstGeom>
                <a:solidFill>
                  <a:srgbClr val="2563EB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" name="Text 5">
                  <a:extLst>
                    <a:ext uri="{FF2B5EF4-FFF2-40B4-BE49-F238E27FC236}">
                      <a16:creationId xmlns:a16="http://schemas.microsoft.com/office/drawing/2014/main" id="{D3FC5034-5A09-BD5F-B0B9-7237B2729A63}"/>
                    </a:ext>
                  </a:extLst>
                </p:cNvPr>
                <p:cNvSpPr/>
                <p:nvPr/>
              </p:nvSpPr>
              <p:spPr>
                <a:xfrm>
                  <a:off x="1512345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1</a:t>
                  </a:r>
                  <a:endParaRPr lang="en-US" sz="2000" dirty="0"/>
                </a:p>
              </p:txBody>
            </p:sp>
            <p:sp>
              <p:nvSpPr>
                <p:cNvPr id="10" name="Text 6">
                  <a:extLst>
                    <a:ext uri="{FF2B5EF4-FFF2-40B4-BE49-F238E27FC236}">
                      <a16:creationId xmlns:a16="http://schemas.microsoft.com/office/drawing/2014/main" id="{DA92446F-E3BC-D51B-4B94-69DB1F200C7D}"/>
                    </a:ext>
                  </a:extLst>
                </p:cNvPr>
                <p:cNvSpPr/>
                <p:nvPr/>
              </p:nvSpPr>
              <p:spPr>
                <a:xfrm>
                  <a:off x="151234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Source Données</a:t>
                  </a:r>
                  <a:endParaRPr lang="en-US" sz="1200" dirty="0"/>
                </a:p>
              </p:txBody>
            </p:sp>
            <p:sp>
              <p:nvSpPr>
                <p:cNvPr id="11" name="Text 7">
                  <a:extLst>
                    <a:ext uri="{FF2B5EF4-FFF2-40B4-BE49-F238E27FC236}">
                      <a16:creationId xmlns:a16="http://schemas.microsoft.com/office/drawing/2014/main" id="{AA8B544B-1801-D67F-C04A-BB28FB2B4FEF}"/>
                    </a:ext>
                  </a:extLst>
                </p:cNvPr>
                <p:cNvSpPr/>
                <p:nvPr/>
              </p:nvSpPr>
              <p:spPr>
                <a:xfrm>
                  <a:off x="155806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InfoClimat.json</a:t>
                  </a:r>
                  <a:r>
                    <a:rPr lang="en-US" sz="14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, Weather Underground.xlsx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Calendar.csv</a:t>
                  </a:r>
                  <a:endParaRPr lang="en-US" sz="1400" dirty="0">
                    <a:ea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" name="Shape 8">
                  <a:extLst>
                    <a:ext uri="{FF2B5EF4-FFF2-40B4-BE49-F238E27FC236}">
                      <a16:creationId xmlns:a16="http://schemas.microsoft.com/office/drawing/2014/main" id="{881C72EE-9DDB-7F55-EC16-2C2BA838B14B}"/>
                    </a:ext>
                  </a:extLst>
                </p:cNvPr>
                <p:cNvSpPr/>
                <p:nvPr/>
              </p:nvSpPr>
              <p:spPr>
                <a:xfrm>
                  <a:off x="279250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" name="Shape 9">
                  <a:extLst>
                    <a:ext uri="{FF2B5EF4-FFF2-40B4-BE49-F238E27FC236}">
                      <a16:creationId xmlns:a16="http://schemas.microsoft.com/office/drawing/2014/main" id="{A612F5D8-4A0E-23DE-9152-F36FAA5B8C16}"/>
                    </a:ext>
                  </a:extLst>
                </p:cNvPr>
                <p:cNvSpPr/>
                <p:nvPr/>
              </p:nvSpPr>
              <p:spPr>
                <a:xfrm>
                  <a:off x="297538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4" name="Shape 10">
                  <a:extLst>
                    <a:ext uri="{FF2B5EF4-FFF2-40B4-BE49-F238E27FC236}">
                      <a16:creationId xmlns:a16="http://schemas.microsoft.com/office/drawing/2014/main" id="{6D0796B2-F490-25EF-3E5F-25EB223C3BC8}"/>
                    </a:ext>
                  </a:extLst>
                </p:cNvPr>
                <p:cNvSpPr/>
                <p:nvPr/>
              </p:nvSpPr>
              <p:spPr>
                <a:xfrm>
                  <a:off x="2975386" y="2666104"/>
                  <a:ext cx="1280160" cy="640080"/>
                </a:xfrm>
                <a:prstGeom prst="rect">
                  <a:avLst/>
                </a:prstGeom>
                <a:solidFill>
                  <a:srgbClr val="FFC000"/>
                </a:solidFill>
                <a:ln/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15" name="Text 11">
                  <a:extLst>
                    <a:ext uri="{FF2B5EF4-FFF2-40B4-BE49-F238E27FC236}">
                      <a16:creationId xmlns:a16="http://schemas.microsoft.com/office/drawing/2014/main" id="{A87B13CC-335B-078F-4257-D374DF19F4EF}"/>
                    </a:ext>
                  </a:extLst>
                </p:cNvPr>
                <p:cNvSpPr/>
                <p:nvPr/>
              </p:nvSpPr>
              <p:spPr>
                <a:xfrm>
                  <a:off x="297538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2</a:t>
                  </a:r>
                  <a:endParaRPr lang="en-US" sz="2000" dirty="0"/>
                </a:p>
              </p:txBody>
            </p:sp>
            <p:sp>
              <p:nvSpPr>
                <p:cNvPr id="16" name="Text 12">
                  <a:extLst>
                    <a:ext uri="{FF2B5EF4-FFF2-40B4-BE49-F238E27FC236}">
                      <a16:creationId xmlns:a16="http://schemas.microsoft.com/office/drawing/2014/main" id="{7D736573-C80A-FB4C-0954-E1C57A56EC0D}"/>
                    </a:ext>
                  </a:extLst>
                </p:cNvPr>
                <p:cNvSpPr/>
                <p:nvPr/>
              </p:nvSpPr>
              <p:spPr>
                <a:xfrm>
                  <a:off x="297538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 err="1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Collecte</a:t>
                  </a:r>
                  <a:endParaRPr lang="en-US" sz="1200" dirty="0"/>
                </a:p>
              </p:txBody>
            </p:sp>
            <p:sp>
              <p:nvSpPr>
                <p:cNvPr id="17" name="Text 13">
                  <a:extLst>
                    <a:ext uri="{FF2B5EF4-FFF2-40B4-BE49-F238E27FC236}">
                      <a16:creationId xmlns:a16="http://schemas.microsoft.com/office/drawing/2014/main" id="{15800591-7DDC-9B1A-792E-127642FBA676}"/>
                    </a:ext>
                  </a:extLst>
                </p:cNvPr>
                <p:cNvSpPr/>
                <p:nvPr/>
              </p:nvSpPr>
              <p:spPr>
                <a:xfrm>
                  <a:off x="302110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algn="ctr"/>
                  <a:r>
                    <a:rPr lang="en-US" sz="14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Airbyte</a:t>
                  </a:r>
                  <a:endParaRPr lang="en-US" sz="1400" dirty="0">
                    <a:solidFill>
                      <a:srgbClr val="1E293B"/>
                    </a:solidFill>
                    <a:ea typeface="Consolas" pitchFamily="34" charset="-122"/>
                    <a:cs typeface="Consolas" pitchFamily="34" charset="-120"/>
                  </a:endParaRP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Sources </a:t>
                  </a:r>
                  <a:r>
                    <a:rPr lang="en-US" sz="1400" dirty="0" err="1">
                      <a:solidFill>
                        <a:srgbClr val="1E293B"/>
                      </a:solidFill>
                    </a:rPr>
                    <a:t>Connecteurs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Flux </a:t>
                  </a:r>
                  <a:r>
                    <a:rPr lang="en-US" sz="1400" dirty="0" err="1">
                      <a:solidFill>
                        <a:srgbClr val="1E293B"/>
                      </a:solidFill>
                    </a:rPr>
                    <a:t>vers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PostgreSQL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Full refresh - Overwrite</a:t>
                  </a:r>
                  <a:endParaRPr lang="en-US" sz="1400" dirty="0"/>
                </a:p>
              </p:txBody>
            </p:sp>
            <p:sp>
              <p:nvSpPr>
                <p:cNvPr id="18" name="Shape 14">
                  <a:extLst>
                    <a:ext uri="{FF2B5EF4-FFF2-40B4-BE49-F238E27FC236}">
                      <a16:creationId xmlns:a16="http://schemas.microsoft.com/office/drawing/2014/main" id="{65AC3DD2-C05C-08B8-C2BD-4B4E52EC0802}"/>
                    </a:ext>
                  </a:extLst>
                </p:cNvPr>
                <p:cNvSpPr/>
                <p:nvPr/>
              </p:nvSpPr>
              <p:spPr>
                <a:xfrm>
                  <a:off x="425554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Shape 15">
                  <a:extLst>
                    <a:ext uri="{FF2B5EF4-FFF2-40B4-BE49-F238E27FC236}">
                      <a16:creationId xmlns:a16="http://schemas.microsoft.com/office/drawing/2014/main" id="{D3A9531D-E4CE-6543-B261-9C79F5D57871}"/>
                    </a:ext>
                  </a:extLst>
                </p:cNvPr>
                <p:cNvSpPr/>
                <p:nvPr/>
              </p:nvSpPr>
              <p:spPr>
                <a:xfrm>
                  <a:off x="443842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20" name="Shape 16">
                  <a:extLst>
                    <a:ext uri="{FF2B5EF4-FFF2-40B4-BE49-F238E27FC236}">
                      <a16:creationId xmlns:a16="http://schemas.microsoft.com/office/drawing/2014/main" id="{9598B81C-A802-7114-4090-0E1AA07B575C}"/>
                    </a:ext>
                  </a:extLst>
                </p:cNvPr>
                <p:cNvSpPr/>
                <p:nvPr/>
              </p:nvSpPr>
              <p:spPr>
                <a:xfrm>
                  <a:off x="4438426" y="2666104"/>
                  <a:ext cx="1280160" cy="640080"/>
                </a:xfrm>
                <a:prstGeom prst="rect">
                  <a:avLst/>
                </a:prstGeom>
                <a:solidFill>
                  <a:srgbClr val="00B4D8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1" name="Text 17">
                  <a:extLst>
                    <a:ext uri="{FF2B5EF4-FFF2-40B4-BE49-F238E27FC236}">
                      <a16:creationId xmlns:a16="http://schemas.microsoft.com/office/drawing/2014/main" id="{91FC1ED8-0510-6F85-AB75-1D06C6D40AC9}"/>
                    </a:ext>
                  </a:extLst>
                </p:cNvPr>
                <p:cNvSpPr/>
                <p:nvPr/>
              </p:nvSpPr>
              <p:spPr>
                <a:xfrm>
                  <a:off x="443842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3</a:t>
                  </a:r>
                  <a:endParaRPr lang="en-US" sz="2000" dirty="0"/>
                </a:p>
              </p:txBody>
            </p:sp>
            <p:sp>
              <p:nvSpPr>
                <p:cNvPr id="22" name="Text 18">
                  <a:extLst>
                    <a:ext uri="{FF2B5EF4-FFF2-40B4-BE49-F238E27FC236}">
                      <a16:creationId xmlns:a16="http://schemas.microsoft.com/office/drawing/2014/main" id="{D0A30543-CD57-DB32-3FEF-BECB806A2BBA}"/>
                    </a:ext>
                  </a:extLst>
                </p:cNvPr>
                <p:cNvSpPr/>
                <p:nvPr/>
              </p:nvSpPr>
              <p:spPr>
                <a:xfrm>
                  <a:off x="443842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Stockage</a:t>
                  </a:r>
                  <a:endParaRPr lang="en-US" sz="1200" dirty="0"/>
                </a:p>
              </p:txBody>
            </p:sp>
            <p:sp>
              <p:nvSpPr>
                <p:cNvPr id="23" name="Text 19">
                  <a:extLst>
                    <a:ext uri="{FF2B5EF4-FFF2-40B4-BE49-F238E27FC236}">
                      <a16:creationId xmlns:a16="http://schemas.microsoft.com/office/drawing/2014/main" id="{09DB78B2-87DA-35C2-DA6C-59742666853C}"/>
                    </a:ext>
                  </a:extLst>
                </p:cNvPr>
                <p:cNvSpPr/>
                <p:nvPr/>
              </p:nvSpPr>
              <p:spPr>
                <a:xfrm>
                  <a:off x="448414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</a:rPr>
                    <a:t>Schéma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raw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PostgreSQL </a:t>
                  </a:r>
                  <a:endParaRPr lang="en-US" sz="1400" dirty="0"/>
                </a:p>
              </p:txBody>
            </p:sp>
            <p:sp>
              <p:nvSpPr>
                <p:cNvPr id="24" name="Shape 20">
                  <a:extLst>
                    <a:ext uri="{FF2B5EF4-FFF2-40B4-BE49-F238E27FC236}">
                      <a16:creationId xmlns:a16="http://schemas.microsoft.com/office/drawing/2014/main" id="{3AFC5285-7202-1B52-179C-D7D0C3340EF8}"/>
                    </a:ext>
                  </a:extLst>
                </p:cNvPr>
                <p:cNvSpPr/>
                <p:nvPr/>
              </p:nvSpPr>
              <p:spPr>
                <a:xfrm>
                  <a:off x="571858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5" name="Shape 21">
                  <a:extLst>
                    <a:ext uri="{FF2B5EF4-FFF2-40B4-BE49-F238E27FC236}">
                      <a16:creationId xmlns:a16="http://schemas.microsoft.com/office/drawing/2014/main" id="{9CC3BFC5-A4D2-E311-01DA-A1253B2D7608}"/>
                    </a:ext>
                  </a:extLst>
                </p:cNvPr>
                <p:cNvSpPr/>
                <p:nvPr/>
              </p:nvSpPr>
              <p:spPr>
                <a:xfrm>
                  <a:off x="590146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6" name="Shape 22">
                  <a:extLst>
                    <a:ext uri="{FF2B5EF4-FFF2-40B4-BE49-F238E27FC236}">
                      <a16:creationId xmlns:a16="http://schemas.microsoft.com/office/drawing/2014/main" id="{1BFB54FF-7330-18A2-0A5F-1B8753C1C935}"/>
                    </a:ext>
                  </a:extLst>
                </p:cNvPr>
                <p:cNvSpPr/>
                <p:nvPr/>
              </p:nvSpPr>
              <p:spPr>
                <a:xfrm>
                  <a:off x="5901466" y="2666104"/>
                  <a:ext cx="1280160" cy="640080"/>
                </a:xfrm>
                <a:prstGeom prst="rect">
                  <a:avLst/>
                </a:prstGeom>
                <a:solidFill>
                  <a:srgbClr val="16A34A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27" name="Text 23">
                  <a:extLst>
                    <a:ext uri="{FF2B5EF4-FFF2-40B4-BE49-F238E27FC236}">
                      <a16:creationId xmlns:a16="http://schemas.microsoft.com/office/drawing/2014/main" id="{A8D87525-D2A3-7F6E-11D5-A104A835F26F}"/>
                    </a:ext>
                  </a:extLst>
                </p:cNvPr>
                <p:cNvSpPr/>
                <p:nvPr/>
              </p:nvSpPr>
              <p:spPr>
                <a:xfrm>
                  <a:off x="590146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4</a:t>
                  </a:r>
                  <a:endParaRPr lang="en-US" sz="2000" dirty="0"/>
                </a:p>
              </p:txBody>
            </p:sp>
            <p:sp>
              <p:nvSpPr>
                <p:cNvPr id="28" name="Text 24">
                  <a:extLst>
                    <a:ext uri="{FF2B5EF4-FFF2-40B4-BE49-F238E27FC236}">
                      <a16:creationId xmlns:a16="http://schemas.microsoft.com/office/drawing/2014/main" id="{169A9ED4-E76F-A1E2-6F6C-B96B14259C8B}"/>
                    </a:ext>
                  </a:extLst>
                </p:cNvPr>
                <p:cNvSpPr/>
                <p:nvPr/>
              </p:nvSpPr>
              <p:spPr>
                <a:xfrm>
                  <a:off x="590146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Transformation</a:t>
                  </a:r>
                  <a:endParaRPr lang="en-US" sz="1200" dirty="0"/>
                </a:p>
              </p:txBody>
            </p:sp>
            <p:sp>
              <p:nvSpPr>
                <p:cNvPr id="29" name="Text 25">
                  <a:extLst>
                    <a:ext uri="{FF2B5EF4-FFF2-40B4-BE49-F238E27FC236}">
                      <a16:creationId xmlns:a16="http://schemas.microsoft.com/office/drawing/2014/main" id="{48243563-7F5F-CC00-D295-BD72D646D5EF}"/>
                    </a:ext>
                  </a:extLst>
                </p:cNvPr>
                <p:cNvSpPr/>
                <p:nvPr/>
              </p:nvSpPr>
              <p:spPr>
                <a:xfrm>
                  <a:off x="594718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2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seed 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2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run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>
                      <a:solidFill>
                        <a:srgbClr val="1E293B"/>
                      </a:solidFill>
                    </a:rPr>
                    <a:t>Schema.yml</a:t>
                  </a:r>
                  <a:endParaRPr lang="en-US" sz="1200" dirty="0">
                    <a:solidFill>
                      <a:srgbClr val="1E293B"/>
                    </a:solidFill>
                  </a:endParaRPr>
                </a:p>
                <a:p>
                  <a:pPr marL="0" indent="0" algn="ctr">
                    <a:buNone/>
                  </a:pPr>
                  <a:r>
                    <a:rPr lang="en-US" sz="1200" dirty="0">
                      <a:solidFill>
                        <a:srgbClr val="1E293B"/>
                      </a:solidFill>
                    </a:rPr>
                    <a:t>Models (staging, intermediate, marts)</a:t>
                  </a:r>
                </a:p>
                <a:p>
                  <a:pPr algn="ctr"/>
                  <a:r>
                    <a:rPr lang="en-US" sz="1200" dirty="0">
                      <a:solidFill>
                        <a:srgbClr val="1E293B"/>
                      </a:solidFill>
                    </a:rPr>
                    <a:t>Seed (</a:t>
                  </a:r>
                  <a:r>
                    <a:rPr lang="en-US" sz="1200" dirty="0">
                      <a:solidFill>
                        <a:srgbClr val="1E293B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Metadonnee_stations.csv, </a:t>
                  </a:r>
                </a:p>
                <a:p>
                  <a:pPr marL="0" indent="0" algn="ctr">
                    <a:buNone/>
                  </a:pPr>
                  <a:r>
                    <a:rPr lang="en-US" sz="1200" dirty="0"/>
                    <a:t>time.csv)</a:t>
                  </a:r>
                </a:p>
              </p:txBody>
            </p:sp>
            <p:sp>
              <p:nvSpPr>
                <p:cNvPr id="30" name="Shape 26">
                  <a:extLst>
                    <a:ext uri="{FF2B5EF4-FFF2-40B4-BE49-F238E27FC236}">
                      <a16:creationId xmlns:a16="http://schemas.microsoft.com/office/drawing/2014/main" id="{63179906-4D4F-C04F-8521-173161C90476}"/>
                    </a:ext>
                  </a:extLst>
                </p:cNvPr>
                <p:cNvSpPr/>
                <p:nvPr/>
              </p:nvSpPr>
              <p:spPr>
                <a:xfrm>
                  <a:off x="7181626" y="4129144"/>
                  <a:ext cx="182880" cy="0"/>
                </a:xfrm>
                <a:prstGeom prst="line">
                  <a:avLst/>
                </a:prstGeom>
                <a:noFill/>
                <a:ln w="19050">
                  <a:solidFill>
                    <a:srgbClr val="64748B"/>
                  </a:solidFill>
                  <a:prstDash val="solid"/>
                </a:ln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1" name="Shape 27">
                  <a:extLst>
                    <a:ext uri="{FF2B5EF4-FFF2-40B4-BE49-F238E27FC236}">
                      <a16:creationId xmlns:a16="http://schemas.microsoft.com/office/drawing/2014/main" id="{5A852564-766B-1B91-E7CC-97914C594F3E}"/>
                    </a:ext>
                  </a:extLst>
                </p:cNvPr>
                <p:cNvSpPr/>
                <p:nvPr/>
              </p:nvSpPr>
              <p:spPr>
                <a:xfrm>
                  <a:off x="736450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2" name="Shape 28">
                  <a:extLst>
                    <a:ext uri="{FF2B5EF4-FFF2-40B4-BE49-F238E27FC236}">
                      <a16:creationId xmlns:a16="http://schemas.microsoft.com/office/drawing/2014/main" id="{B69EE9B9-4ADF-3842-0C83-ECA7BB04D6C3}"/>
                    </a:ext>
                  </a:extLst>
                </p:cNvPr>
                <p:cNvSpPr/>
                <p:nvPr/>
              </p:nvSpPr>
              <p:spPr>
                <a:xfrm>
                  <a:off x="7364506" y="2666104"/>
                  <a:ext cx="1280160" cy="640080"/>
                </a:xfrm>
                <a:prstGeom prst="rect">
                  <a:avLst/>
                </a:prstGeom>
                <a:solidFill>
                  <a:srgbClr val="7C3AED"/>
                </a:solidFill>
                <a:ln/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Text 29">
                  <a:extLst>
                    <a:ext uri="{FF2B5EF4-FFF2-40B4-BE49-F238E27FC236}">
                      <a16:creationId xmlns:a16="http://schemas.microsoft.com/office/drawing/2014/main" id="{43F1433F-DB01-264D-F203-9931C1CD6C9D}"/>
                    </a:ext>
                  </a:extLst>
                </p:cNvPr>
                <p:cNvSpPr/>
                <p:nvPr/>
              </p:nvSpPr>
              <p:spPr>
                <a:xfrm>
                  <a:off x="736450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5</a:t>
                  </a:r>
                  <a:endParaRPr lang="en-US" sz="2000" dirty="0"/>
                </a:p>
              </p:txBody>
            </p:sp>
            <p:sp>
              <p:nvSpPr>
                <p:cNvPr id="34" name="Text 30">
                  <a:extLst>
                    <a:ext uri="{FF2B5EF4-FFF2-40B4-BE49-F238E27FC236}">
                      <a16:creationId xmlns:a16="http://schemas.microsoft.com/office/drawing/2014/main" id="{A8281D4E-BC15-4BEF-4A39-7F2E43B920C8}"/>
                    </a:ext>
                  </a:extLst>
                </p:cNvPr>
                <p:cNvSpPr/>
                <p:nvPr/>
              </p:nvSpPr>
              <p:spPr>
                <a:xfrm>
                  <a:off x="736450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Tests</a:t>
                  </a:r>
                  <a:endParaRPr lang="en-US" sz="1200" dirty="0"/>
                </a:p>
              </p:txBody>
            </p:sp>
            <p:sp>
              <p:nvSpPr>
                <p:cNvPr id="35" name="Text 31">
                  <a:extLst>
                    <a:ext uri="{FF2B5EF4-FFF2-40B4-BE49-F238E27FC236}">
                      <a16:creationId xmlns:a16="http://schemas.microsoft.com/office/drawing/2014/main" id="{D7AB8FDA-E494-3ABE-86F7-D4F2C7FDC2D8}"/>
                    </a:ext>
                  </a:extLst>
                </p:cNvPr>
                <p:cNvSpPr/>
                <p:nvPr/>
              </p:nvSpPr>
              <p:spPr>
                <a:xfrm>
                  <a:off x="741022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</a:rPr>
                    <a:t>dbt</a:t>
                  </a:r>
                  <a:r>
                    <a:rPr lang="en-US" sz="1400" dirty="0">
                      <a:solidFill>
                        <a:srgbClr val="1E293B"/>
                      </a:solidFill>
                    </a:rPr>
                    <a:t> test</a:t>
                  </a:r>
                </a:p>
                <a:p>
                  <a:pPr marL="0" indent="0" algn="ctr">
                    <a:buNone/>
                  </a:pPr>
                  <a:r>
                    <a:rPr lang="en-US" sz="1200" dirty="0" err="1"/>
                    <a:t>Schema.yml</a:t>
                  </a:r>
                  <a:r>
                    <a:rPr lang="en-US" sz="1200" dirty="0"/>
                    <a:t> (</a:t>
                  </a:r>
                  <a:r>
                    <a:rPr lang="en-US" sz="1200" dirty="0" err="1"/>
                    <a:t>data_test</a:t>
                  </a:r>
                  <a:r>
                    <a:rPr lang="en-US" sz="1200" dirty="0"/>
                    <a:t> unique, </a:t>
                  </a:r>
                  <a:r>
                    <a:rPr lang="en-US" sz="1200" dirty="0" err="1"/>
                    <a:t>not_null</a:t>
                  </a:r>
                  <a:r>
                    <a:rPr lang="en-US" sz="1200" dirty="0"/>
                    <a:t>)</a:t>
                  </a:r>
                </a:p>
                <a:p>
                  <a:pPr marL="0" indent="0" algn="ctr">
                    <a:buNone/>
                  </a:pPr>
                  <a:r>
                    <a:rPr lang="en-US" sz="1200" dirty="0"/>
                    <a:t>Scripts test SQL</a:t>
                  </a:r>
                </a:p>
              </p:txBody>
            </p:sp>
            <p:sp>
              <p:nvSpPr>
                <p:cNvPr id="36" name="Shape 33">
                  <a:extLst>
                    <a:ext uri="{FF2B5EF4-FFF2-40B4-BE49-F238E27FC236}">
                      <a16:creationId xmlns:a16="http://schemas.microsoft.com/office/drawing/2014/main" id="{0F50A386-B6F8-F937-5A8B-912C02340B1B}"/>
                    </a:ext>
                  </a:extLst>
                </p:cNvPr>
                <p:cNvSpPr/>
                <p:nvPr/>
              </p:nvSpPr>
              <p:spPr>
                <a:xfrm>
                  <a:off x="8827546" y="2666104"/>
                  <a:ext cx="1280160" cy="292608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E2E8F0"/>
                  </a:solidFill>
                  <a:prstDash val="solid"/>
                </a:ln>
                <a:effectLst>
                  <a:outerShdw blurRad="101600" dist="38100" dir="8100000" algn="bl" rotWithShape="0">
                    <a:srgbClr val="000000">
                      <a:alpha val="12000"/>
                    </a:srgbClr>
                  </a:outerShdw>
                </a:effec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Shape 34">
                  <a:extLst>
                    <a:ext uri="{FF2B5EF4-FFF2-40B4-BE49-F238E27FC236}">
                      <a16:creationId xmlns:a16="http://schemas.microsoft.com/office/drawing/2014/main" id="{65FC14F8-09E2-A577-CA3F-8A92551CB821}"/>
                    </a:ext>
                  </a:extLst>
                </p:cNvPr>
                <p:cNvSpPr/>
                <p:nvPr/>
              </p:nvSpPr>
              <p:spPr>
                <a:xfrm>
                  <a:off x="8827546" y="2666104"/>
                  <a:ext cx="1280160" cy="640080"/>
                </a:xfrm>
                <a:prstGeom prst="rect">
                  <a:avLst/>
                </a:prstGeom>
                <a:solidFill>
                  <a:srgbClr val="EA580C"/>
                </a:solidFill>
                <a:ln/>
              </p:spPr>
              <p:txBody>
                <a:bodyPr/>
                <a:lstStyle/>
                <a:p>
                  <a:endParaRPr lang="fr-FR" sz="2400"/>
                </a:p>
              </p:txBody>
            </p:sp>
            <p:sp>
              <p:nvSpPr>
                <p:cNvPr id="38" name="Text 35">
                  <a:extLst>
                    <a:ext uri="{FF2B5EF4-FFF2-40B4-BE49-F238E27FC236}">
                      <a16:creationId xmlns:a16="http://schemas.microsoft.com/office/drawing/2014/main" id="{FDB3A2AB-CA3D-BB10-831F-C983F921219D}"/>
                    </a:ext>
                  </a:extLst>
                </p:cNvPr>
                <p:cNvSpPr/>
                <p:nvPr/>
              </p:nvSpPr>
              <p:spPr>
                <a:xfrm>
                  <a:off x="8827546" y="2684392"/>
                  <a:ext cx="128016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20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6</a:t>
                  </a:r>
                  <a:endParaRPr lang="en-US" sz="2000" dirty="0"/>
                </a:p>
              </p:txBody>
            </p:sp>
            <p:sp>
              <p:nvSpPr>
                <p:cNvPr id="39" name="Text 36">
                  <a:extLst>
                    <a:ext uri="{FF2B5EF4-FFF2-40B4-BE49-F238E27FC236}">
                      <a16:creationId xmlns:a16="http://schemas.microsoft.com/office/drawing/2014/main" id="{CDA76EFA-4598-7703-CAC0-13D5D0999367}"/>
                    </a:ext>
                  </a:extLst>
                </p:cNvPr>
                <p:cNvSpPr/>
                <p:nvPr/>
              </p:nvSpPr>
              <p:spPr>
                <a:xfrm>
                  <a:off x="8827546" y="3013576"/>
                  <a:ext cx="12801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>
                      <a:solidFill>
                        <a:srgbClr val="FFFFFF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Documentation</a:t>
                  </a:r>
                  <a:endParaRPr lang="en-US" sz="1200" dirty="0"/>
                </a:p>
              </p:txBody>
            </p:sp>
            <p:sp>
              <p:nvSpPr>
                <p:cNvPr id="40" name="Text 37">
                  <a:extLst>
                    <a:ext uri="{FF2B5EF4-FFF2-40B4-BE49-F238E27FC236}">
                      <a16:creationId xmlns:a16="http://schemas.microsoft.com/office/drawing/2014/main" id="{6360764F-7F11-F7D3-C593-06A5AD0D007D}"/>
                    </a:ext>
                  </a:extLst>
                </p:cNvPr>
                <p:cNvSpPr/>
                <p:nvPr/>
              </p:nvSpPr>
              <p:spPr>
                <a:xfrm>
                  <a:off x="8873266" y="3397624"/>
                  <a:ext cx="1188720" cy="21031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dirty="0" err="1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dbt</a:t>
                  </a:r>
                  <a:r>
                    <a:rPr lang="en-US" sz="1400" dirty="0">
                      <a:solidFill>
                        <a:srgbClr val="1E293B"/>
                      </a:solidFill>
                      <a:ea typeface="Consolas" pitchFamily="34" charset="-122"/>
                      <a:cs typeface="Consolas" pitchFamily="34" charset="-120"/>
                    </a:rPr>
                    <a:t> docs serve</a:t>
                  </a:r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1E293B"/>
                      </a:solidFill>
                    </a:rPr>
                    <a:t>Lineage Graph</a:t>
                  </a:r>
                  <a:endParaRPr lang="en-US" sz="1400" dirty="0"/>
                </a:p>
              </p:txBody>
            </p:sp>
            <p:sp>
              <p:nvSpPr>
                <p:cNvPr id="41" name="Text 38">
                  <a:extLst>
                    <a:ext uri="{FF2B5EF4-FFF2-40B4-BE49-F238E27FC236}">
                      <a16:creationId xmlns:a16="http://schemas.microsoft.com/office/drawing/2014/main" id="{797E561A-2620-B675-90DE-F83DB62411F3}"/>
                    </a:ext>
                  </a:extLst>
                </p:cNvPr>
                <p:cNvSpPr/>
                <p:nvPr/>
              </p:nvSpPr>
              <p:spPr>
                <a:xfrm>
                  <a:off x="5672865" y="5978687"/>
                  <a:ext cx="3070506" cy="345013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200" i="1" dirty="0">
                      <a:solidFill>
                        <a:srgbClr val="64748B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Image Docker</a:t>
                  </a:r>
                  <a:endParaRPr lang="en-US" sz="1200" dirty="0"/>
                </a:p>
              </p:txBody>
            </p:sp>
          </p:grpSp>
        </p:grpSp>
        <p:sp>
          <p:nvSpPr>
            <p:cNvPr id="50" name="Shape 26">
              <a:extLst>
                <a:ext uri="{FF2B5EF4-FFF2-40B4-BE49-F238E27FC236}">
                  <a16:creationId xmlns:a16="http://schemas.microsoft.com/office/drawing/2014/main" id="{59E4B186-6106-469A-D2B8-31C656FD0D84}"/>
                </a:ext>
              </a:extLst>
            </p:cNvPr>
            <p:cNvSpPr/>
            <p:nvPr/>
          </p:nvSpPr>
          <p:spPr>
            <a:xfrm>
              <a:off x="9316350" y="4048375"/>
              <a:ext cx="217083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15421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31F5BA-E577-F62C-A8BA-390559199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Schéma d’architecture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115EB6-7708-939B-C1B6-96C90CDC19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5"/>
            <a:ext cx="4299619" cy="362368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6" name="Rectangle : avec coins arrondis en diagonale 5">
            <a:extLst>
              <a:ext uri="{FF2B5EF4-FFF2-40B4-BE49-F238E27FC236}">
                <a16:creationId xmlns:a16="http://schemas.microsoft.com/office/drawing/2014/main" id="{2DAA7FAA-ADE0-3C40-D309-2B7629D32982}"/>
              </a:ext>
            </a:extLst>
          </p:cNvPr>
          <p:cNvSpPr/>
          <p:nvPr/>
        </p:nvSpPr>
        <p:spPr>
          <a:xfrm>
            <a:off x="2528180" y="1971700"/>
            <a:ext cx="6821777" cy="4751829"/>
          </a:xfrm>
          <a:prstGeom prst="round2DiagRect">
            <a:avLst/>
          </a:prstGeom>
          <a:solidFill>
            <a:srgbClr val="EDE9B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b="1" dirty="0"/>
              <a:t>								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882BC14F-9EB6-3025-5512-C65F6E53733E}"/>
              </a:ext>
            </a:extLst>
          </p:cNvPr>
          <p:cNvSpPr/>
          <p:nvPr/>
        </p:nvSpPr>
        <p:spPr>
          <a:xfrm>
            <a:off x="4716002" y="2381513"/>
            <a:ext cx="4222978" cy="1494240"/>
          </a:xfrm>
          <a:prstGeom prst="roundRect">
            <a:avLst/>
          </a:prstGeom>
          <a:solidFill>
            <a:srgbClr val="FCBFBC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Sécurité et surveillance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02D6208-B2BF-48A8-80F6-465D44378916}"/>
              </a:ext>
            </a:extLst>
          </p:cNvPr>
          <p:cNvSpPr/>
          <p:nvPr/>
        </p:nvSpPr>
        <p:spPr>
          <a:xfrm>
            <a:off x="2804270" y="4216423"/>
            <a:ext cx="6205262" cy="2183117"/>
          </a:xfrm>
          <a:custGeom>
            <a:avLst/>
            <a:gdLst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4 w 6187334"/>
              <a:gd name="connsiteY4" fmla="*/ 1819257 h 2183117"/>
              <a:gd name="connsiteX5" fmla="*/ 5823474 w 6187334"/>
              <a:gd name="connsiteY5" fmla="*/ 2183117 h 2183117"/>
              <a:gd name="connsiteX6" fmla="*/ 363860 w 6187334"/>
              <a:gd name="connsiteY6" fmla="*/ 2183117 h 2183117"/>
              <a:gd name="connsiteX7" fmla="*/ 0 w 6187334"/>
              <a:gd name="connsiteY7" fmla="*/ 1819257 h 2183117"/>
              <a:gd name="connsiteX8" fmla="*/ 0 w 6187334"/>
              <a:gd name="connsiteY8" fmla="*/ 363860 h 2183117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4 w 6187334"/>
              <a:gd name="connsiteY4" fmla="*/ 1819257 h 2184378"/>
              <a:gd name="connsiteX5" fmla="*/ 5823474 w 6187334"/>
              <a:gd name="connsiteY5" fmla="*/ 2183117 h 2184378"/>
              <a:gd name="connsiteX6" fmla="*/ 4098555 w 6187334"/>
              <a:gd name="connsiteY6" fmla="*/ 2184378 h 2184378"/>
              <a:gd name="connsiteX7" fmla="*/ 363860 w 6187334"/>
              <a:gd name="connsiteY7" fmla="*/ 2183117 h 2184378"/>
              <a:gd name="connsiteX8" fmla="*/ 0 w 6187334"/>
              <a:gd name="connsiteY8" fmla="*/ 1819257 h 2184378"/>
              <a:gd name="connsiteX9" fmla="*/ 0 w 6187334"/>
              <a:gd name="connsiteY9" fmla="*/ 363860 h 2184378"/>
              <a:gd name="connsiteX0" fmla="*/ 0 w 6205263"/>
              <a:gd name="connsiteY0" fmla="*/ 363860 h 2184378"/>
              <a:gd name="connsiteX1" fmla="*/ 363860 w 6205263"/>
              <a:gd name="connsiteY1" fmla="*/ 0 h 2184378"/>
              <a:gd name="connsiteX2" fmla="*/ 5823474 w 6205263"/>
              <a:gd name="connsiteY2" fmla="*/ 0 h 2184378"/>
              <a:gd name="connsiteX3" fmla="*/ 6187334 w 6205263"/>
              <a:gd name="connsiteY3" fmla="*/ 363860 h 2184378"/>
              <a:gd name="connsiteX4" fmla="*/ 6205263 w 6205263"/>
              <a:gd name="connsiteY4" fmla="*/ 1012434 h 2184378"/>
              <a:gd name="connsiteX5" fmla="*/ 5823474 w 6205263"/>
              <a:gd name="connsiteY5" fmla="*/ 2183117 h 2184378"/>
              <a:gd name="connsiteX6" fmla="*/ 4098555 w 6205263"/>
              <a:gd name="connsiteY6" fmla="*/ 2184378 h 2184378"/>
              <a:gd name="connsiteX7" fmla="*/ 363860 w 6205263"/>
              <a:gd name="connsiteY7" fmla="*/ 2183117 h 2184378"/>
              <a:gd name="connsiteX8" fmla="*/ 0 w 6205263"/>
              <a:gd name="connsiteY8" fmla="*/ 1819257 h 2184378"/>
              <a:gd name="connsiteX9" fmla="*/ 0 w 6205263"/>
              <a:gd name="connsiteY9" fmla="*/ 363860 h 2184378"/>
              <a:gd name="connsiteX0" fmla="*/ 0 w 6205263"/>
              <a:gd name="connsiteY0" fmla="*/ 363860 h 2184378"/>
              <a:gd name="connsiteX1" fmla="*/ 363860 w 6205263"/>
              <a:gd name="connsiteY1" fmla="*/ 0 h 2184378"/>
              <a:gd name="connsiteX2" fmla="*/ 5823474 w 6205263"/>
              <a:gd name="connsiteY2" fmla="*/ 0 h 2184378"/>
              <a:gd name="connsiteX3" fmla="*/ 6187334 w 6205263"/>
              <a:gd name="connsiteY3" fmla="*/ 363860 h 2184378"/>
              <a:gd name="connsiteX4" fmla="*/ 6205263 w 6205263"/>
              <a:gd name="connsiteY4" fmla="*/ 1012434 h 2184378"/>
              <a:gd name="connsiteX5" fmla="*/ 3905027 w 6205263"/>
              <a:gd name="connsiteY5" fmla="*/ 1053564 h 2184378"/>
              <a:gd name="connsiteX6" fmla="*/ 4098555 w 6205263"/>
              <a:gd name="connsiteY6" fmla="*/ 2184378 h 2184378"/>
              <a:gd name="connsiteX7" fmla="*/ 363860 w 6205263"/>
              <a:gd name="connsiteY7" fmla="*/ 2183117 h 2184378"/>
              <a:gd name="connsiteX8" fmla="*/ 0 w 6205263"/>
              <a:gd name="connsiteY8" fmla="*/ 1819257 h 2184378"/>
              <a:gd name="connsiteX9" fmla="*/ 0 w 6205263"/>
              <a:gd name="connsiteY9" fmla="*/ 363860 h 2184378"/>
              <a:gd name="connsiteX0" fmla="*/ 0 w 6214227"/>
              <a:gd name="connsiteY0" fmla="*/ 363860 h 2184378"/>
              <a:gd name="connsiteX1" fmla="*/ 363860 w 6214227"/>
              <a:gd name="connsiteY1" fmla="*/ 0 h 2184378"/>
              <a:gd name="connsiteX2" fmla="*/ 5823474 w 6214227"/>
              <a:gd name="connsiteY2" fmla="*/ 0 h 2184378"/>
              <a:gd name="connsiteX3" fmla="*/ 6187334 w 6214227"/>
              <a:gd name="connsiteY3" fmla="*/ 363860 h 2184378"/>
              <a:gd name="connsiteX4" fmla="*/ 6214227 w 6214227"/>
              <a:gd name="connsiteY4" fmla="*/ 770386 h 2184378"/>
              <a:gd name="connsiteX5" fmla="*/ 3905027 w 6214227"/>
              <a:gd name="connsiteY5" fmla="*/ 1053564 h 2184378"/>
              <a:gd name="connsiteX6" fmla="*/ 4098555 w 6214227"/>
              <a:gd name="connsiteY6" fmla="*/ 2184378 h 2184378"/>
              <a:gd name="connsiteX7" fmla="*/ 363860 w 6214227"/>
              <a:gd name="connsiteY7" fmla="*/ 2183117 h 2184378"/>
              <a:gd name="connsiteX8" fmla="*/ 0 w 6214227"/>
              <a:gd name="connsiteY8" fmla="*/ 1819257 h 2184378"/>
              <a:gd name="connsiteX9" fmla="*/ 0 w 6214227"/>
              <a:gd name="connsiteY9" fmla="*/ 363860 h 2184378"/>
              <a:gd name="connsiteX0" fmla="*/ 0 w 6220938"/>
              <a:gd name="connsiteY0" fmla="*/ 363860 h 2184378"/>
              <a:gd name="connsiteX1" fmla="*/ 363860 w 6220938"/>
              <a:gd name="connsiteY1" fmla="*/ 0 h 2184378"/>
              <a:gd name="connsiteX2" fmla="*/ 5823474 w 6220938"/>
              <a:gd name="connsiteY2" fmla="*/ 0 h 2184378"/>
              <a:gd name="connsiteX3" fmla="*/ 6187334 w 6220938"/>
              <a:gd name="connsiteY3" fmla="*/ 363860 h 2184378"/>
              <a:gd name="connsiteX4" fmla="*/ 6214227 w 6220938"/>
              <a:gd name="connsiteY4" fmla="*/ 770386 h 2184378"/>
              <a:gd name="connsiteX5" fmla="*/ 5963213 w 6220938"/>
              <a:gd name="connsiteY5" fmla="*/ 893459 h 2184378"/>
              <a:gd name="connsiteX6" fmla="*/ 3905027 w 6220938"/>
              <a:gd name="connsiteY6" fmla="*/ 1053564 h 2184378"/>
              <a:gd name="connsiteX7" fmla="*/ 4098555 w 6220938"/>
              <a:gd name="connsiteY7" fmla="*/ 2184378 h 2184378"/>
              <a:gd name="connsiteX8" fmla="*/ 363860 w 6220938"/>
              <a:gd name="connsiteY8" fmla="*/ 2183117 h 2184378"/>
              <a:gd name="connsiteX9" fmla="*/ 0 w 6220938"/>
              <a:gd name="connsiteY9" fmla="*/ 1819257 h 2184378"/>
              <a:gd name="connsiteX10" fmla="*/ 0 w 6220938"/>
              <a:gd name="connsiteY10" fmla="*/ 363860 h 2184378"/>
              <a:gd name="connsiteX0" fmla="*/ 0 w 6236984"/>
              <a:gd name="connsiteY0" fmla="*/ 363860 h 2184378"/>
              <a:gd name="connsiteX1" fmla="*/ 363860 w 6236984"/>
              <a:gd name="connsiteY1" fmla="*/ 0 h 2184378"/>
              <a:gd name="connsiteX2" fmla="*/ 5823474 w 6236984"/>
              <a:gd name="connsiteY2" fmla="*/ 0 h 2184378"/>
              <a:gd name="connsiteX3" fmla="*/ 6187334 w 6236984"/>
              <a:gd name="connsiteY3" fmla="*/ 363860 h 2184378"/>
              <a:gd name="connsiteX4" fmla="*/ 6214227 w 6236984"/>
              <a:gd name="connsiteY4" fmla="*/ 770386 h 2184378"/>
              <a:gd name="connsiteX5" fmla="*/ 5999071 w 6236984"/>
              <a:gd name="connsiteY5" fmla="*/ 1054823 h 2184378"/>
              <a:gd name="connsiteX6" fmla="*/ 3905027 w 6236984"/>
              <a:gd name="connsiteY6" fmla="*/ 1053564 h 2184378"/>
              <a:gd name="connsiteX7" fmla="*/ 4098555 w 6236984"/>
              <a:gd name="connsiteY7" fmla="*/ 2184378 h 2184378"/>
              <a:gd name="connsiteX8" fmla="*/ 363860 w 6236984"/>
              <a:gd name="connsiteY8" fmla="*/ 2183117 h 2184378"/>
              <a:gd name="connsiteX9" fmla="*/ 0 w 6236984"/>
              <a:gd name="connsiteY9" fmla="*/ 1819257 h 2184378"/>
              <a:gd name="connsiteX10" fmla="*/ 0 w 6236984"/>
              <a:gd name="connsiteY10" fmla="*/ 363860 h 2184378"/>
              <a:gd name="connsiteX0" fmla="*/ 0 w 6224054"/>
              <a:gd name="connsiteY0" fmla="*/ 363860 h 2184378"/>
              <a:gd name="connsiteX1" fmla="*/ 363860 w 6224054"/>
              <a:gd name="connsiteY1" fmla="*/ 0 h 2184378"/>
              <a:gd name="connsiteX2" fmla="*/ 5823474 w 6224054"/>
              <a:gd name="connsiteY2" fmla="*/ 0 h 2184378"/>
              <a:gd name="connsiteX3" fmla="*/ 6187334 w 6224054"/>
              <a:gd name="connsiteY3" fmla="*/ 363860 h 2184378"/>
              <a:gd name="connsiteX4" fmla="*/ 6187333 w 6224054"/>
              <a:gd name="connsiteY4" fmla="*/ 940715 h 2184378"/>
              <a:gd name="connsiteX5" fmla="*/ 5999071 w 6224054"/>
              <a:gd name="connsiteY5" fmla="*/ 1054823 h 2184378"/>
              <a:gd name="connsiteX6" fmla="*/ 3905027 w 6224054"/>
              <a:gd name="connsiteY6" fmla="*/ 1053564 h 2184378"/>
              <a:gd name="connsiteX7" fmla="*/ 4098555 w 6224054"/>
              <a:gd name="connsiteY7" fmla="*/ 2184378 h 2184378"/>
              <a:gd name="connsiteX8" fmla="*/ 363860 w 6224054"/>
              <a:gd name="connsiteY8" fmla="*/ 2183117 h 2184378"/>
              <a:gd name="connsiteX9" fmla="*/ 0 w 6224054"/>
              <a:gd name="connsiteY9" fmla="*/ 1819257 h 2184378"/>
              <a:gd name="connsiteX10" fmla="*/ 0 w 6224054"/>
              <a:gd name="connsiteY10" fmla="*/ 363860 h 2184378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3 w 6187334"/>
              <a:gd name="connsiteY4" fmla="*/ 940715 h 2184378"/>
              <a:gd name="connsiteX5" fmla="*/ 5685307 w 6187334"/>
              <a:gd name="connsiteY5" fmla="*/ 1072752 h 2184378"/>
              <a:gd name="connsiteX6" fmla="*/ 3905027 w 6187334"/>
              <a:gd name="connsiteY6" fmla="*/ 1053564 h 2184378"/>
              <a:gd name="connsiteX7" fmla="*/ 4098555 w 6187334"/>
              <a:gd name="connsiteY7" fmla="*/ 2184378 h 2184378"/>
              <a:gd name="connsiteX8" fmla="*/ 363860 w 6187334"/>
              <a:gd name="connsiteY8" fmla="*/ 2183117 h 2184378"/>
              <a:gd name="connsiteX9" fmla="*/ 0 w 6187334"/>
              <a:gd name="connsiteY9" fmla="*/ 1819257 h 2184378"/>
              <a:gd name="connsiteX10" fmla="*/ 0 w 6187334"/>
              <a:gd name="connsiteY10" fmla="*/ 363860 h 2184378"/>
              <a:gd name="connsiteX0" fmla="*/ 0 w 6187334"/>
              <a:gd name="connsiteY0" fmla="*/ 363860 h 2184378"/>
              <a:gd name="connsiteX1" fmla="*/ 363860 w 6187334"/>
              <a:gd name="connsiteY1" fmla="*/ 0 h 2184378"/>
              <a:gd name="connsiteX2" fmla="*/ 5823474 w 6187334"/>
              <a:gd name="connsiteY2" fmla="*/ 0 h 2184378"/>
              <a:gd name="connsiteX3" fmla="*/ 6187334 w 6187334"/>
              <a:gd name="connsiteY3" fmla="*/ 363860 h 2184378"/>
              <a:gd name="connsiteX4" fmla="*/ 6187333 w 6187334"/>
              <a:gd name="connsiteY4" fmla="*/ 940715 h 2184378"/>
              <a:gd name="connsiteX5" fmla="*/ 5685307 w 6187334"/>
              <a:gd name="connsiteY5" fmla="*/ 1072752 h 2184378"/>
              <a:gd name="connsiteX6" fmla="*/ 3931922 w 6187334"/>
              <a:gd name="connsiteY6" fmla="*/ 1125282 h 2184378"/>
              <a:gd name="connsiteX7" fmla="*/ 4098555 w 6187334"/>
              <a:gd name="connsiteY7" fmla="*/ 2184378 h 2184378"/>
              <a:gd name="connsiteX8" fmla="*/ 363860 w 6187334"/>
              <a:gd name="connsiteY8" fmla="*/ 2183117 h 2184378"/>
              <a:gd name="connsiteX9" fmla="*/ 0 w 6187334"/>
              <a:gd name="connsiteY9" fmla="*/ 1819257 h 2184378"/>
              <a:gd name="connsiteX10" fmla="*/ 0 w 6187334"/>
              <a:gd name="connsiteY10" fmla="*/ 363860 h 2184378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31922 w 6187334"/>
              <a:gd name="connsiteY6" fmla="*/ 1125282 h 2183117"/>
              <a:gd name="connsiteX7" fmla="*/ 3937190 w 6187334"/>
              <a:gd name="connsiteY7" fmla="*/ 2166448 h 2183117"/>
              <a:gd name="connsiteX8" fmla="*/ 363860 w 6187334"/>
              <a:gd name="connsiteY8" fmla="*/ 2183117 h 2183117"/>
              <a:gd name="connsiteX9" fmla="*/ 0 w 6187334"/>
              <a:gd name="connsiteY9" fmla="*/ 1819257 h 2183117"/>
              <a:gd name="connsiteX10" fmla="*/ 0 w 6187334"/>
              <a:gd name="connsiteY10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22957 w 6187334"/>
              <a:gd name="connsiteY6" fmla="*/ 1116318 h 2183117"/>
              <a:gd name="connsiteX7" fmla="*/ 3937190 w 6187334"/>
              <a:gd name="connsiteY7" fmla="*/ 2166448 h 2183117"/>
              <a:gd name="connsiteX8" fmla="*/ 363860 w 6187334"/>
              <a:gd name="connsiteY8" fmla="*/ 2183117 h 2183117"/>
              <a:gd name="connsiteX9" fmla="*/ 0 w 6187334"/>
              <a:gd name="connsiteY9" fmla="*/ 1819257 h 2183117"/>
              <a:gd name="connsiteX10" fmla="*/ 0 w 6187334"/>
              <a:gd name="connsiteY10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22957 w 6187334"/>
              <a:gd name="connsiteY6" fmla="*/ 1116318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3860 w 6187334"/>
              <a:gd name="connsiteY9" fmla="*/ 2183117 h 2183117"/>
              <a:gd name="connsiteX10" fmla="*/ 0 w 6187334"/>
              <a:gd name="connsiteY10" fmla="*/ 1819257 h 2183117"/>
              <a:gd name="connsiteX11" fmla="*/ 0 w 6187334"/>
              <a:gd name="connsiteY11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3860 w 6187334"/>
              <a:gd name="connsiteY9" fmla="*/ 2183117 h 2183117"/>
              <a:gd name="connsiteX10" fmla="*/ 0 w 6187334"/>
              <a:gd name="connsiteY10" fmla="*/ 1819257 h 2183117"/>
              <a:gd name="connsiteX11" fmla="*/ 0 w 6187334"/>
              <a:gd name="connsiteY11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2166448 h 2183117"/>
              <a:gd name="connsiteX9" fmla="*/ 3650318 w 6187334"/>
              <a:gd name="connsiteY9" fmla="*/ 2175413 h 2183117"/>
              <a:gd name="connsiteX10" fmla="*/ 363860 w 6187334"/>
              <a:gd name="connsiteY10" fmla="*/ 2183117 h 2183117"/>
              <a:gd name="connsiteX11" fmla="*/ 0 w 6187334"/>
              <a:gd name="connsiteY11" fmla="*/ 1819257 h 2183117"/>
              <a:gd name="connsiteX12" fmla="*/ 0 w 6187334"/>
              <a:gd name="connsiteY12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650318 w 6187334"/>
              <a:gd name="connsiteY9" fmla="*/ 2175413 h 2183117"/>
              <a:gd name="connsiteX10" fmla="*/ 363860 w 6187334"/>
              <a:gd name="connsiteY10" fmla="*/ 2183117 h 2183117"/>
              <a:gd name="connsiteX11" fmla="*/ 0 w 6187334"/>
              <a:gd name="connsiteY11" fmla="*/ 1819257 h 2183117"/>
              <a:gd name="connsiteX12" fmla="*/ 0 w 6187334"/>
              <a:gd name="connsiteY12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775824 w 6187334"/>
              <a:gd name="connsiteY9" fmla="*/ 2005084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685307 w 6187334"/>
              <a:gd name="connsiteY5" fmla="*/ 1072752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712201 w 6187334"/>
              <a:gd name="connsiteY5" fmla="*/ 1036893 h 2183117"/>
              <a:gd name="connsiteX6" fmla="*/ 3985710 w 6187334"/>
              <a:gd name="connsiteY6" fmla="*/ 1089423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87333 w 6187334"/>
              <a:gd name="connsiteY4" fmla="*/ 940715 h 2183117"/>
              <a:gd name="connsiteX5" fmla="*/ 5712201 w 6187334"/>
              <a:gd name="connsiteY5" fmla="*/ 1036893 h 2183117"/>
              <a:gd name="connsiteX6" fmla="*/ 3976745 w 6187334"/>
              <a:gd name="connsiteY6" fmla="*/ 1062529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940715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752456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5779"/>
              <a:gd name="connsiteY0" fmla="*/ 363860 h 2183117"/>
              <a:gd name="connsiteX1" fmla="*/ 363860 w 6205779"/>
              <a:gd name="connsiteY1" fmla="*/ 0 h 2183117"/>
              <a:gd name="connsiteX2" fmla="*/ 5823474 w 6205779"/>
              <a:gd name="connsiteY2" fmla="*/ 0 h 2183117"/>
              <a:gd name="connsiteX3" fmla="*/ 6187334 w 6205779"/>
              <a:gd name="connsiteY3" fmla="*/ 363860 h 2183117"/>
              <a:gd name="connsiteX4" fmla="*/ 6187333 w 6205779"/>
              <a:gd name="connsiteY4" fmla="*/ 680738 h 2183117"/>
              <a:gd name="connsiteX5" fmla="*/ 5963213 w 6205779"/>
              <a:gd name="connsiteY5" fmla="*/ 1036893 h 2183117"/>
              <a:gd name="connsiteX6" fmla="*/ 3976745 w 6205779"/>
              <a:gd name="connsiteY6" fmla="*/ 1062529 h 2183117"/>
              <a:gd name="connsiteX7" fmla="*/ 3919259 w 6205779"/>
              <a:gd name="connsiteY7" fmla="*/ 1350660 h 2183117"/>
              <a:gd name="connsiteX8" fmla="*/ 3937190 w 6205779"/>
              <a:gd name="connsiteY8" fmla="*/ 1798895 h 2183117"/>
              <a:gd name="connsiteX9" fmla="*/ 3919259 w 6205779"/>
              <a:gd name="connsiteY9" fmla="*/ 2175413 h 2183117"/>
              <a:gd name="connsiteX10" fmla="*/ 3650318 w 6205779"/>
              <a:gd name="connsiteY10" fmla="*/ 2175413 h 2183117"/>
              <a:gd name="connsiteX11" fmla="*/ 363860 w 6205779"/>
              <a:gd name="connsiteY11" fmla="*/ 2183117 h 2183117"/>
              <a:gd name="connsiteX12" fmla="*/ 0 w 6205779"/>
              <a:gd name="connsiteY12" fmla="*/ 1819257 h 2183117"/>
              <a:gd name="connsiteX13" fmla="*/ 0 w 6205779"/>
              <a:gd name="connsiteY13" fmla="*/ 363860 h 2183117"/>
              <a:gd name="connsiteX0" fmla="*/ 0 w 6201126"/>
              <a:gd name="connsiteY0" fmla="*/ 363860 h 2183117"/>
              <a:gd name="connsiteX1" fmla="*/ 363860 w 6201126"/>
              <a:gd name="connsiteY1" fmla="*/ 0 h 2183117"/>
              <a:gd name="connsiteX2" fmla="*/ 5823474 w 6201126"/>
              <a:gd name="connsiteY2" fmla="*/ 0 h 2183117"/>
              <a:gd name="connsiteX3" fmla="*/ 6187334 w 6201126"/>
              <a:gd name="connsiteY3" fmla="*/ 363860 h 2183117"/>
              <a:gd name="connsiteX4" fmla="*/ 6178368 w 6201126"/>
              <a:gd name="connsiteY4" fmla="*/ 528338 h 2183117"/>
              <a:gd name="connsiteX5" fmla="*/ 5963213 w 6201126"/>
              <a:gd name="connsiteY5" fmla="*/ 1036893 h 2183117"/>
              <a:gd name="connsiteX6" fmla="*/ 3976745 w 6201126"/>
              <a:gd name="connsiteY6" fmla="*/ 1062529 h 2183117"/>
              <a:gd name="connsiteX7" fmla="*/ 3919259 w 6201126"/>
              <a:gd name="connsiteY7" fmla="*/ 1350660 h 2183117"/>
              <a:gd name="connsiteX8" fmla="*/ 3937190 w 6201126"/>
              <a:gd name="connsiteY8" fmla="*/ 1798895 h 2183117"/>
              <a:gd name="connsiteX9" fmla="*/ 3919259 w 6201126"/>
              <a:gd name="connsiteY9" fmla="*/ 2175413 h 2183117"/>
              <a:gd name="connsiteX10" fmla="*/ 3650318 w 6201126"/>
              <a:gd name="connsiteY10" fmla="*/ 2175413 h 2183117"/>
              <a:gd name="connsiteX11" fmla="*/ 363860 w 6201126"/>
              <a:gd name="connsiteY11" fmla="*/ 2183117 h 2183117"/>
              <a:gd name="connsiteX12" fmla="*/ 0 w 6201126"/>
              <a:gd name="connsiteY12" fmla="*/ 1819257 h 2183117"/>
              <a:gd name="connsiteX13" fmla="*/ 0 w 6201126"/>
              <a:gd name="connsiteY13" fmla="*/ 363860 h 2183117"/>
              <a:gd name="connsiteX0" fmla="*/ 0 w 6187334"/>
              <a:gd name="connsiteY0" fmla="*/ 363860 h 2183117"/>
              <a:gd name="connsiteX1" fmla="*/ 363860 w 6187334"/>
              <a:gd name="connsiteY1" fmla="*/ 0 h 2183117"/>
              <a:gd name="connsiteX2" fmla="*/ 5823474 w 6187334"/>
              <a:gd name="connsiteY2" fmla="*/ 0 h 2183117"/>
              <a:gd name="connsiteX3" fmla="*/ 6187334 w 6187334"/>
              <a:gd name="connsiteY3" fmla="*/ 363860 h 2183117"/>
              <a:gd name="connsiteX4" fmla="*/ 6178368 w 6187334"/>
              <a:gd name="connsiteY4" fmla="*/ 528338 h 2183117"/>
              <a:gd name="connsiteX5" fmla="*/ 5882531 w 6187334"/>
              <a:gd name="connsiteY5" fmla="*/ 1063787 h 2183117"/>
              <a:gd name="connsiteX6" fmla="*/ 3976745 w 6187334"/>
              <a:gd name="connsiteY6" fmla="*/ 1062529 h 2183117"/>
              <a:gd name="connsiteX7" fmla="*/ 3919259 w 6187334"/>
              <a:gd name="connsiteY7" fmla="*/ 1350660 h 2183117"/>
              <a:gd name="connsiteX8" fmla="*/ 3937190 w 6187334"/>
              <a:gd name="connsiteY8" fmla="*/ 1798895 h 2183117"/>
              <a:gd name="connsiteX9" fmla="*/ 3919259 w 6187334"/>
              <a:gd name="connsiteY9" fmla="*/ 2175413 h 2183117"/>
              <a:gd name="connsiteX10" fmla="*/ 3650318 w 6187334"/>
              <a:gd name="connsiteY10" fmla="*/ 2175413 h 2183117"/>
              <a:gd name="connsiteX11" fmla="*/ 363860 w 6187334"/>
              <a:gd name="connsiteY11" fmla="*/ 2183117 h 2183117"/>
              <a:gd name="connsiteX12" fmla="*/ 0 w 6187334"/>
              <a:gd name="connsiteY12" fmla="*/ 1819257 h 2183117"/>
              <a:gd name="connsiteX13" fmla="*/ 0 w 6187334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919259 w 6205262"/>
              <a:gd name="connsiteY7" fmla="*/ 1350660 h 2183117"/>
              <a:gd name="connsiteX8" fmla="*/ 3937190 w 6205262"/>
              <a:gd name="connsiteY8" fmla="*/ 1798895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686177 w 6205262"/>
              <a:gd name="connsiteY7" fmla="*/ 1314801 h 2183117"/>
              <a:gd name="connsiteX8" fmla="*/ 3937190 w 6205262"/>
              <a:gd name="connsiteY8" fmla="*/ 1798895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686177 w 6205262"/>
              <a:gd name="connsiteY7" fmla="*/ 13148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3976745 w 6205262"/>
              <a:gd name="connsiteY6" fmla="*/ 1062529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129145 w 6205262"/>
              <a:gd name="connsiteY6" fmla="*/ 1107352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919259 w 6205262"/>
              <a:gd name="connsiteY9" fmla="*/ 2175413 h 2183117"/>
              <a:gd name="connsiteX10" fmla="*/ 3650318 w 6205262"/>
              <a:gd name="connsiteY10" fmla="*/ 2175413 h 2183117"/>
              <a:gd name="connsiteX11" fmla="*/ 363860 w 6205262"/>
              <a:gd name="connsiteY11" fmla="*/ 2183117 h 2183117"/>
              <a:gd name="connsiteX12" fmla="*/ 0 w 6205262"/>
              <a:gd name="connsiteY12" fmla="*/ 1819257 h 2183117"/>
              <a:gd name="connsiteX13" fmla="*/ 0 w 6205262"/>
              <a:gd name="connsiteY13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68249 w 6205262"/>
              <a:gd name="connsiteY8" fmla="*/ 1888542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650318 w 6205262"/>
              <a:gd name="connsiteY9" fmla="*/ 2175413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98016"/>
              <a:gd name="connsiteX1" fmla="*/ 363860 w 6205262"/>
              <a:gd name="connsiteY1" fmla="*/ 0 h 2198016"/>
              <a:gd name="connsiteX2" fmla="*/ 5823474 w 6205262"/>
              <a:gd name="connsiteY2" fmla="*/ 0 h 2198016"/>
              <a:gd name="connsiteX3" fmla="*/ 6187334 w 6205262"/>
              <a:gd name="connsiteY3" fmla="*/ 363860 h 2198016"/>
              <a:gd name="connsiteX4" fmla="*/ 6205262 w 6205262"/>
              <a:gd name="connsiteY4" fmla="*/ 698668 h 2198016"/>
              <a:gd name="connsiteX5" fmla="*/ 5882531 w 6205262"/>
              <a:gd name="connsiteY5" fmla="*/ 1063787 h 2198016"/>
              <a:gd name="connsiteX6" fmla="*/ 4649098 w 6205262"/>
              <a:gd name="connsiteY6" fmla="*/ 1089423 h 2198016"/>
              <a:gd name="connsiteX7" fmla="*/ 3713071 w 6205262"/>
              <a:gd name="connsiteY7" fmla="*/ 1162401 h 2198016"/>
              <a:gd name="connsiteX8" fmla="*/ 3695143 w 6205262"/>
              <a:gd name="connsiteY8" fmla="*/ 1565813 h 2198016"/>
              <a:gd name="connsiteX9" fmla="*/ 3650318 w 6205262"/>
              <a:gd name="connsiteY9" fmla="*/ 2175413 h 2198016"/>
              <a:gd name="connsiteX10" fmla="*/ 363860 w 6205262"/>
              <a:gd name="connsiteY10" fmla="*/ 2183117 h 2198016"/>
              <a:gd name="connsiteX11" fmla="*/ 0 w 6205262"/>
              <a:gd name="connsiteY11" fmla="*/ 1819257 h 2198016"/>
              <a:gd name="connsiteX12" fmla="*/ 0 w 6205262"/>
              <a:gd name="connsiteY12" fmla="*/ 363860 h 2198016"/>
              <a:gd name="connsiteX0" fmla="*/ 0 w 6205262"/>
              <a:gd name="connsiteY0" fmla="*/ 363860 h 2187112"/>
              <a:gd name="connsiteX1" fmla="*/ 363860 w 6205262"/>
              <a:gd name="connsiteY1" fmla="*/ 0 h 2187112"/>
              <a:gd name="connsiteX2" fmla="*/ 5823474 w 6205262"/>
              <a:gd name="connsiteY2" fmla="*/ 0 h 2187112"/>
              <a:gd name="connsiteX3" fmla="*/ 6187334 w 6205262"/>
              <a:gd name="connsiteY3" fmla="*/ 363860 h 2187112"/>
              <a:gd name="connsiteX4" fmla="*/ 6205262 w 6205262"/>
              <a:gd name="connsiteY4" fmla="*/ 698668 h 2187112"/>
              <a:gd name="connsiteX5" fmla="*/ 5882531 w 6205262"/>
              <a:gd name="connsiteY5" fmla="*/ 1063787 h 2187112"/>
              <a:gd name="connsiteX6" fmla="*/ 4649098 w 6205262"/>
              <a:gd name="connsiteY6" fmla="*/ 1089423 h 2187112"/>
              <a:gd name="connsiteX7" fmla="*/ 3713071 w 6205262"/>
              <a:gd name="connsiteY7" fmla="*/ 1162401 h 2187112"/>
              <a:gd name="connsiteX8" fmla="*/ 3695143 w 6205262"/>
              <a:gd name="connsiteY8" fmla="*/ 1565813 h 2187112"/>
              <a:gd name="connsiteX9" fmla="*/ 3677212 w 6205262"/>
              <a:gd name="connsiteY9" fmla="*/ 2157483 h 2187112"/>
              <a:gd name="connsiteX10" fmla="*/ 363860 w 6205262"/>
              <a:gd name="connsiteY10" fmla="*/ 2183117 h 2187112"/>
              <a:gd name="connsiteX11" fmla="*/ 0 w 6205262"/>
              <a:gd name="connsiteY11" fmla="*/ 1819257 h 2187112"/>
              <a:gd name="connsiteX12" fmla="*/ 0 w 6205262"/>
              <a:gd name="connsiteY12" fmla="*/ 363860 h 2187112"/>
              <a:gd name="connsiteX0" fmla="*/ 0 w 6205262"/>
              <a:gd name="connsiteY0" fmla="*/ 363860 h 2187112"/>
              <a:gd name="connsiteX1" fmla="*/ 363860 w 6205262"/>
              <a:gd name="connsiteY1" fmla="*/ 0 h 2187112"/>
              <a:gd name="connsiteX2" fmla="*/ 5823474 w 6205262"/>
              <a:gd name="connsiteY2" fmla="*/ 0 h 2187112"/>
              <a:gd name="connsiteX3" fmla="*/ 6187334 w 6205262"/>
              <a:gd name="connsiteY3" fmla="*/ 363860 h 2187112"/>
              <a:gd name="connsiteX4" fmla="*/ 6205262 w 6205262"/>
              <a:gd name="connsiteY4" fmla="*/ 698668 h 2187112"/>
              <a:gd name="connsiteX5" fmla="*/ 5882531 w 6205262"/>
              <a:gd name="connsiteY5" fmla="*/ 1063787 h 2187112"/>
              <a:gd name="connsiteX6" fmla="*/ 4649098 w 6205262"/>
              <a:gd name="connsiteY6" fmla="*/ 1089423 h 2187112"/>
              <a:gd name="connsiteX7" fmla="*/ 3713071 w 6205262"/>
              <a:gd name="connsiteY7" fmla="*/ 1162401 h 2187112"/>
              <a:gd name="connsiteX8" fmla="*/ 3695143 w 6205262"/>
              <a:gd name="connsiteY8" fmla="*/ 1565813 h 2187112"/>
              <a:gd name="connsiteX9" fmla="*/ 3677212 w 6205262"/>
              <a:gd name="connsiteY9" fmla="*/ 2157483 h 2187112"/>
              <a:gd name="connsiteX10" fmla="*/ 363860 w 6205262"/>
              <a:gd name="connsiteY10" fmla="*/ 2183117 h 2187112"/>
              <a:gd name="connsiteX11" fmla="*/ 0 w 6205262"/>
              <a:gd name="connsiteY11" fmla="*/ 1819257 h 2187112"/>
              <a:gd name="connsiteX12" fmla="*/ 0 w 6205262"/>
              <a:gd name="connsiteY12" fmla="*/ 363860 h 2187112"/>
              <a:gd name="connsiteX0" fmla="*/ 0 w 6205262"/>
              <a:gd name="connsiteY0" fmla="*/ 363860 h 2183550"/>
              <a:gd name="connsiteX1" fmla="*/ 363860 w 6205262"/>
              <a:gd name="connsiteY1" fmla="*/ 0 h 2183550"/>
              <a:gd name="connsiteX2" fmla="*/ 5823474 w 6205262"/>
              <a:gd name="connsiteY2" fmla="*/ 0 h 2183550"/>
              <a:gd name="connsiteX3" fmla="*/ 6187334 w 6205262"/>
              <a:gd name="connsiteY3" fmla="*/ 363860 h 2183550"/>
              <a:gd name="connsiteX4" fmla="*/ 6205262 w 6205262"/>
              <a:gd name="connsiteY4" fmla="*/ 698668 h 2183550"/>
              <a:gd name="connsiteX5" fmla="*/ 5882531 w 6205262"/>
              <a:gd name="connsiteY5" fmla="*/ 1063787 h 2183550"/>
              <a:gd name="connsiteX6" fmla="*/ 4649098 w 6205262"/>
              <a:gd name="connsiteY6" fmla="*/ 1089423 h 2183550"/>
              <a:gd name="connsiteX7" fmla="*/ 3713071 w 6205262"/>
              <a:gd name="connsiteY7" fmla="*/ 1162401 h 2183550"/>
              <a:gd name="connsiteX8" fmla="*/ 3695143 w 6205262"/>
              <a:gd name="connsiteY8" fmla="*/ 1565813 h 2183550"/>
              <a:gd name="connsiteX9" fmla="*/ 3677212 w 6205262"/>
              <a:gd name="connsiteY9" fmla="*/ 2148518 h 2183550"/>
              <a:gd name="connsiteX10" fmla="*/ 363860 w 6205262"/>
              <a:gd name="connsiteY10" fmla="*/ 2183117 h 2183550"/>
              <a:gd name="connsiteX11" fmla="*/ 0 w 6205262"/>
              <a:gd name="connsiteY11" fmla="*/ 1819257 h 2183550"/>
              <a:gd name="connsiteX12" fmla="*/ 0 w 6205262"/>
              <a:gd name="connsiteY12" fmla="*/ 363860 h 2183550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6185"/>
              <a:gd name="connsiteX1" fmla="*/ 363860 w 6205262"/>
              <a:gd name="connsiteY1" fmla="*/ 0 h 2186185"/>
              <a:gd name="connsiteX2" fmla="*/ 5823474 w 6205262"/>
              <a:gd name="connsiteY2" fmla="*/ 0 h 2186185"/>
              <a:gd name="connsiteX3" fmla="*/ 6187334 w 6205262"/>
              <a:gd name="connsiteY3" fmla="*/ 363860 h 2186185"/>
              <a:gd name="connsiteX4" fmla="*/ 6205262 w 6205262"/>
              <a:gd name="connsiteY4" fmla="*/ 698668 h 2186185"/>
              <a:gd name="connsiteX5" fmla="*/ 5882531 w 6205262"/>
              <a:gd name="connsiteY5" fmla="*/ 1063787 h 2186185"/>
              <a:gd name="connsiteX6" fmla="*/ 4649098 w 6205262"/>
              <a:gd name="connsiteY6" fmla="*/ 1089423 h 2186185"/>
              <a:gd name="connsiteX7" fmla="*/ 3713071 w 6205262"/>
              <a:gd name="connsiteY7" fmla="*/ 1162401 h 2186185"/>
              <a:gd name="connsiteX8" fmla="*/ 3695143 w 6205262"/>
              <a:gd name="connsiteY8" fmla="*/ 1565813 h 2186185"/>
              <a:gd name="connsiteX9" fmla="*/ 3677212 w 6205262"/>
              <a:gd name="connsiteY9" fmla="*/ 2148518 h 2186185"/>
              <a:gd name="connsiteX10" fmla="*/ 363860 w 6205262"/>
              <a:gd name="connsiteY10" fmla="*/ 2183117 h 2186185"/>
              <a:gd name="connsiteX11" fmla="*/ 0 w 6205262"/>
              <a:gd name="connsiteY11" fmla="*/ 1819257 h 2186185"/>
              <a:gd name="connsiteX12" fmla="*/ 0 w 6205262"/>
              <a:gd name="connsiteY12" fmla="*/ 363860 h 2186185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596529 w 6205262"/>
              <a:gd name="connsiteY9" fmla="*/ 2112660 h 2183117"/>
              <a:gd name="connsiteX10" fmla="*/ 363860 w 6205262"/>
              <a:gd name="connsiteY10" fmla="*/ 2183117 h 2183117"/>
              <a:gd name="connsiteX11" fmla="*/ 0 w 6205262"/>
              <a:gd name="connsiteY11" fmla="*/ 1819257 h 2183117"/>
              <a:gd name="connsiteX12" fmla="*/ 0 w 6205262"/>
              <a:gd name="connsiteY12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695143 w 6205262"/>
              <a:gd name="connsiteY8" fmla="*/ 1565813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204718"/>
              <a:gd name="connsiteX1" fmla="*/ 363860 w 6205262"/>
              <a:gd name="connsiteY1" fmla="*/ 0 h 2204718"/>
              <a:gd name="connsiteX2" fmla="*/ 5823474 w 6205262"/>
              <a:gd name="connsiteY2" fmla="*/ 0 h 2204718"/>
              <a:gd name="connsiteX3" fmla="*/ 6187334 w 6205262"/>
              <a:gd name="connsiteY3" fmla="*/ 363860 h 2204718"/>
              <a:gd name="connsiteX4" fmla="*/ 6205262 w 6205262"/>
              <a:gd name="connsiteY4" fmla="*/ 698668 h 2204718"/>
              <a:gd name="connsiteX5" fmla="*/ 5882531 w 6205262"/>
              <a:gd name="connsiteY5" fmla="*/ 1063787 h 2204718"/>
              <a:gd name="connsiteX6" fmla="*/ 4649098 w 6205262"/>
              <a:gd name="connsiteY6" fmla="*/ 1089423 h 2204718"/>
              <a:gd name="connsiteX7" fmla="*/ 3713071 w 6205262"/>
              <a:gd name="connsiteY7" fmla="*/ 1162401 h 2204718"/>
              <a:gd name="connsiteX8" fmla="*/ 3731002 w 6205262"/>
              <a:gd name="connsiteY8" fmla="*/ 2121624 h 2204718"/>
              <a:gd name="connsiteX9" fmla="*/ 363860 w 6205262"/>
              <a:gd name="connsiteY9" fmla="*/ 2183117 h 2204718"/>
              <a:gd name="connsiteX10" fmla="*/ 0 w 6205262"/>
              <a:gd name="connsiteY10" fmla="*/ 1819257 h 2204718"/>
              <a:gd name="connsiteX11" fmla="*/ 0 w 6205262"/>
              <a:gd name="connsiteY11" fmla="*/ 363860 h 2204718"/>
              <a:gd name="connsiteX0" fmla="*/ 0 w 6205262"/>
              <a:gd name="connsiteY0" fmla="*/ 363860 h 2264028"/>
              <a:gd name="connsiteX1" fmla="*/ 363860 w 6205262"/>
              <a:gd name="connsiteY1" fmla="*/ 0 h 2264028"/>
              <a:gd name="connsiteX2" fmla="*/ 5823474 w 6205262"/>
              <a:gd name="connsiteY2" fmla="*/ 0 h 2264028"/>
              <a:gd name="connsiteX3" fmla="*/ 6187334 w 6205262"/>
              <a:gd name="connsiteY3" fmla="*/ 363860 h 2264028"/>
              <a:gd name="connsiteX4" fmla="*/ 6205262 w 6205262"/>
              <a:gd name="connsiteY4" fmla="*/ 698668 h 2264028"/>
              <a:gd name="connsiteX5" fmla="*/ 5882531 w 6205262"/>
              <a:gd name="connsiteY5" fmla="*/ 1063787 h 2264028"/>
              <a:gd name="connsiteX6" fmla="*/ 4649098 w 6205262"/>
              <a:gd name="connsiteY6" fmla="*/ 1089423 h 2264028"/>
              <a:gd name="connsiteX7" fmla="*/ 3713071 w 6205262"/>
              <a:gd name="connsiteY7" fmla="*/ 1162401 h 2264028"/>
              <a:gd name="connsiteX8" fmla="*/ 3731002 w 6205262"/>
              <a:gd name="connsiteY8" fmla="*/ 2121624 h 2264028"/>
              <a:gd name="connsiteX9" fmla="*/ 363860 w 6205262"/>
              <a:gd name="connsiteY9" fmla="*/ 2183117 h 2264028"/>
              <a:gd name="connsiteX10" fmla="*/ 0 w 6205262"/>
              <a:gd name="connsiteY10" fmla="*/ 1819257 h 2264028"/>
              <a:gd name="connsiteX11" fmla="*/ 0 w 6205262"/>
              <a:gd name="connsiteY11" fmla="*/ 363860 h 2264028"/>
              <a:gd name="connsiteX0" fmla="*/ 0 w 6205262"/>
              <a:gd name="connsiteY0" fmla="*/ 363860 h 2185240"/>
              <a:gd name="connsiteX1" fmla="*/ 363860 w 6205262"/>
              <a:gd name="connsiteY1" fmla="*/ 0 h 2185240"/>
              <a:gd name="connsiteX2" fmla="*/ 5823474 w 6205262"/>
              <a:gd name="connsiteY2" fmla="*/ 0 h 2185240"/>
              <a:gd name="connsiteX3" fmla="*/ 6187334 w 6205262"/>
              <a:gd name="connsiteY3" fmla="*/ 363860 h 2185240"/>
              <a:gd name="connsiteX4" fmla="*/ 6205262 w 6205262"/>
              <a:gd name="connsiteY4" fmla="*/ 698668 h 2185240"/>
              <a:gd name="connsiteX5" fmla="*/ 5882531 w 6205262"/>
              <a:gd name="connsiteY5" fmla="*/ 1063787 h 2185240"/>
              <a:gd name="connsiteX6" fmla="*/ 4649098 w 6205262"/>
              <a:gd name="connsiteY6" fmla="*/ 1089423 h 2185240"/>
              <a:gd name="connsiteX7" fmla="*/ 3713071 w 6205262"/>
              <a:gd name="connsiteY7" fmla="*/ 1162401 h 2185240"/>
              <a:gd name="connsiteX8" fmla="*/ 3731002 w 6205262"/>
              <a:gd name="connsiteY8" fmla="*/ 2121624 h 2185240"/>
              <a:gd name="connsiteX9" fmla="*/ 363860 w 6205262"/>
              <a:gd name="connsiteY9" fmla="*/ 2183117 h 2185240"/>
              <a:gd name="connsiteX10" fmla="*/ 0 w 6205262"/>
              <a:gd name="connsiteY10" fmla="*/ 1819257 h 2185240"/>
              <a:gd name="connsiteX11" fmla="*/ 0 w 6205262"/>
              <a:gd name="connsiteY11" fmla="*/ 363860 h 2185240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31002 w 6205262"/>
              <a:gd name="connsiteY8" fmla="*/ 2121624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722038 w 6205262"/>
              <a:gd name="connsiteY8" fmla="*/ 2014048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7014"/>
              <a:gd name="connsiteX1" fmla="*/ 363860 w 6205262"/>
              <a:gd name="connsiteY1" fmla="*/ 0 h 2187014"/>
              <a:gd name="connsiteX2" fmla="*/ 5823474 w 6205262"/>
              <a:gd name="connsiteY2" fmla="*/ 0 h 2187014"/>
              <a:gd name="connsiteX3" fmla="*/ 6187334 w 6205262"/>
              <a:gd name="connsiteY3" fmla="*/ 363860 h 2187014"/>
              <a:gd name="connsiteX4" fmla="*/ 6205262 w 6205262"/>
              <a:gd name="connsiteY4" fmla="*/ 698668 h 2187014"/>
              <a:gd name="connsiteX5" fmla="*/ 5882531 w 6205262"/>
              <a:gd name="connsiteY5" fmla="*/ 1063787 h 2187014"/>
              <a:gd name="connsiteX6" fmla="*/ 4649098 w 6205262"/>
              <a:gd name="connsiteY6" fmla="*/ 1089423 h 2187014"/>
              <a:gd name="connsiteX7" fmla="*/ 3713071 w 6205262"/>
              <a:gd name="connsiteY7" fmla="*/ 1162401 h 2187014"/>
              <a:gd name="connsiteX8" fmla="*/ 3722038 w 6205262"/>
              <a:gd name="connsiteY8" fmla="*/ 2014048 h 2187014"/>
              <a:gd name="connsiteX9" fmla="*/ 363860 w 6205262"/>
              <a:gd name="connsiteY9" fmla="*/ 2183117 h 2187014"/>
              <a:gd name="connsiteX10" fmla="*/ 0 w 6205262"/>
              <a:gd name="connsiteY10" fmla="*/ 1819257 h 2187014"/>
              <a:gd name="connsiteX11" fmla="*/ 0 w 6205262"/>
              <a:gd name="connsiteY11" fmla="*/ 363860 h 2187014"/>
              <a:gd name="connsiteX0" fmla="*/ 0 w 6205262"/>
              <a:gd name="connsiteY0" fmla="*/ 363860 h 2227832"/>
              <a:gd name="connsiteX1" fmla="*/ 363860 w 6205262"/>
              <a:gd name="connsiteY1" fmla="*/ 0 h 2227832"/>
              <a:gd name="connsiteX2" fmla="*/ 5823474 w 6205262"/>
              <a:gd name="connsiteY2" fmla="*/ 0 h 2227832"/>
              <a:gd name="connsiteX3" fmla="*/ 6187334 w 6205262"/>
              <a:gd name="connsiteY3" fmla="*/ 363860 h 2227832"/>
              <a:gd name="connsiteX4" fmla="*/ 6205262 w 6205262"/>
              <a:gd name="connsiteY4" fmla="*/ 698668 h 2227832"/>
              <a:gd name="connsiteX5" fmla="*/ 5882531 w 6205262"/>
              <a:gd name="connsiteY5" fmla="*/ 1063787 h 2227832"/>
              <a:gd name="connsiteX6" fmla="*/ 4649098 w 6205262"/>
              <a:gd name="connsiteY6" fmla="*/ 1089423 h 2227832"/>
              <a:gd name="connsiteX7" fmla="*/ 3713071 w 6205262"/>
              <a:gd name="connsiteY7" fmla="*/ 1162401 h 2227832"/>
              <a:gd name="connsiteX8" fmla="*/ 3560674 w 6205262"/>
              <a:gd name="connsiteY8" fmla="*/ 2085766 h 2227832"/>
              <a:gd name="connsiteX9" fmla="*/ 363860 w 6205262"/>
              <a:gd name="connsiteY9" fmla="*/ 2183117 h 2227832"/>
              <a:gd name="connsiteX10" fmla="*/ 0 w 6205262"/>
              <a:gd name="connsiteY10" fmla="*/ 1819257 h 2227832"/>
              <a:gd name="connsiteX11" fmla="*/ 0 w 6205262"/>
              <a:gd name="connsiteY11" fmla="*/ 363860 h 2227832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13071 w 6205262"/>
              <a:gd name="connsiteY7" fmla="*/ 1162401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  <a:gd name="connsiteX0" fmla="*/ 0 w 6205262"/>
              <a:gd name="connsiteY0" fmla="*/ 363860 h 2183117"/>
              <a:gd name="connsiteX1" fmla="*/ 363860 w 6205262"/>
              <a:gd name="connsiteY1" fmla="*/ 0 h 2183117"/>
              <a:gd name="connsiteX2" fmla="*/ 5823474 w 6205262"/>
              <a:gd name="connsiteY2" fmla="*/ 0 h 2183117"/>
              <a:gd name="connsiteX3" fmla="*/ 6187334 w 6205262"/>
              <a:gd name="connsiteY3" fmla="*/ 363860 h 2183117"/>
              <a:gd name="connsiteX4" fmla="*/ 6205262 w 6205262"/>
              <a:gd name="connsiteY4" fmla="*/ 698668 h 2183117"/>
              <a:gd name="connsiteX5" fmla="*/ 5882531 w 6205262"/>
              <a:gd name="connsiteY5" fmla="*/ 1063787 h 2183117"/>
              <a:gd name="connsiteX6" fmla="*/ 4649098 w 6205262"/>
              <a:gd name="connsiteY6" fmla="*/ 1089423 h 2183117"/>
              <a:gd name="connsiteX7" fmla="*/ 3775824 w 6205262"/>
              <a:gd name="connsiteY7" fmla="*/ 1117577 h 2183117"/>
              <a:gd name="connsiteX8" fmla="*/ 3560674 w 6205262"/>
              <a:gd name="connsiteY8" fmla="*/ 2085766 h 2183117"/>
              <a:gd name="connsiteX9" fmla="*/ 363860 w 6205262"/>
              <a:gd name="connsiteY9" fmla="*/ 2183117 h 2183117"/>
              <a:gd name="connsiteX10" fmla="*/ 0 w 6205262"/>
              <a:gd name="connsiteY10" fmla="*/ 1819257 h 2183117"/>
              <a:gd name="connsiteX11" fmla="*/ 0 w 6205262"/>
              <a:gd name="connsiteY11" fmla="*/ 363860 h 2183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05262" h="2183117">
                <a:moveTo>
                  <a:pt x="0" y="363860"/>
                </a:moveTo>
                <a:cubicBezTo>
                  <a:pt x="0" y="162906"/>
                  <a:pt x="162906" y="0"/>
                  <a:pt x="363860" y="0"/>
                </a:cubicBezTo>
                <a:lnTo>
                  <a:pt x="5823474" y="0"/>
                </a:lnTo>
                <a:cubicBezTo>
                  <a:pt x="6024428" y="0"/>
                  <a:pt x="6187334" y="162906"/>
                  <a:pt x="6187334" y="363860"/>
                </a:cubicBezTo>
                <a:cubicBezTo>
                  <a:pt x="6187334" y="556145"/>
                  <a:pt x="6205262" y="506383"/>
                  <a:pt x="6205262" y="698668"/>
                </a:cubicBezTo>
                <a:cubicBezTo>
                  <a:pt x="6167909" y="786934"/>
                  <a:pt x="6267398" y="1016591"/>
                  <a:pt x="5882531" y="1063787"/>
                </a:cubicBezTo>
                <a:cubicBezTo>
                  <a:pt x="5497664" y="1110983"/>
                  <a:pt x="5059980" y="1087929"/>
                  <a:pt x="4649098" y="1089423"/>
                </a:cubicBezTo>
                <a:cubicBezTo>
                  <a:pt x="4056194" y="1077890"/>
                  <a:pt x="3893598" y="1021533"/>
                  <a:pt x="3775824" y="1117577"/>
                </a:cubicBezTo>
                <a:cubicBezTo>
                  <a:pt x="3781801" y="1437318"/>
                  <a:pt x="3698132" y="1326753"/>
                  <a:pt x="3560674" y="2085766"/>
                </a:cubicBezTo>
                <a:cubicBezTo>
                  <a:pt x="3011436" y="2228990"/>
                  <a:pt x="979717" y="2140876"/>
                  <a:pt x="363860" y="2183117"/>
                </a:cubicBezTo>
                <a:cubicBezTo>
                  <a:pt x="162906" y="2183117"/>
                  <a:pt x="0" y="2020211"/>
                  <a:pt x="0" y="1819257"/>
                </a:cubicBezTo>
                <a:lnTo>
                  <a:pt x="0" y="36386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solidFill>
              <a:srgbClr val="468B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200" dirty="0"/>
              <a:t>    Virtual </a:t>
            </a:r>
            <a:r>
              <a:rPr lang="fr-FR" sz="1200" dirty="0" err="1"/>
              <a:t>Private</a:t>
            </a:r>
            <a:r>
              <a:rPr lang="fr-FR" sz="1200" dirty="0"/>
              <a:t> Cloud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358705F2-3B22-539E-853D-ACCE082A5D7C}"/>
              </a:ext>
            </a:extLst>
          </p:cNvPr>
          <p:cNvSpPr/>
          <p:nvPr/>
        </p:nvSpPr>
        <p:spPr>
          <a:xfrm>
            <a:off x="6842948" y="4351296"/>
            <a:ext cx="1826728" cy="877188"/>
          </a:xfrm>
          <a:prstGeom prst="round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EC2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Airbyte</a:t>
            </a:r>
            <a:r>
              <a:rPr lang="fr-FR" dirty="0"/>
              <a:t>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4F896DDF-FB62-432D-0C98-67CFA9D0AFEA}"/>
              </a:ext>
            </a:extLst>
          </p:cNvPr>
          <p:cNvSpPr/>
          <p:nvPr/>
        </p:nvSpPr>
        <p:spPr>
          <a:xfrm>
            <a:off x="4764015" y="2810668"/>
            <a:ext cx="1535292" cy="687891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Cloud Watch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FC557AA-73E9-FC44-FD7A-A7E4ADA5B6AD}"/>
              </a:ext>
            </a:extLst>
          </p:cNvPr>
          <p:cNvSpPr/>
          <p:nvPr/>
        </p:nvSpPr>
        <p:spPr>
          <a:xfrm>
            <a:off x="6453351" y="2789475"/>
            <a:ext cx="1158911" cy="790238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AWS Backups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1BF793FC-BD0A-85D7-0576-B1EDF27E5B16}"/>
              </a:ext>
            </a:extLst>
          </p:cNvPr>
          <p:cNvSpPr/>
          <p:nvPr/>
        </p:nvSpPr>
        <p:spPr>
          <a:xfrm>
            <a:off x="7679049" y="2831159"/>
            <a:ext cx="1191442" cy="690880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IAM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EBB1859-3DA8-C04C-F09A-17B225ADB9CF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8274770" y="3522039"/>
            <a:ext cx="0" cy="548311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0922AFF4-E75B-5FC6-A069-AAFFF8CC844A}"/>
              </a:ext>
            </a:extLst>
          </p:cNvPr>
          <p:cNvCxnSpPr>
            <a:cxnSpLocks/>
            <a:stCxn id="15" idx="2"/>
            <a:endCxn id="11" idx="0"/>
          </p:cNvCxnSpPr>
          <p:nvPr/>
        </p:nvCxnSpPr>
        <p:spPr>
          <a:xfrm>
            <a:off x="7032807" y="3579713"/>
            <a:ext cx="723505" cy="771583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C3CFF158-DDCA-5326-DEF1-C001DEB53A3D}"/>
              </a:ext>
            </a:extLst>
          </p:cNvPr>
          <p:cNvCxnSpPr>
            <a:cxnSpLocks/>
            <a:stCxn id="15" idx="2"/>
            <a:endCxn id="76" idx="0"/>
          </p:cNvCxnSpPr>
          <p:nvPr/>
        </p:nvCxnSpPr>
        <p:spPr>
          <a:xfrm flipH="1">
            <a:off x="5333850" y="3579713"/>
            <a:ext cx="1698957" cy="771583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3979061-72F0-8FFE-EFB2-243AAF9F9E9C}"/>
              </a:ext>
            </a:extLst>
          </p:cNvPr>
          <p:cNvCxnSpPr>
            <a:cxnSpLocks/>
            <a:stCxn id="14" idx="2"/>
            <a:endCxn id="76" idx="0"/>
          </p:cNvCxnSpPr>
          <p:nvPr/>
        </p:nvCxnSpPr>
        <p:spPr>
          <a:xfrm flipH="1">
            <a:off x="5333850" y="3498559"/>
            <a:ext cx="197811" cy="852737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DA4C002F-DB07-DE7D-8250-A440E82F1627}"/>
              </a:ext>
            </a:extLst>
          </p:cNvPr>
          <p:cNvSpPr/>
          <p:nvPr/>
        </p:nvSpPr>
        <p:spPr>
          <a:xfrm>
            <a:off x="9446777" y="2818796"/>
            <a:ext cx="1416523" cy="1081341"/>
          </a:xfrm>
          <a:prstGeom prst="roundRect">
            <a:avLst/>
          </a:prstGeom>
          <a:solidFill>
            <a:srgbClr val="C043CD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GitHub</a:t>
            </a:r>
          </a:p>
          <a:p>
            <a:pPr algn="ctr"/>
            <a:r>
              <a:rPr lang="fr-FR" dirty="0"/>
              <a:t>(Données Brutes)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5689A193-A653-C0E3-2DE8-4D7CE4C81A01}"/>
              </a:ext>
            </a:extLst>
          </p:cNvPr>
          <p:cNvSpPr txBox="1"/>
          <p:nvPr/>
        </p:nvSpPr>
        <p:spPr>
          <a:xfrm>
            <a:off x="9559442" y="1746088"/>
            <a:ext cx="12070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Chargement .</a:t>
            </a:r>
            <a:r>
              <a:rPr lang="fr-FR" sz="1100" i="1" dirty="0" err="1"/>
              <a:t>json</a:t>
            </a:r>
            <a:r>
              <a:rPr lang="fr-FR" sz="1100" i="1" dirty="0"/>
              <a:t>, .xlsx .csv</a:t>
            </a:r>
          </a:p>
        </p:txBody>
      </p:sp>
      <p:cxnSp>
        <p:nvCxnSpPr>
          <p:cNvPr id="31" name="Connecteur : en arc 30">
            <a:extLst>
              <a:ext uri="{FF2B5EF4-FFF2-40B4-BE49-F238E27FC236}">
                <a16:creationId xmlns:a16="http://schemas.microsoft.com/office/drawing/2014/main" id="{66CDE15D-5224-4F7A-0AF8-EC626AAC8C24}"/>
              </a:ext>
            </a:extLst>
          </p:cNvPr>
          <p:cNvCxnSpPr>
            <a:cxnSpLocks/>
            <a:stCxn id="28" idx="2"/>
            <a:endCxn id="11" idx="3"/>
          </p:cNvCxnSpPr>
          <p:nvPr/>
        </p:nvCxnSpPr>
        <p:spPr>
          <a:xfrm rot="5400000">
            <a:off x="8967482" y="3602332"/>
            <a:ext cx="889753" cy="1485363"/>
          </a:xfrm>
          <a:prstGeom prst="bentConnector2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331C3B38-C085-03DF-E41C-AD36966DFED4}"/>
              </a:ext>
            </a:extLst>
          </p:cNvPr>
          <p:cNvSpPr txBox="1"/>
          <p:nvPr/>
        </p:nvSpPr>
        <p:spPr>
          <a:xfrm>
            <a:off x="10143470" y="6122540"/>
            <a:ext cx="1602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Déploiement image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D3177527-189C-50AF-7580-C7D0DE64FF18}"/>
              </a:ext>
            </a:extLst>
          </p:cNvPr>
          <p:cNvSpPr txBox="1"/>
          <p:nvPr/>
        </p:nvSpPr>
        <p:spPr>
          <a:xfrm>
            <a:off x="7135516" y="3567516"/>
            <a:ext cx="73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Backup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9059B31E-B037-E5BD-F115-73E9E480C7F2}"/>
              </a:ext>
            </a:extLst>
          </p:cNvPr>
          <p:cNvSpPr txBox="1"/>
          <p:nvPr/>
        </p:nvSpPr>
        <p:spPr>
          <a:xfrm>
            <a:off x="4739739" y="3456978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Monitor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6D00F317-7A94-58D9-1FB1-EDC4165ED61D}"/>
              </a:ext>
            </a:extLst>
          </p:cNvPr>
          <p:cNvSpPr txBox="1"/>
          <p:nvPr/>
        </p:nvSpPr>
        <p:spPr>
          <a:xfrm>
            <a:off x="7720791" y="2565114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Contrôle accès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EF4A1DB5-6A2A-FFB4-D3E2-02090B7C0367}"/>
              </a:ext>
            </a:extLst>
          </p:cNvPr>
          <p:cNvSpPr/>
          <p:nvPr/>
        </p:nvSpPr>
        <p:spPr>
          <a:xfrm>
            <a:off x="6827491" y="5433671"/>
            <a:ext cx="1790063" cy="998991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ECR</a:t>
            </a:r>
          </a:p>
          <a:p>
            <a:pPr algn="ctr"/>
            <a:r>
              <a:rPr lang="fr-FR" sz="1600" dirty="0"/>
              <a:t>(Image DBT)</a:t>
            </a:r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701AEC9E-27E0-FAD9-55AB-783DF77255B1}"/>
              </a:ext>
            </a:extLst>
          </p:cNvPr>
          <p:cNvSpPr/>
          <p:nvPr/>
        </p:nvSpPr>
        <p:spPr>
          <a:xfrm>
            <a:off x="4420486" y="4351296"/>
            <a:ext cx="1826728" cy="877188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Amazon RDS</a:t>
            </a:r>
          </a:p>
          <a:p>
            <a:pPr algn="ctr"/>
            <a:r>
              <a:rPr lang="fr-FR" dirty="0"/>
              <a:t>(</a:t>
            </a:r>
            <a:r>
              <a:rPr lang="fr-FR" dirty="0" err="1"/>
              <a:t>DataBase</a:t>
            </a:r>
            <a:r>
              <a:rPr lang="fr-FR" dirty="0"/>
              <a:t> PostgreSQL)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ECABB7B8-27D4-209B-4D49-63181B357F0B}"/>
              </a:ext>
            </a:extLst>
          </p:cNvPr>
          <p:cNvSpPr/>
          <p:nvPr/>
        </p:nvSpPr>
        <p:spPr>
          <a:xfrm>
            <a:off x="10244470" y="885120"/>
            <a:ext cx="1400680" cy="651942"/>
          </a:xfrm>
          <a:prstGeom prst="roundRect">
            <a:avLst/>
          </a:prstGeom>
          <a:solidFill>
            <a:srgbClr val="0070C0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Utilisateur</a:t>
            </a:r>
          </a:p>
        </p:txBody>
      </p:sp>
      <p:cxnSp>
        <p:nvCxnSpPr>
          <p:cNvPr id="95" name="Connecteur : en arc 94">
            <a:extLst>
              <a:ext uri="{FF2B5EF4-FFF2-40B4-BE49-F238E27FC236}">
                <a16:creationId xmlns:a16="http://schemas.microsoft.com/office/drawing/2014/main" id="{E9CBAAA8-1094-91A0-5E73-391C526D6216}"/>
              </a:ext>
            </a:extLst>
          </p:cNvPr>
          <p:cNvCxnSpPr>
            <a:cxnSpLocks/>
            <a:stCxn id="94" idx="2"/>
            <a:endCxn id="28" idx="0"/>
          </p:cNvCxnSpPr>
          <p:nvPr/>
        </p:nvCxnSpPr>
        <p:spPr>
          <a:xfrm rot="5400000">
            <a:off x="9909058" y="1783044"/>
            <a:ext cx="1281734" cy="789771"/>
          </a:xfrm>
          <a:prstGeom prst="curvedConnector3">
            <a:avLst>
              <a:gd name="adj1" fmla="val 50000"/>
            </a:avLst>
          </a:prstGeom>
          <a:ln w="190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 : coins arrondis 100">
            <a:extLst>
              <a:ext uri="{FF2B5EF4-FFF2-40B4-BE49-F238E27FC236}">
                <a16:creationId xmlns:a16="http://schemas.microsoft.com/office/drawing/2014/main" id="{E4F4D53E-6129-C1E6-E279-7FBE0CF1550A}"/>
              </a:ext>
            </a:extLst>
          </p:cNvPr>
          <p:cNvSpPr/>
          <p:nvPr/>
        </p:nvSpPr>
        <p:spPr>
          <a:xfrm>
            <a:off x="9446778" y="4919506"/>
            <a:ext cx="1416523" cy="1081341"/>
          </a:xfrm>
          <a:prstGeom prst="roundRect">
            <a:avLst/>
          </a:prstGeom>
          <a:solidFill>
            <a:srgbClr val="FFC000"/>
          </a:solidFill>
          <a:ln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Docker</a:t>
            </a:r>
          </a:p>
          <a:p>
            <a:pPr algn="ctr"/>
            <a:r>
              <a:rPr lang="fr-FR" dirty="0"/>
              <a:t>(image DBT)</a:t>
            </a:r>
          </a:p>
        </p:txBody>
      </p:sp>
      <p:sp>
        <p:nvSpPr>
          <p:cNvPr id="111" name="ZoneTexte 110">
            <a:extLst>
              <a:ext uri="{FF2B5EF4-FFF2-40B4-BE49-F238E27FC236}">
                <a16:creationId xmlns:a16="http://schemas.microsoft.com/office/drawing/2014/main" id="{3246AB14-889B-076C-7C38-DF5745F68B16}"/>
              </a:ext>
            </a:extLst>
          </p:cNvPr>
          <p:cNvSpPr txBox="1"/>
          <p:nvPr/>
        </p:nvSpPr>
        <p:spPr>
          <a:xfrm>
            <a:off x="10124502" y="4102438"/>
            <a:ext cx="12070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Collecte de données</a:t>
            </a:r>
          </a:p>
        </p:txBody>
      </p:sp>
      <p:cxnSp>
        <p:nvCxnSpPr>
          <p:cNvPr id="114" name="Connecteur : en arc 113">
            <a:extLst>
              <a:ext uri="{FF2B5EF4-FFF2-40B4-BE49-F238E27FC236}">
                <a16:creationId xmlns:a16="http://schemas.microsoft.com/office/drawing/2014/main" id="{6FD5A221-8D44-2653-181F-B8F073D279D1}"/>
              </a:ext>
            </a:extLst>
          </p:cNvPr>
          <p:cNvCxnSpPr>
            <a:cxnSpLocks/>
            <a:stCxn id="101" idx="2"/>
            <a:endCxn id="53" idx="2"/>
          </p:cNvCxnSpPr>
          <p:nvPr/>
        </p:nvCxnSpPr>
        <p:spPr>
          <a:xfrm rot="5400000">
            <a:off x="8722875" y="5000496"/>
            <a:ext cx="431815" cy="2432517"/>
          </a:xfrm>
          <a:prstGeom prst="bentConnector3">
            <a:avLst>
              <a:gd name="adj1" fmla="val 152939"/>
            </a:avLst>
          </a:prstGeom>
          <a:ln w="19050">
            <a:solidFill>
              <a:srgbClr val="EA580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 : en arc 124">
            <a:extLst>
              <a:ext uri="{FF2B5EF4-FFF2-40B4-BE49-F238E27FC236}">
                <a16:creationId xmlns:a16="http://schemas.microsoft.com/office/drawing/2014/main" id="{379120C6-046C-2683-2ED8-3C92B7FB0A8A}"/>
              </a:ext>
            </a:extLst>
          </p:cNvPr>
          <p:cNvCxnSpPr>
            <a:cxnSpLocks/>
            <a:stCxn id="94" idx="3"/>
            <a:endCxn id="101" idx="3"/>
          </p:cNvCxnSpPr>
          <p:nvPr/>
        </p:nvCxnSpPr>
        <p:spPr>
          <a:xfrm flipH="1">
            <a:off x="10863301" y="1211091"/>
            <a:ext cx="781849" cy="4249086"/>
          </a:xfrm>
          <a:prstGeom prst="curvedConnector3">
            <a:avLst>
              <a:gd name="adj1" fmla="val -29238"/>
            </a:avLst>
          </a:prstGeom>
          <a:ln w="190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ZoneTexte 129">
            <a:extLst>
              <a:ext uri="{FF2B5EF4-FFF2-40B4-BE49-F238E27FC236}">
                <a16:creationId xmlns:a16="http://schemas.microsoft.com/office/drawing/2014/main" id="{42B2E01A-3B02-397E-7EBE-1AE98CD44E95}"/>
              </a:ext>
            </a:extLst>
          </p:cNvPr>
          <p:cNvSpPr txBox="1"/>
          <p:nvPr/>
        </p:nvSpPr>
        <p:spPr>
          <a:xfrm>
            <a:off x="10999336" y="3342552"/>
            <a:ext cx="971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Chargement projet DBT</a:t>
            </a:r>
          </a:p>
        </p:txBody>
      </p: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BE9154C0-AB5E-D647-6252-5BF65EF812FE}"/>
              </a:ext>
            </a:extLst>
          </p:cNvPr>
          <p:cNvCxnSpPr>
            <a:cxnSpLocks/>
            <a:stCxn id="11" idx="1"/>
            <a:endCxn id="76" idx="3"/>
          </p:cNvCxnSpPr>
          <p:nvPr/>
        </p:nvCxnSpPr>
        <p:spPr>
          <a:xfrm flipH="1">
            <a:off x="6247214" y="4789890"/>
            <a:ext cx="595734" cy="0"/>
          </a:xfrm>
          <a:prstGeom prst="straightConnector1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Rectangle : coins arrondis 159">
            <a:extLst>
              <a:ext uri="{FF2B5EF4-FFF2-40B4-BE49-F238E27FC236}">
                <a16:creationId xmlns:a16="http://schemas.microsoft.com/office/drawing/2014/main" id="{48B548C5-7251-9AD6-4ED6-75530B7E5DAD}"/>
              </a:ext>
            </a:extLst>
          </p:cNvPr>
          <p:cNvSpPr/>
          <p:nvPr/>
        </p:nvSpPr>
        <p:spPr>
          <a:xfrm>
            <a:off x="3093721" y="5316768"/>
            <a:ext cx="3150364" cy="983803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Amazon ECS </a:t>
            </a:r>
            <a:r>
              <a:rPr lang="fr-FR" sz="1600" dirty="0"/>
              <a:t>(conteneur DBT)</a:t>
            </a:r>
            <a:endParaRPr lang="fr-FR" dirty="0"/>
          </a:p>
        </p:txBody>
      </p: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0ADCC232-050D-FC8E-B50D-9B4A6E0AE766}"/>
              </a:ext>
            </a:extLst>
          </p:cNvPr>
          <p:cNvCxnSpPr>
            <a:cxnSpLocks/>
            <a:stCxn id="53" idx="1"/>
            <a:endCxn id="160" idx="3"/>
          </p:cNvCxnSpPr>
          <p:nvPr/>
        </p:nvCxnSpPr>
        <p:spPr>
          <a:xfrm rot="10800000">
            <a:off x="6244085" y="5808671"/>
            <a:ext cx="583406" cy="124497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 : coins arrondis 163">
            <a:extLst>
              <a:ext uri="{FF2B5EF4-FFF2-40B4-BE49-F238E27FC236}">
                <a16:creationId xmlns:a16="http://schemas.microsoft.com/office/drawing/2014/main" id="{4D2B1590-AA9D-89ED-63BF-EA510B53B904}"/>
              </a:ext>
            </a:extLst>
          </p:cNvPr>
          <p:cNvSpPr/>
          <p:nvPr/>
        </p:nvSpPr>
        <p:spPr>
          <a:xfrm>
            <a:off x="4711605" y="5754299"/>
            <a:ext cx="1423082" cy="4930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Tâche </a:t>
            </a:r>
            <a:r>
              <a:rPr lang="fr-FR" sz="1400" dirty="0" err="1"/>
              <a:t>dbt</a:t>
            </a:r>
            <a:r>
              <a:rPr lang="fr-FR" sz="1400" dirty="0"/>
              <a:t> </a:t>
            </a:r>
            <a:r>
              <a:rPr lang="fr-FR" sz="1400" dirty="0" err="1"/>
              <a:t>build</a:t>
            </a:r>
            <a:endParaRPr lang="fr-FR" sz="1400" dirty="0"/>
          </a:p>
        </p:txBody>
      </p:sp>
      <p:sp>
        <p:nvSpPr>
          <p:cNvPr id="165" name="Rectangle : coins arrondis 164">
            <a:extLst>
              <a:ext uri="{FF2B5EF4-FFF2-40B4-BE49-F238E27FC236}">
                <a16:creationId xmlns:a16="http://schemas.microsoft.com/office/drawing/2014/main" id="{592001B6-71FA-4850-E064-71C9A6AD9735}"/>
              </a:ext>
            </a:extLst>
          </p:cNvPr>
          <p:cNvSpPr/>
          <p:nvPr/>
        </p:nvSpPr>
        <p:spPr>
          <a:xfrm>
            <a:off x="3179125" y="5754299"/>
            <a:ext cx="1423082" cy="49309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Service </a:t>
            </a:r>
            <a:r>
              <a:rPr lang="fr-FR" sz="1400" dirty="0" err="1"/>
              <a:t>dbt</a:t>
            </a:r>
            <a:r>
              <a:rPr lang="fr-FR" sz="1400" dirty="0"/>
              <a:t> docs serve</a:t>
            </a:r>
          </a:p>
        </p:txBody>
      </p:sp>
      <p:cxnSp>
        <p:nvCxnSpPr>
          <p:cNvPr id="167" name="Connecteur : en angle 166">
            <a:extLst>
              <a:ext uri="{FF2B5EF4-FFF2-40B4-BE49-F238E27FC236}">
                <a16:creationId xmlns:a16="http://schemas.microsoft.com/office/drawing/2014/main" id="{9EB37687-9E7E-8869-CB33-8F87BBAC04C7}"/>
              </a:ext>
            </a:extLst>
          </p:cNvPr>
          <p:cNvCxnSpPr>
            <a:endCxn id="76" idx="1"/>
          </p:cNvCxnSpPr>
          <p:nvPr/>
        </p:nvCxnSpPr>
        <p:spPr>
          <a:xfrm flipV="1">
            <a:off x="3866168" y="4789890"/>
            <a:ext cx="554318" cy="526878"/>
          </a:xfrm>
          <a:prstGeom prst="bentConnector3">
            <a:avLst/>
          </a:prstGeom>
          <a:ln w="1905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necteur droit avec flèche 187">
            <a:extLst>
              <a:ext uri="{FF2B5EF4-FFF2-40B4-BE49-F238E27FC236}">
                <a16:creationId xmlns:a16="http://schemas.microsoft.com/office/drawing/2014/main" id="{02C5E340-ABAB-C032-F4A5-4E4FCE111827}"/>
              </a:ext>
            </a:extLst>
          </p:cNvPr>
          <p:cNvCxnSpPr>
            <a:cxnSpLocks/>
          </p:cNvCxnSpPr>
          <p:nvPr/>
        </p:nvCxnSpPr>
        <p:spPr>
          <a:xfrm flipH="1">
            <a:off x="3451412" y="3522039"/>
            <a:ext cx="2080249" cy="1794729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 : coins arrondis 192">
            <a:extLst>
              <a:ext uri="{FF2B5EF4-FFF2-40B4-BE49-F238E27FC236}">
                <a16:creationId xmlns:a16="http://schemas.microsoft.com/office/drawing/2014/main" id="{97FDACCB-D3A1-DAA6-3D91-772C6CE23ADA}"/>
              </a:ext>
            </a:extLst>
          </p:cNvPr>
          <p:cNvSpPr/>
          <p:nvPr/>
        </p:nvSpPr>
        <p:spPr>
          <a:xfrm>
            <a:off x="2804269" y="2538236"/>
            <a:ext cx="1535292" cy="687891"/>
          </a:xfrm>
          <a:prstGeom prst="roundRect">
            <a:avLst/>
          </a:prstGeom>
          <a:solidFill>
            <a:srgbClr val="00B0F0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AWS Secrets Manager</a:t>
            </a:r>
          </a:p>
        </p:txBody>
      </p:sp>
      <p:cxnSp>
        <p:nvCxnSpPr>
          <p:cNvPr id="197" name="Connecteur droit avec flèche 196">
            <a:extLst>
              <a:ext uri="{FF2B5EF4-FFF2-40B4-BE49-F238E27FC236}">
                <a16:creationId xmlns:a16="http://schemas.microsoft.com/office/drawing/2014/main" id="{A028B9AF-FD41-67FB-2404-4F0FBBED3417}"/>
              </a:ext>
            </a:extLst>
          </p:cNvPr>
          <p:cNvCxnSpPr>
            <a:cxnSpLocks/>
            <a:stCxn id="193" idx="2"/>
          </p:cNvCxnSpPr>
          <p:nvPr/>
        </p:nvCxnSpPr>
        <p:spPr>
          <a:xfrm>
            <a:off x="3571915" y="3226127"/>
            <a:ext cx="1333833" cy="1106838"/>
          </a:xfrm>
          <a:prstGeom prst="straightConnector1">
            <a:avLst/>
          </a:prstGeom>
          <a:ln w="19050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 droit avec flèche 199">
            <a:extLst>
              <a:ext uri="{FF2B5EF4-FFF2-40B4-BE49-F238E27FC236}">
                <a16:creationId xmlns:a16="http://schemas.microsoft.com/office/drawing/2014/main" id="{2459CCA1-9CB6-E71E-DC9A-D1C88DC0BE65}"/>
              </a:ext>
            </a:extLst>
          </p:cNvPr>
          <p:cNvCxnSpPr>
            <a:cxnSpLocks/>
          </p:cNvCxnSpPr>
          <p:nvPr/>
        </p:nvCxnSpPr>
        <p:spPr>
          <a:xfrm>
            <a:off x="3571915" y="3238427"/>
            <a:ext cx="227317" cy="2069552"/>
          </a:xfrm>
          <a:prstGeom prst="straightConnector1">
            <a:avLst/>
          </a:prstGeom>
          <a:ln w="19050">
            <a:solidFill>
              <a:srgbClr val="00206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tangle : coins arrondis 202">
            <a:extLst>
              <a:ext uri="{FF2B5EF4-FFF2-40B4-BE49-F238E27FC236}">
                <a16:creationId xmlns:a16="http://schemas.microsoft.com/office/drawing/2014/main" id="{2E5C18B9-CD90-D2B1-D4A6-661413D93FE5}"/>
              </a:ext>
            </a:extLst>
          </p:cNvPr>
          <p:cNvSpPr/>
          <p:nvPr/>
        </p:nvSpPr>
        <p:spPr>
          <a:xfrm>
            <a:off x="2671481" y="4070350"/>
            <a:ext cx="6515684" cy="2442979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fr-FR" dirty="0"/>
          </a:p>
        </p:txBody>
      </p:sp>
      <p:pic>
        <p:nvPicPr>
          <p:cNvPr id="1026" name="Picture 2" descr="Network Emoji and Internet Emojis for Communication">
            <a:extLst>
              <a:ext uri="{FF2B5EF4-FFF2-40B4-BE49-F238E27FC236}">
                <a16:creationId xmlns:a16="http://schemas.microsoft.com/office/drawing/2014/main" id="{79625A7D-9AE5-E84D-9A65-815169E43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99" y="4575388"/>
            <a:ext cx="783473" cy="7834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6" name="Connecteur : en arc 205">
            <a:extLst>
              <a:ext uri="{FF2B5EF4-FFF2-40B4-BE49-F238E27FC236}">
                <a16:creationId xmlns:a16="http://schemas.microsoft.com/office/drawing/2014/main" id="{B4247CB9-5571-0DD0-325D-A7F6A054B5E9}"/>
              </a:ext>
            </a:extLst>
          </p:cNvPr>
          <p:cNvCxnSpPr>
            <a:cxnSpLocks/>
            <a:stCxn id="165" idx="1"/>
            <a:endCxn id="1026" idx="2"/>
          </p:cNvCxnSpPr>
          <p:nvPr/>
        </p:nvCxnSpPr>
        <p:spPr>
          <a:xfrm rot="10800000">
            <a:off x="997037" y="5358861"/>
            <a:ext cx="2182089" cy="6419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eur : en arc 209">
            <a:extLst>
              <a:ext uri="{FF2B5EF4-FFF2-40B4-BE49-F238E27FC236}">
                <a16:creationId xmlns:a16="http://schemas.microsoft.com/office/drawing/2014/main" id="{8FA7A2A5-0C15-D573-8995-AB558677D33D}"/>
              </a:ext>
            </a:extLst>
          </p:cNvPr>
          <p:cNvCxnSpPr>
            <a:cxnSpLocks/>
            <a:stCxn id="11" idx="3"/>
            <a:endCxn id="1026" idx="0"/>
          </p:cNvCxnSpPr>
          <p:nvPr/>
        </p:nvCxnSpPr>
        <p:spPr>
          <a:xfrm flipH="1" flipV="1">
            <a:off x="997036" y="4575388"/>
            <a:ext cx="7672640" cy="214502"/>
          </a:xfrm>
          <a:prstGeom prst="bentConnector4">
            <a:avLst>
              <a:gd name="adj1" fmla="val -5550"/>
              <a:gd name="adj2" fmla="val 123885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ZoneTexte 230">
            <a:extLst>
              <a:ext uri="{FF2B5EF4-FFF2-40B4-BE49-F238E27FC236}">
                <a16:creationId xmlns:a16="http://schemas.microsoft.com/office/drawing/2014/main" id="{3ECED0DD-C4F2-3D60-21BD-E7497E838479}"/>
              </a:ext>
            </a:extLst>
          </p:cNvPr>
          <p:cNvSpPr txBox="1"/>
          <p:nvPr/>
        </p:nvSpPr>
        <p:spPr>
          <a:xfrm>
            <a:off x="1023929" y="2114968"/>
            <a:ext cx="15545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Adresse IP publique</a:t>
            </a:r>
          </a:p>
        </p:txBody>
      </p:sp>
      <p:sp>
        <p:nvSpPr>
          <p:cNvPr id="232" name="ZoneTexte 231">
            <a:extLst>
              <a:ext uri="{FF2B5EF4-FFF2-40B4-BE49-F238E27FC236}">
                <a16:creationId xmlns:a16="http://schemas.microsoft.com/office/drawing/2014/main" id="{48A608C9-1A9B-814C-E574-7299C65D1EFD}"/>
              </a:ext>
            </a:extLst>
          </p:cNvPr>
          <p:cNvSpPr txBox="1"/>
          <p:nvPr/>
        </p:nvSpPr>
        <p:spPr>
          <a:xfrm>
            <a:off x="876781" y="5991735"/>
            <a:ext cx="15545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i="1" dirty="0"/>
              <a:t>Adresse IP publique</a:t>
            </a:r>
          </a:p>
        </p:txBody>
      </p:sp>
      <p:sp>
        <p:nvSpPr>
          <p:cNvPr id="233" name="ZoneTexte 232">
            <a:extLst>
              <a:ext uri="{FF2B5EF4-FFF2-40B4-BE49-F238E27FC236}">
                <a16:creationId xmlns:a16="http://schemas.microsoft.com/office/drawing/2014/main" id="{AA454100-BD8F-D351-5265-12BBC9EA703F}"/>
              </a:ext>
            </a:extLst>
          </p:cNvPr>
          <p:cNvSpPr txBox="1"/>
          <p:nvPr/>
        </p:nvSpPr>
        <p:spPr>
          <a:xfrm>
            <a:off x="114624" y="4751680"/>
            <a:ext cx="7301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Web</a:t>
            </a:r>
          </a:p>
          <a:p>
            <a:endParaRPr lang="fr-FR" sz="1400" i="1" dirty="0"/>
          </a:p>
        </p:txBody>
      </p:sp>
    </p:spTree>
    <p:extLst>
      <p:ext uri="{BB962C8B-B14F-4D97-AF65-F5344CB8AC3E}">
        <p14:creationId xmlns:p14="http://schemas.microsoft.com/office/powerpoint/2010/main" val="254394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5CF12D-D102-320A-EC7A-0DF30FDEE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E466B9-C758-8B6A-7882-571977DF0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10D49BB1-BF92-9232-87EF-B385267E7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r>
              <a:rPr lang="fr-FR" dirty="0"/>
              <a:t>Via la documentation </a:t>
            </a:r>
            <a:r>
              <a:rPr lang="fr-FR" dirty="0" err="1"/>
              <a:t>Airbyte</a:t>
            </a:r>
            <a:r>
              <a:rPr lang="fr-FR" dirty="0"/>
              <a:t> </a:t>
            </a:r>
            <a:r>
              <a:rPr lang="fr-FR" dirty="0" err="1">
                <a:hlinkClick r:id="rId2"/>
              </a:rPr>
              <a:t>Quickstart</a:t>
            </a:r>
            <a:r>
              <a:rPr lang="fr-FR" dirty="0">
                <a:hlinkClick r:id="rId2"/>
              </a:rPr>
              <a:t> | </a:t>
            </a:r>
            <a:r>
              <a:rPr lang="fr-FR" dirty="0" err="1">
                <a:hlinkClick r:id="rId2"/>
              </a:rPr>
              <a:t>Airbyte</a:t>
            </a:r>
            <a:r>
              <a:rPr lang="fr-FR" dirty="0">
                <a:hlinkClick r:id="rId2"/>
              </a:rPr>
              <a:t> Docs</a:t>
            </a:r>
            <a:r>
              <a:rPr lang="fr-FR" dirty="0"/>
              <a:t> télécharger la dernière version de </a:t>
            </a:r>
            <a:r>
              <a:rPr lang="fr-FR" dirty="0" err="1"/>
              <a:t>abctl</a:t>
            </a:r>
            <a:r>
              <a:rPr lang="fr-FR" dirty="0"/>
              <a:t> et suivre les étapes décrites dans la documentation</a:t>
            </a:r>
          </a:p>
          <a:p>
            <a:r>
              <a:rPr lang="fr-FR" dirty="0"/>
              <a:t>Démarrer Docker et dans l’invite de commande lancer l’installation en tapant </a:t>
            </a:r>
            <a:r>
              <a:rPr lang="fr-FR" b="1" i="1" dirty="0" err="1"/>
              <a:t>abctl</a:t>
            </a:r>
            <a:r>
              <a:rPr lang="fr-FR" b="1" i="1" dirty="0"/>
              <a:t> local </a:t>
            </a:r>
            <a:r>
              <a:rPr lang="fr-FR" b="1" i="1" dirty="0" err="1"/>
              <a:t>install</a:t>
            </a:r>
            <a:endParaRPr lang="fr-FR" b="1" i="1" dirty="0"/>
          </a:p>
          <a:p>
            <a:endParaRPr lang="fr-FR" b="1" i="1" dirty="0"/>
          </a:p>
          <a:p>
            <a:endParaRPr lang="fr-FR" b="1" i="1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BC06C71-8A4E-DF39-D1ED-0AF1101227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36"/>
          <a:stretch>
            <a:fillRect/>
          </a:stretch>
        </p:blipFill>
        <p:spPr>
          <a:xfrm>
            <a:off x="581192" y="3016550"/>
            <a:ext cx="5778577" cy="3552236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D5481D2-6FEF-53EA-D87B-4A04095ECA94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384287" y="3194222"/>
            <a:ext cx="3138201" cy="19771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70D9534D-CE91-CBA9-2A84-BBF75ADF9842}"/>
              </a:ext>
            </a:extLst>
          </p:cNvPr>
          <p:cNvSpPr txBox="1"/>
          <p:nvPr/>
        </p:nvSpPr>
        <p:spPr>
          <a:xfrm>
            <a:off x="6522488" y="3022600"/>
            <a:ext cx="1398494" cy="73866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Vérification de l’installation </a:t>
            </a:r>
            <a:r>
              <a:rPr lang="fr-FR" sz="1400" dirty="0" err="1"/>
              <a:t>abctl</a:t>
            </a:r>
            <a:endParaRPr lang="fr-FR" sz="1400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9B46772-C1A2-575E-A433-80EA318FAEEE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3711388" y="3758888"/>
            <a:ext cx="3426952" cy="64590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CCB9072D-7FCD-97C8-9D7F-9CC77E49A791}"/>
              </a:ext>
            </a:extLst>
          </p:cNvPr>
          <p:cNvSpPr txBox="1"/>
          <p:nvPr/>
        </p:nvSpPr>
        <p:spPr>
          <a:xfrm>
            <a:off x="7138340" y="4143182"/>
            <a:ext cx="1398494" cy="5232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Lancement du cluster </a:t>
            </a:r>
            <a:r>
              <a:rPr lang="fr-FR" sz="1400" dirty="0" err="1"/>
              <a:t>Airbyte</a:t>
            </a:r>
            <a:endParaRPr lang="fr-FR" sz="1400" dirty="0"/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889B2803-6A15-87B6-FB5A-609F88D62B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5504329" y="5787872"/>
            <a:ext cx="1756577" cy="19525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ABF8A8BC-CA71-5747-7CB7-EB8E618F5AF5}"/>
              </a:ext>
            </a:extLst>
          </p:cNvPr>
          <p:cNvSpPr txBox="1"/>
          <p:nvPr/>
        </p:nvSpPr>
        <p:spPr>
          <a:xfrm>
            <a:off x="7260906" y="5418540"/>
            <a:ext cx="1623118" cy="73866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Récupération de l’URL de connexion à </a:t>
            </a:r>
            <a:r>
              <a:rPr lang="fr-FR" sz="1400" dirty="0" err="1"/>
              <a:t>Airbyte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70378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74983-0817-6D98-34A1-3F26DB0DD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29">
            <a:extLst>
              <a:ext uri="{FF2B5EF4-FFF2-40B4-BE49-F238E27FC236}">
                <a16:creationId xmlns:a16="http://schemas.microsoft.com/office/drawing/2014/main" id="{2267C55F-B917-1312-7F10-54642988F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187" y="3889977"/>
            <a:ext cx="2444226" cy="278387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42254041-17CD-A75B-FC02-109492948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4525" y="1760193"/>
            <a:ext cx="3068516" cy="396546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A32B1C6-CE19-2575-0D75-B6C84CC29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742" y="1949558"/>
            <a:ext cx="5137583" cy="170479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05925C9-1234-EBA4-C6CB-9CCF7796E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DE4246-318F-7BB4-8541-0D08F553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B55FA9FA-0C60-CA7B-89A9-9E8DF7DE4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297B9-826B-22AE-DE9A-56E6E72007DC}"/>
              </a:ext>
            </a:extLst>
          </p:cNvPr>
          <p:cNvCxnSpPr>
            <a:cxnSpLocks/>
          </p:cNvCxnSpPr>
          <p:nvPr/>
        </p:nvCxnSpPr>
        <p:spPr>
          <a:xfrm flipH="1">
            <a:off x="3651773" y="2029502"/>
            <a:ext cx="2444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EE53D73E-ACCA-C005-E114-5F39B29C3D15}"/>
              </a:ext>
            </a:extLst>
          </p:cNvPr>
          <p:cNvSpPr txBox="1"/>
          <p:nvPr/>
        </p:nvSpPr>
        <p:spPr>
          <a:xfrm>
            <a:off x="6095999" y="1520652"/>
            <a:ext cx="2229778" cy="95410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Récupération de l’identifiant et du mot de passe pour se connecter à </a:t>
            </a:r>
            <a:r>
              <a:rPr lang="fr-FR" sz="1400" dirty="0" err="1"/>
              <a:t>Airbyte</a:t>
            </a:r>
            <a:endParaRPr lang="fr-FR" sz="1400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33A57B6-B76A-8140-7629-DA6CA0A7787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9384394" y="4348480"/>
            <a:ext cx="247286" cy="97093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94332C56-FE79-56CF-2026-CDA20ACEB201}"/>
              </a:ext>
            </a:extLst>
          </p:cNvPr>
          <p:cNvSpPr txBox="1"/>
          <p:nvPr/>
        </p:nvSpPr>
        <p:spPr>
          <a:xfrm>
            <a:off x="8685147" y="5319414"/>
            <a:ext cx="1398494" cy="95410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Organisation à compléter exemple </a:t>
            </a:r>
            <a:r>
              <a:rPr lang="fr-FR" sz="1400" dirty="0" err="1"/>
              <a:t>Greencoop</a:t>
            </a:r>
            <a:endParaRPr lang="fr-FR" sz="1400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D4C5A50F-A2B5-14EE-23F5-2E99C9A77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4" y="3856530"/>
            <a:ext cx="5623609" cy="2752459"/>
          </a:xfrm>
          <a:prstGeom prst="rect">
            <a:avLst/>
          </a:prstGeom>
        </p:spPr>
      </p:pic>
      <p:sp>
        <p:nvSpPr>
          <p:cNvPr id="35" name="Heptagone 34">
            <a:extLst>
              <a:ext uri="{FF2B5EF4-FFF2-40B4-BE49-F238E27FC236}">
                <a16:creationId xmlns:a16="http://schemas.microsoft.com/office/drawing/2014/main" id="{ABC48CAC-8A29-2897-5B13-8B367CE2A0D0}"/>
              </a:ext>
            </a:extLst>
          </p:cNvPr>
          <p:cNvSpPr/>
          <p:nvPr/>
        </p:nvSpPr>
        <p:spPr>
          <a:xfrm>
            <a:off x="5453244" y="1421458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36" name="Heptagone 35">
            <a:extLst>
              <a:ext uri="{FF2B5EF4-FFF2-40B4-BE49-F238E27FC236}">
                <a16:creationId xmlns:a16="http://schemas.microsoft.com/office/drawing/2014/main" id="{E454EFEF-58B5-0ABD-5FEF-02DB087EE133}"/>
              </a:ext>
            </a:extLst>
          </p:cNvPr>
          <p:cNvSpPr/>
          <p:nvPr/>
        </p:nvSpPr>
        <p:spPr>
          <a:xfrm>
            <a:off x="8688851" y="1876252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sp>
        <p:nvSpPr>
          <p:cNvPr id="37" name="Heptagone 36">
            <a:extLst>
              <a:ext uri="{FF2B5EF4-FFF2-40B4-BE49-F238E27FC236}">
                <a16:creationId xmlns:a16="http://schemas.microsoft.com/office/drawing/2014/main" id="{4E09418D-BB7A-7310-96AA-51FF7BC126F8}"/>
              </a:ext>
            </a:extLst>
          </p:cNvPr>
          <p:cNvSpPr/>
          <p:nvPr/>
        </p:nvSpPr>
        <p:spPr>
          <a:xfrm>
            <a:off x="7210888" y="3751350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3</a:t>
            </a:r>
          </a:p>
        </p:txBody>
      </p:sp>
      <p:sp>
        <p:nvSpPr>
          <p:cNvPr id="38" name="Heptagone 37">
            <a:extLst>
              <a:ext uri="{FF2B5EF4-FFF2-40B4-BE49-F238E27FC236}">
                <a16:creationId xmlns:a16="http://schemas.microsoft.com/office/drawing/2014/main" id="{FCE63BD3-363B-F7E5-7F37-697ABE9EA112}"/>
              </a:ext>
            </a:extLst>
          </p:cNvPr>
          <p:cNvSpPr/>
          <p:nvPr/>
        </p:nvSpPr>
        <p:spPr>
          <a:xfrm>
            <a:off x="5224644" y="3810239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8295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1E6CB-E986-2838-317C-AD5DECF79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6D3DA2DF-A86A-2CC4-5E20-0DDB71458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44" y="1980929"/>
            <a:ext cx="7423143" cy="4391155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8D5152E-E889-8CA5-C44F-A4A1FA017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786" y="1942706"/>
            <a:ext cx="4684214" cy="3885084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9AC503D-3E67-A748-EEB9-A41504396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30ECEB-1D6F-6823-EEED-F77AECF32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3EBB2094-32CC-6F96-6085-4ECF4A86E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076B123-21C4-A656-AB41-81BDAB1FFFA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10450750" y="5283200"/>
            <a:ext cx="488097" cy="71955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B299D3AA-A1B4-AF62-58CA-E00DCB85907D}"/>
              </a:ext>
            </a:extLst>
          </p:cNvPr>
          <p:cNvSpPr txBox="1"/>
          <p:nvPr/>
        </p:nvSpPr>
        <p:spPr>
          <a:xfrm>
            <a:off x="9930638" y="6002752"/>
            <a:ext cx="2016418" cy="738664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URL GitHub ou URL S3. Récupération fichier en local impossible</a:t>
            </a:r>
          </a:p>
        </p:txBody>
      </p:sp>
      <p:sp>
        <p:nvSpPr>
          <p:cNvPr id="35" name="Heptagone 34">
            <a:extLst>
              <a:ext uri="{FF2B5EF4-FFF2-40B4-BE49-F238E27FC236}">
                <a16:creationId xmlns:a16="http://schemas.microsoft.com/office/drawing/2014/main" id="{38A97BEA-D4F0-F5D0-1158-002A7D4ABB4C}"/>
              </a:ext>
            </a:extLst>
          </p:cNvPr>
          <p:cNvSpPr/>
          <p:nvPr/>
        </p:nvSpPr>
        <p:spPr>
          <a:xfrm>
            <a:off x="2983873" y="2972824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5</a:t>
            </a:r>
          </a:p>
        </p:txBody>
      </p:sp>
      <p:sp>
        <p:nvSpPr>
          <p:cNvPr id="15" name="Heptagone 14">
            <a:extLst>
              <a:ext uri="{FF2B5EF4-FFF2-40B4-BE49-F238E27FC236}">
                <a16:creationId xmlns:a16="http://schemas.microsoft.com/office/drawing/2014/main" id="{5376BF6D-4CC8-D31B-C84B-2A7BBB128343}"/>
              </a:ext>
            </a:extLst>
          </p:cNvPr>
          <p:cNvSpPr/>
          <p:nvPr/>
        </p:nvSpPr>
        <p:spPr>
          <a:xfrm>
            <a:off x="8110396" y="3200354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6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965F2B3-7DEA-1FC7-128A-C5FD0398B6EA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8808601" y="5283200"/>
            <a:ext cx="695385" cy="3400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CA380CEC-C565-F558-CFA9-7D991655148E}"/>
              </a:ext>
            </a:extLst>
          </p:cNvPr>
          <p:cNvSpPr txBox="1"/>
          <p:nvPr/>
        </p:nvSpPr>
        <p:spPr>
          <a:xfrm>
            <a:off x="8267756" y="5623260"/>
            <a:ext cx="1081690" cy="307777"/>
          </a:xfrm>
          <a:prstGeom prst="rect">
            <a:avLst/>
          </a:prstGeom>
          <a:solidFill>
            <a:srgbClr val="FFFF00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URL RAW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05CFE7D-5AE1-26CF-31CF-37BA3930257D}"/>
              </a:ext>
            </a:extLst>
          </p:cNvPr>
          <p:cNvSpPr txBox="1"/>
          <p:nvPr/>
        </p:nvSpPr>
        <p:spPr>
          <a:xfrm>
            <a:off x="90404" y="4921291"/>
            <a:ext cx="1741251" cy="1403937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Schéma </a:t>
            </a:r>
            <a:r>
              <a:rPr lang="fr-FR" sz="1400" dirty="0" err="1"/>
              <a:t>raw</a:t>
            </a:r>
            <a:endParaRPr lang="fr-FR" sz="1400" dirty="0"/>
          </a:p>
          <a:p>
            <a:r>
              <a:rPr lang="fr-FR" sz="1400" dirty="0"/>
              <a:t>+ Option </a:t>
            </a:r>
            <a:r>
              <a:rPr lang="en-US" sz="1400" i="1" dirty="0"/>
              <a:t>Drop tables with CASCADE. (WARNING! Risk of unrecoverable data loss) </a:t>
            </a:r>
            <a:r>
              <a:rPr lang="en-US" sz="1400" dirty="0" err="1"/>
              <a:t>activée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3125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B439B-64D2-DB8B-220F-110E9A93F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3CF9C67D-1777-B642-2EE9-F7133771D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992342"/>
            <a:ext cx="7181060" cy="257965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5D0A2DE-1E6F-AF44-B700-8084C94AF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7178DA-011E-3E29-FA78-2A9D56AAF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6C882531-7525-619D-ECE2-E89E4D228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35" name="Heptagone 34">
            <a:extLst>
              <a:ext uri="{FF2B5EF4-FFF2-40B4-BE49-F238E27FC236}">
                <a16:creationId xmlns:a16="http://schemas.microsoft.com/office/drawing/2014/main" id="{0BD9BD7E-FFDB-59C2-DE6C-5344FD8CF3A8}"/>
              </a:ext>
            </a:extLst>
          </p:cNvPr>
          <p:cNvSpPr/>
          <p:nvPr/>
        </p:nvSpPr>
        <p:spPr>
          <a:xfrm>
            <a:off x="4131929" y="2624610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7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CF702EA-8774-7E92-0936-1AF4E9302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889" y="4289320"/>
            <a:ext cx="8006080" cy="1987759"/>
          </a:xfrm>
          <a:prstGeom prst="rect">
            <a:avLst/>
          </a:prstGeom>
        </p:spPr>
      </p:pic>
      <p:sp>
        <p:nvSpPr>
          <p:cNvPr id="15" name="Heptagone 14">
            <a:extLst>
              <a:ext uri="{FF2B5EF4-FFF2-40B4-BE49-F238E27FC236}">
                <a16:creationId xmlns:a16="http://schemas.microsoft.com/office/drawing/2014/main" id="{4DFD3E5E-711A-6D5B-BF14-94A651F875C4}"/>
              </a:ext>
            </a:extLst>
          </p:cNvPr>
          <p:cNvSpPr/>
          <p:nvPr/>
        </p:nvSpPr>
        <p:spPr>
          <a:xfrm>
            <a:off x="2889019" y="4673466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DC2F3DA-F3F1-B0E4-DD0F-80C3DCBB4C1F}"/>
              </a:ext>
            </a:extLst>
          </p:cNvPr>
          <p:cNvSpPr txBox="1"/>
          <p:nvPr/>
        </p:nvSpPr>
        <p:spPr>
          <a:xfrm>
            <a:off x="5378971" y="2441441"/>
            <a:ext cx="1893529" cy="738664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Sélectionner la destination </a:t>
            </a:r>
            <a:r>
              <a:rPr lang="fr-FR" sz="1400" dirty="0" err="1"/>
              <a:t>PosgreSQL</a:t>
            </a:r>
            <a:r>
              <a:rPr lang="fr-FR" sz="1400" dirty="0"/>
              <a:t> créée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DF1BF22-1784-BF21-BC2C-BFFF019096C0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866640" y="3180105"/>
            <a:ext cx="1459096" cy="71352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 17">
            <a:extLst>
              <a:ext uri="{FF2B5EF4-FFF2-40B4-BE49-F238E27FC236}">
                <a16:creationId xmlns:a16="http://schemas.microsoft.com/office/drawing/2014/main" id="{9DE99DE8-9B5D-7186-3C4C-8D0916D6CA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91" t="11478" r="19726"/>
          <a:stretch>
            <a:fillRect/>
          </a:stretch>
        </p:blipFill>
        <p:spPr>
          <a:xfrm>
            <a:off x="6593839" y="3326940"/>
            <a:ext cx="5506720" cy="2388179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9" name="Heptagone 18">
            <a:extLst>
              <a:ext uri="{FF2B5EF4-FFF2-40B4-BE49-F238E27FC236}">
                <a16:creationId xmlns:a16="http://schemas.microsoft.com/office/drawing/2014/main" id="{41EB7AA0-214B-5A1E-1AB9-EC8159D4D1D8}"/>
              </a:ext>
            </a:extLst>
          </p:cNvPr>
          <p:cNvSpPr/>
          <p:nvPr/>
        </p:nvSpPr>
        <p:spPr>
          <a:xfrm>
            <a:off x="11006859" y="4673466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9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BAF8F4F-0981-78E4-24DA-C7E6754159F6}"/>
              </a:ext>
            </a:extLst>
          </p:cNvPr>
          <p:cNvSpPr txBox="1"/>
          <p:nvPr/>
        </p:nvSpPr>
        <p:spPr>
          <a:xfrm>
            <a:off x="8172418" y="5902737"/>
            <a:ext cx="1896142" cy="52322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Sélectionner Full </a:t>
            </a:r>
            <a:r>
              <a:rPr lang="fr-FR" sz="1400" dirty="0" err="1"/>
              <a:t>refresh</a:t>
            </a:r>
            <a:r>
              <a:rPr lang="fr-FR" sz="1400" dirty="0"/>
              <a:t> | </a:t>
            </a:r>
            <a:r>
              <a:rPr lang="fr-FR" sz="1400" dirty="0" err="1"/>
              <a:t>Overwrite</a:t>
            </a:r>
            <a:endParaRPr lang="fr-FR" sz="1400" dirty="0"/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BF56DFA-09B2-8838-4566-25AFFA3EA9A6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10068560" y="5473012"/>
            <a:ext cx="834493" cy="69133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05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2E35C-1988-23E7-5DC9-7E6CD606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62B4199C-E1F3-593F-910E-4E2F55D0B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6" y="2150443"/>
            <a:ext cx="8097520" cy="428655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24B6EF2-AD40-AB8F-6B94-AEE24756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105AA2-062B-6E25-CB39-48F67CB3D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DE739681-3DB5-8470-BA5D-1D766E4AE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35" name="Heptagone 34">
            <a:extLst>
              <a:ext uri="{FF2B5EF4-FFF2-40B4-BE49-F238E27FC236}">
                <a16:creationId xmlns:a16="http://schemas.microsoft.com/office/drawing/2014/main" id="{1D8AEB41-F6A9-0F02-72EE-07A7D2622D8F}"/>
              </a:ext>
            </a:extLst>
          </p:cNvPr>
          <p:cNvSpPr/>
          <p:nvPr/>
        </p:nvSpPr>
        <p:spPr>
          <a:xfrm>
            <a:off x="4424680" y="3084584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10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5A77A21-6BEC-6257-9DC0-B77317690F9B}"/>
              </a:ext>
            </a:extLst>
          </p:cNvPr>
          <p:cNvSpPr txBox="1"/>
          <p:nvPr/>
        </p:nvSpPr>
        <p:spPr>
          <a:xfrm>
            <a:off x="5378971" y="2441441"/>
            <a:ext cx="1893529" cy="52322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Choisir le </a:t>
            </a:r>
            <a:r>
              <a:rPr lang="fr-FR" sz="1400" dirty="0" err="1"/>
              <a:t>schedule</a:t>
            </a:r>
            <a:r>
              <a:rPr lang="fr-FR" sz="1400" dirty="0"/>
              <a:t> type à configurer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CBF5A7B-1460-75AF-CD2E-0498C5214C01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3280" y="2964661"/>
            <a:ext cx="1672456" cy="87294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12E7F6D9-BCB0-4872-C318-C0D4C50CFA84}"/>
              </a:ext>
            </a:extLst>
          </p:cNvPr>
          <p:cNvSpPr txBox="1"/>
          <p:nvPr/>
        </p:nvSpPr>
        <p:spPr>
          <a:xfrm>
            <a:off x="4875316" y="5684240"/>
            <a:ext cx="1896142" cy="52322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Mettre en place la connexion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AD772C8-35C2-C23C-A4EE-B9AD548D9D2B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6771458" y="5945850"/>
            <a:ext cx="1041582" cy="26025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Heptagone 12">
            <a:extLst>
              <a:ext uri="{FF2B5EF4-FFF2-40B4-BE49-F238E27FC236}">
                <a16:creationId xmlns:a16="http://schemas.microsoft.com/office/drawing/2014/main" id="{03E798C0-4F41-F0DC-17F3-C4F0B8388717}"/>
              </a:ext>
            </a:extLst>
          </p:cNvPr>
          <p:cNvSpPr/>
          <p:nvPr/>
        </p:nvSpPr>
        <p:spPr>
          <a:xfrm>
            <a:off x="5867399" y="5114413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2531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8699-BE5A-3255-1F6A-6838AB97D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>
            <a:extLst>
              <a:ext uri="{FF2B5EF4-FFF2-40B4-BE49-F238E27FC236}">
                <a16:creationId xmlns:a16="http://schemas.microsoft.com/office/drawing/2014/main" id="{71136054-5556-91AA-8AC8-C6452DC10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18" y="4312984"/>
            <a:ext cx="9458960" cy="206014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2417B1F-41D8-7DAE-FA74-EE10198F3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" y="1941820"/>
            <a:ext cx="10546080" cy="228552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C48757C-DFA7-86B0-71F1-08D7F2AB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Mise en place </a:t>
            </a:r>
            <a:r>
              <a:rPr lang="fr-FR" dirty="0" err="1"/>
              <a:t>Airbyte</a:t>
            </a:r>
            <a:br>
              <a:rPr lang="fr-FR" dirty="0"/>
            </a:b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B37FF4-2081-CBFF-0353-490EB5BFB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71619B6-FEEF-F77C-0DE8-FB87A5502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20366"/>
            <a:ext cx="11029615" cy="3634486"/>
          </a:xfrm>
        </p:spPr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35" name="Heptagone 34">
            <a:extLst>
              <a:ext uri="{FF2B5EF4-FFF2-40B4-BE49-F238E27FC236}">
                <a16:creationId xmlns:a16="http://schemas.microsoft.com/office/drawing/2014/main" id="{707D04E6-5A38-9D62-E93E-A704FABB20B9}"/>
              </a:ext>
            </a:extLst>
          </p:cNvPr>
          <p:cNvSpPr/>
          <p:nvPr/>
        </p:nvSpPr>
        <p:spPr>
          <a:xfrm>
            <a:off x="10670073" y="2353826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12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C273F5-8725-CED2-CC42-9D4C732AA23E}"/>
              </a:ext>
            </a:extLst>
          </p:cNvPr>
          <p:cNvSpPr txBox="1"/>
          <p:nvPr/>
        </p:nvSpPr>
        <p:spPr>
          <a:xfrm>
            <a:off x="9717278" y="1213378"/>
            <a:ext cx="1893529" cy="954107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Lancer la synchronisation pour </a:t>
            </a:r>
            <a:r>
              <a:rPr lang="fr-FR" sz="1400" dirty="0" err="1"/>
              <a:t>transferer</a:t>
            </a:r>
            <a:r>
              <a:rPr lang="fr-FR" sz="1400" dirty="0"/>
              <a:t> les données dans la </a:t>
            </a:r>
            <a:r>
              <a:rPr lang="fr-FR" sz="1400" dirty="0" err="1"/>
              <a:t>Database</a:t>
            </a:r>
            <a:endParaRPr lang="fr-FR" sz="1400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B56F32C2-D77B-00E2-3079-EE6C98635967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865360" y="2167485"/>
            <a:ext cx="798683" cy="49245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7DE3F633-EC9E-2ADE-068C-D7E2CBDAB820}"/>
              </a:ext>
            </a:extLst>
          </p:cNvPr>
          <p:cNvSpPr txBox="1"/>
          <p:nvPr/>
        </p:nvSpPr>
        <p:spPr>
          <a:xfrm>
            <a:off x="3363070" y="5048485"/>
            <a:ext cx="1625490" cy="52322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Prend quelques minutes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41F17FB7-5672-9FC5-4484-BE9F06E10D6E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617623" y="5310095"/>
            <a:ext cx="1745447" cy="75542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Heptagone 12">
            <a:extLst>
              <a:ext uri="{FF2B5EF4-FFF2-40B4-BE49-F238E27FC236}">
                <a16:creationId xmlns:a16="http://schemas.microsoft.com/office/drawing/2014/main" id="{EAFAD523-B47A-652B-AA03-32D6D09BB538}"/>
              </a:ext>
            </a:extLst>
          </p:cNvPr>
          <p:cNvSpPr/>
          <p:nvPr/>
        </p:nvSpPr>
        <p:spPr>
          <a:xfrm>
            <a:off x="3134470" y="5706451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13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6BFA8F4-377F-764C-7ADC-0470E2A59E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969"/>
          <a:stretch>
            <a:fillRect/>
          </a:stretch>
        </p:blipFill>
        <p:spPr>
          <a:xfrm>
            <a:off x="5257599" y="3419590"/>
            <a:ext cx="6731200" cy="187449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671B2A34-95E4-3DF4-D269-19D830851F9F}"/>
              </a:ext>
            </a:extLst>
          </p:cNvPr>
          <p:cNvSpPr txBox="1"/>
          <p:nvPr/>
        </p:nvSpPr>
        <p:spPr>
          <a:xfrm>
            <a:off x="7178149" y="3037900"/>
            <a:ext cx="1625490" cy="1169551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/>
              <a:t>Synchronisation réussie. </a:t>
            </a:r>
          </a:p>
          <a:p>
            <a:r>
              <a:rPr lang="fr-FR" sz="1400" dirty="0"/>
              <a:t>Nombre de lignes chargées dans PostgreSQL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57CC711C-F1E3-A660-9A43-BB4070672120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5432702" y="3622676"/>
            <a:ext cx="1745447" cy="43225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D4BA0290-3B42-5101-B714-CCC5501DA260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8803639" y="3622676"/>
            <a:ext cx="543561" cy="136432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Heptagone 26">
            <a:extLst>
              <a:ext uri="{FF2B5EF4-FFF2-40B4-BE49-F238E27FC236}">
                <a16:creationId xmlns:a16="http://schemas.microsoft.com/office/drawing/2014/main" id="{084E0B28-8F49-0CAF-6675-BEA698A85E8D}"/>
              </a:ext>
            </a:extLst>
          </p:cNvPr>
          <p:cNvSpPr/>
          <p:nvPr/>
        </p:nvSpPr>
        <p:spPr>
          <a:xfrm>
            <a:off x="7873074" y="4293087"/>
            <a:ext cx="457199" cy="457292"/>
          </a:xfrm>
          <a:prstGeom prst="heptag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7642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4458A9-6CDC-6BF3-250C-B6E6F294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E1B120-2F32-09E5-8E07-86A7DCFCA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Installation de DBT avec la commande </a:t>
            </a:r>
            <a:r>
              <a:rPr lang="fr-FR" b="1" i="1" dirty="0" err="1"/>
              <a:t>pip</a:t>
            </a:r>
            <a:r>
              <a:rPr lang="fr-FR" b="1" i="1" dirty="0"/>
              <a:t> </a:t>
            </a:r>
            <a:r>
              <a:rPr lang="fr-FR" b="1" i="1" dirty="0" err="1"/>
              <a:t>install</a:t>
            </a:r>
            <a:r>
              <a:rPr lang="fr-FR" b="1" i="1" dirty="0"/>
              <a:t> </a:t>
            </a:r>
            <a:r>
              <a:rPr lang="fr-FR" b="1" i="1" dirty="0" err="1"/>
              <a:t>dbt-core</a:t>
            </a:r>
            <a:endParaRPr lang="fr-FR" b="1" i="1" dirty="0"/>
          </a:p>
          <a:p>
            <a:r>
              <a:rPr lang="fr-FR" dirty="0"/>
              <a:t>Installation du package pour utiliser PostgreSQL avec la commande </a:t>
            </a:r>
            <a:r>
              <a:rPr lang="fr-FR" b="1" i="1" dirty="0" err="1"/>
              <a:t>pip</a:t>
            </a:r>
            <a:r>
              <a:rPr lang="fr-FR" b="1" i="1" dirty="0"/>
              <a:t> </a:t>
            </a:r>
            <a:r>
              <a:rPr lang="fr-FR" b="1" i="1" dirty="0" err="1"/>
              <a:t>install</a:t>
            </a:r>
            <a:r>
              <a:rPr lang="fr-FR" b="1" i="1" dirty="0"/>
              <a:t> </a:t>
            </a:r>
            <a:r>
              <a:rPr lang="fr-FR" b="1" i="1" dirty="0" err="1"/>
              <a:t>dbt-postgres</a:t>
            </a:r>
            <a:endParaRPr lang="fr-FR" b="1" i="1" dirty="0"/>
          </a:p>
          <a:p>
            <a:r>
              <a:rPr lang="fr-FR" dirty="0"/>
              <a:t>Initialisation du projet </a:t>
            </a:r>
            <a:r>
              <a:rPr lang="fr-FR" dirty="0" err="1"/>
              <a:t>dbt</a:t>
            </a:r>
            <a:r>
              <a:rPr lang="fr-FR" dirty="0"/>
              <a:t> avec la commande </a:t>
            </a:r>
            <a:r>
              <a:rPr lang="fr-FR" b="1" i="1" dirty="0" err="1"/>
              <a:t>dbt</a:t>
            </a:r>
            <a:r>
              <a:rPr lang="fr-FR" b="1" i="1" dirty="0"/>
              <a:t> init &lt;nom-du-projet&gt;</a:t>
            </a:r>
          </a:p>
          <a:p>
            <a:pPr lvl="1"/>
            <a:r>
              <a:rPr lang="fr-FR" dirty="0"/>
              <a:t>Un dossier au nom du projet avec les éléments suivants est créé dans le répertoire où l’initialisation a été lancée: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295062-DAC1-8A8F-28FC-FA10BE7B3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B1E1E22-0992-2948-AD72-8B9013231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908" y="3586480"/>
            <a:ext cx="6004797" cy="320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749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8F42E-A82A-9B50-24C8-E56A7D8D6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0C7745-3B7B-461E-3EB8-4536C7707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D9EE54-A442-545E-7221-CBD5A2FA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</a:t>
            </a:r>
            <a:r>
              <a:rPr lang="fr-FR" b="1" i="1" dirty="0" err="1"/>
              <a:t>dbt</a:t>
            </a:r>
            <a:r>
              <a:rPr lang="fr-FR" b="1" i="1" dirty="0"/>
              <a:t> </a:t>
            </a:r>
            <a:r>
              <a:rPr lang="fr-FR" b="1" i="1" dirty="0" err="1"/>
              <a:t>debug</a:t>
            </a:r>
            <a:r>
              <a:rPr lang="fr-FR" b="1" i="1" dirty="0"/>
              <a:t> </a:t>
            </a:r>
            <a:r>
              <a:rPr lang="fr-FR" dirty="0"/>
              <a:t>lancée dans le répertoire  du projet DBT permet de vérifier la connexion avec la base de données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marL="324000" lvl="1" indent="0">
              <a:buNone/>
            </a:pPr>
            <a:endParaRPr lang="fr-FR" dirty="0"/>
          </a:p>
          <a:p>
            <a:pPr marL="324000" lvl="1" indent="0">
              <a:buNone/>
            </a:pPr>
            <a:endParaRPr lang="fr-FR" dirty="0"/>
          </a:p>
          <a:p>
            <a:pPr marL="324000" lvl="1" indent="0">
              <a:buNone/>
            </a:pPr>
            <a:endParaRPr lang="fr-FR" dirty="0"/>
          </a:p>
          <a:p>
            <a:pPr marL="324000" lvl="1" indent="0">
              <a:buNone/>
            </a:pPr>
            <a:endParaRPr lang="fr-FR" dirty="0"/>
          </a:p>
          <a:p>
            <a:pPr marL="324000" lvl="1" indent="0">
              <a:buNone/>
            </a:pP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9929C9-A6D9-231F-541C-BEFDF8145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9F9684-C7A2-F52B-5C81-E730EAAE2A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080" y="2266285"/>
            <a:ext cx="8168500" cy="4340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451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12">
            <a:extLst>
              <a:ext uri="{FF2B5EF4-FFF2-40B4-BE49-F238E27FC236}">
                <a16:creationId xmlns:a16="http://schemas.microsoft.com/office/drawing/2014/main" id="{574AD6F7-C625-EF9D-1008-A9FFE21A8469}"/>
              </a:ext>
            </a:extLst>
          </p:cNvPr>
          <p:cNvSpPr/>
          <p:nvPr/>
        </p:nvSpPr>
        <p:spPr>
          <a:xfrm>
            <a:off x="152400" y="1811119"/>
            <a:ext cx="2837769" cy="2608403"/>
          </a:xfrm>
          <a:prstGeom prst="roundRect">
            <a:avLst/>
          </a:prstGeom>
          <a:solidFill>
            <a:srgbClr val="B3FFD5"/>
          </a:solidFill>
          <a:ln w="10160">
            <a:solidFill>
              <a:srgbClr val="B3FF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12">
            <a:extLst>
              <a:ext uri="{FF2B5EF4-FFF2-40B4-BE49-F238E27FC236}">
                <a16:creationId xmlns:a16="http://schemas.microsoft.com/office/drawing/2014/main" id="{A484983D-24FE-D9A7-EF44-C1617FAC4497}"/>
              </a:ext>
            </a:extLst>
          </p:cNvPr>
          <p:cNvSpPr/>
          <p:nvPr/>
        </p:nvSpPr>
        <p:spPr>
          <a:xfrm>
            <a:off x="3220721" y="1808479"/>
            <a:ext cx="8618686" cy="2608403"/>
          </a:xfrm>
          <a:prstGeom prst="roundRect">
            <a:avLst/>
          </a:prstGeom>
          <a:solidFill>
            <a:srgbClr val="B3E7FF"/>
          </a:solidFill>
          <a:ln w="10160">
            <a:solidFill>
              <a:srgbClr val="B3E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E18D5B-0CFC-BAC9-70A7-01C7045F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9EBF34-39F0-3E83-002D-10290D326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600" dirty="0"/>
              <a:t>Chaque couche a une responsabilité et un niveau de stabilité</a:t>
            </a:r>
          </a:p>
          <a:p>
            <a:r>
              <a:rPr lang="fr-FR" sz="1600" dirty="0"/>
              <a:t>Lancement de la construction des vues, des tables, des tests:</a:t>
            </a:r>
          </a:p>
          <a:p>
            <a:pPr marL="0" indent="0">
              <a:buNone/>
            </a:pPr>
            <a:r>
              <a:rPr lang="fr-FR" sz="1600" dirty="0"/>
              <a:t>Commande </a:t>
            </a:r>
            <a:r>
              <a:rPr lang="fr-FR" sz="1600" b="1" i="1" dirty="0" err="1"/>
              <a:t>dbt</a:t>
            </a:r>
            <a:r>
              <a:rPr lang="fr-FR" sz="1600" b="1" i="1" dirty="0"/>
              <a:t> </a:t>
            </a:r>
            <a:r>
              <a:rPr lang="fr-FR" sz="1600" b="1" i="1" dirty="0" err="1"/>
              <a:t>build</a:t>
            </a:r>
            <a:endParaRPr lang="fr-FR" sz="1600" b="1" i="1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F8D6F3-7708-CB2C-31C1-317A2C55C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49D6DCC-9CD4-4424-FCA7-27C94BBB9986}"/>
              </a:ext>
            </a:extLst>
          </p:cNvPr>
          <p:cNvSpPr/>
          <p:nvPr/>
        </p:nvSpPr>
        <p:spPr>
          <a:xfrm>
            <a:off x="581192" y="1943200"/>
            <a:ext cx="2240280" cy="2286000"/>
          </a:xfrm>
          <a:prstGeom prst="roundRect">
            <a:avLst/>
          </a:prstGeom>
          <a:solidFill>
            <a:srgbClr val="D9F0F0"/>
          </a:solidFill>
          <a:ln w="10160">
            <a:solidFill>
              <a:srgbClr val="D9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CD80EC-01AE-6A2F-4268-A4938580E11B}"/>
              </a:ext>
            </a:extLst>
          </p:cNvPr>
          <p:cNvSpPr txBox="1"/>
          <p:nvPr/>
        </p:nvSpPr>
        <p:spPr>
          <a:xfrm>
            <a:off x="718352" y="2308960"/>
            <a:ext cx="1965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dirty="0"/>
              <a:t>raw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EFC396-2EE3-AC4D-429F-CC5768B16844}"/>
              </a:ext>
            </a:extLst>
          </p:cNvPr>
          <p:cNvSpPr txBox="1"/>
          <p:nvPr/>
        </p:nvSpPr>
        <p:spPr>
          <a:xfrm>
            <a:off x="809792" y="2949040"/>
            <a:ext cx="17830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dirty="0"/>
              <a:t>Données </a:t>
            </a:r>
            <a:r>
              <a:rPr dirty="0" err="1"/>
              <a:t>Airbyte</a:t>
            </a:r>
            <a:br>
              <a:rPr dirty="0"/>
            </a:br>
            <a:r>
              <a:rPr dirty="0"/>
              <a:t>structure source</a:t>
            </a:r>
          </a:p>
        </p:txBody>
      </p: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EDD86B34-0925-4B74-3420-0BE8259F8B2C}"/>
              </a:ext>
            </a:extLst>
          </p:cNvPr>
          <p:cNvCxnSpPr/>
          <p:nvPr/>
        </p:nvCxnSpPr>
        <p:spPr>
          <a:xfrm>
            <a:off x="2848903" y="3086200"/>
            <a:ext cx="502920" cy="0"/>
          </a:xfrm>
          <a:prstGeom prst="line">
            <a:avLst/>
          </a:prstGeom>
          <a:ln w="25400">
            <a:solidFill>
              <a:srgbClr val="17BE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51CFB07-3A50-A5F7-94FD-20EB2B8C012E}"/>
              </a:ext>
            </a:extLst>
          </p:cNvPr>
          <p:cNvSpPr/>
          <p:nvPr/>
        </p:nvSpPr>
        <p:spPr>
          <a:xfrm>
            <a:off x="3434120" y="1943200"/>
            <a:ext cx="2240280" cy="2286000"/>
          </a:xfrm>
          <a:prstGeom prst="roundRect">
            <a:avLst/>
          </a:prstGeom>
          <a:solidFill>
            <a:srgbClr val="17BEBB"/>
          </a:solidFill>
          <a:ln w="10160">
            <a:solidFill>
              <a:srgbClr val="17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F161F-AAE6-A448-F3EC-CCCC05C635BB}"/>
              </a:ext>
            </a:extLst>
          </p:cNvPr>
          <p:cNvSpPr txBox="1"/>
          <p:nvPr/>
        </p:nvSpPr>
        <p:spPr>
          <a:xfrm>
            <a:off x="3571280" y="2308960"/>
            <a:ext cx="1965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staging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4F2E0-BE03-6CD1-3744-0B852AAB9F77}"/>
              </a:ext>
            </a:extLst>
          </p:cNvPr>
          <p:cNvSpPr txBox="1"/>
          <p:nvPr/>
        </p:nvSpPr>
        <p:spPr>
          <a:xfrm>
            <a:off x="3662720" y="2949040"/>
            <a:ext cx="1783080" cy="95410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dirty="0"/>
              <a:t>Vues </a:t>
            </a:r>
            <a:r>
              <a:rPr dirty="0" err="1"/>
              <a:t>nettoyées</a:t>
            </a:r>
            <a:br>
              <a:rPr dirty="0"/>
            </a:br>
            <a:r>
              <a:rPr dirty="0" err="1"/>
              <a:t>unités</a:t>
            </a:r>
            <a:r>
              <a:rPr dirty="0"/>
              <a:t> </a:t>
            </a:r>
            <a:r>
              <a:rPr dirty="0" err="1"/>
              <a:t>harmonisées</a:t>
            </a:r>
            <a:endParaRPr lang="fr-FR" dirty="0"/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_</a:t>
            </a:r>
            <a:r>
              <a:rPr lang="fr-FR" dirty="0" err="1"/>
              <a:t>sources.yml</a:t>
            </a:r>
            <a:endParaRPr lang="fr-FR" dirty="0"/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 err="1"/>
              <a:t>Schema.yml</a:t>
            </a:r>
            <a:endParaRPr dirty="0"/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345A27E2-68F2-6520-60B4-D146BF4DA25C}"/>
              </a:ext>
            </a:extLst>
          </p:cNvPr>
          <p:cNvCxnSpPr/>
          <p:nvPr/>
        </p:nvCxnSpPr>
        <p:spPr>
          <a:xfrm>
            <a:off x="5701832" y="3086200"/>
            <a:ext cx="502920" cy="0"/>
          </a:xfrm>
          <a:prstGeom prst="line">
            <a:avLst/>
          </a:prstGeom>
          <a:ln w="25400">
            <a:solidFill>
              <a:srgbClr val="17BE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222E88A-2D7D-164E-60D2-A7FEC5A6681B}"/>
              </a:ext>
            </a:extLst>
          </p:cNvPr>
          <p:cNvSpPr/>
          <p:nvPr/>
        </p:nvSpPr>
        <p:spPr>
          <a:xfrm>
            <a:off x="6287048" y="1943200"/>
            <a:ext cx="2240280" cy="2286000"/>
          </a:xfrm>
          <a:prstGeom prst="roundRect">
            <a:avLst/>
          </a:prstGeom>
          <a:solidFill>
            <a:srgbClr val="F2C14E"/>
          </a:solidFill>
          <a:ln w="10160">
            <a:solidFill>
              <a:srgbClr val="F2C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65322-F769-3E42-0CD0-3949E79EF930}"/>
              </a:ext>
            </a:extLst>
          </p:cNvPr>
          <p:cNvSpPr txBox="1"/>
          <p:nvPr/>
        </p:nvSpPr>
        <p:spPr>
          <a:xfrm>
            <a:off x="6424208" y="2308960"/>
            <a:ext cx="1965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intermediate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6CD04B-98AD-DBBB-D293-35B99C03D4AF}"/>
              </a:ext>
            </a:extLst>
          </p:cNvPr>
          <p:cNvSpPr txBox="1"/>
          <p:nvPr/>
        </p:nvSpPr>
        <p:spPr>
          <a:xfrm>
            <a:off x="6515648" y="2949040"/>
            <a:ext cx="17830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t>Union des sources</a:t>
            </a:r>
            <a:br/>
            <a:r>
              <a:t>modèle unifié</a:t>
            </a:r>
          </a:p>
        </p:txBody>
      </p:sp>
      <p:cxnSp>
        <p:nvCxnSpPr>
          <p:cNvPr id="16" name="Connector 15">
            <a:extLst>
              <a:ext uri="{FF2B5EF4-FFF2-40B4-BE49-F238E27FC236}">
                <a16:creationId xmlns:a16="http://schemas.microsoft.com/office/drawing/2014/main" id="{05A85D3B-3EF2-0214-5A52-22ECF10E2E61}"/>
              </a:ext>
            </a:extLst>
          </p:cNvPr>
          <p:cNvCxnSpPr/>
          <p:nvPr/>
        </p:nvCxnSpPr>
        <p:spPr>
          <a:xfrm>
            <a:off x="8554760" y="3086200"/>
            <a:ext cx="502920" cy="0"/>
          </a:xfrm>
          <a:prstGeom prst="line">
            <a:avLst/>
          </a:prstGeom>
          <a:ln w="25400">
            <a:solidFill>
              <a:srgbClr val="17BE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C3BA36-4B83-22F3-3FCF-055A2CB304E2}"/>
              </a:ext>
            </a:extLst>
          </p:cNvPr>
          <p:cNvSpPr/>
          <p:nvPr/>
        </p:nvSpPr>
        <p:spPr>
          <a:xfrm>
            <a:off x="9139975" y="1943200"/>
            <a:ext cx="2240280" cy="2286000"/>
          </a:xfrm>
          <a:prstGeom prst="roundRect">
            <a:avLst/>
          </a:prstGeom>
          <a:solidFill>
            <a:srgbClr val="3AA76D"/>
          </a:solidFill>
          <a:ln w="10160">
            <a:solidFill>
              <a:srgbClr val="3AA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9147CA-C17A-9366-0CD6-12ADF1AAFB63}"/>
              </a:ext>
            </a:extLst>
          </p:cNvPr>
          <p:cNvSpPr txBox="1"/>
          <p:nvPr/>
        </p:nvSpPr>
        <p:spPr>
          <a:xfrm>
            <a:off x="9277136" y="2308960"/>
            <a:ext cx="1965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dirty="0"/>
              <a:t>marts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198C45-15C1-3AA2-1763-1D39760BBE64}"/>
              </a:ext>
            </a:extLst>
          </p:cNvPr>
          <p:cNvSpPr txBox="1"/>
          <p:nvPr/>
        </p:nvSpPr>
        <p:spPr>
          <a:xfrm>
            <a:off x="9368575" y="2949040"/>
            <a:ext cx="178308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dirty="0"/>
              <a:t>Tables métier</a:t>
            </a:r>
            <a:br>
              <a:rPr dirty="0"/>
            </a:br>
            <a:r>
              <a:rPr dirty="0"/>
              <a:t>fact + dim</a:t>
            </a:r>
          </a:p>
        </p:txBody>
      </p:sp>
      <p:sp>
        <p:nvSpPr>
          <p:cNvPr id="21" name="Rounded Rectangle 16">
            <a:extLst>
              <a:ext uri="{FF2B5EF4-FFF2-40B4-BE49-F238E27FC236}">
                <a16:creationId xmlns:a16="http://schemas.microsoft.com/office/drawing/2014/main" id="{182F2DAF-C4DF-34ED-C6C7-A23BDDAD5916}"/>
              </a:ext>
            </a:extLst>
          </p:cNvPr>
          <p:cNvSpPr/>
          <p:nvPr/>
        </p:nvSpPr>
        <p:spPr>
          <a:xfrm>
            <a:off x="9143571" y="4507230"/>
            <a:ext cx="2240280" cy="2286000"/>
          </a:xfrm>
          <a:prstGeom prst="roundRect">
            <a:avLst/>
          </a:prstGeom>
          <a:solidFill>
            <a:srgbClr val="F15333"/>
          </a:solidFill>
          <a:ln w="10160">
            <a:solidFill>
              <a:srgbClr val="F15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0474E1C8-B6C2-5891-AA93-49DDED442BA7}"/>
              </a:ext>
            </a:extLst>
          </p:cNvPr>
          <p:cNvSpPr txBox="1"/>
          <p:nvPr/>
        </p:nvSpPr>
        <p:spPr>
          <a:xfrm>
            <a:off x="9277136" y="4959019"/>
            <a:ext cx="196596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lang="fr-FR" dirty="0" err="1"/>
              <a:t>seed</a:t>
            </a:r>
            <a:endParaRPr dirty="0"/>
          </a:p>
        </p:txBody>
      </p:sp>
      <p:sp>
        <p:nvSpPr>
          <p:cNvPr id="23" name="TextBox 18">
            <a:extLst>
              <a:ext uri="{FF2B5EF4-FFF2-40B4-BE49-F238E27FC236}">
                <a16:creationId xmlns:a16="http://schemas.microsoft.com/office/drawing/2014/main" id="{5DC7A689-2494-F8E1-2230-25B8260FF817}"/>
              </a:ext>
            </a:extLst>
          </p:cNvPr>
          <p:cNvSpPr txBox="1"/>
          <p:nvPr/>
        </p:nvSpPr>
        <p:spPr>
          <a:xfrm>
            <a:off x="9368575" y="5599099"/>
            <a:ext cx="1783080" cy="7386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Métadonnées stations</a:t>
            </a:r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Heures</a:t>
            </a:r>
            <a:endParaRPr dirty="0"/>
          </a:p>
        </p:txBody>
      </p:sp>
      <p:cxnSp>
        <p:nvCxnSpPr>
          <p:cNvPr id="24" name="Connector 15">
            <a:extLst>
              <a:ext uri="{FF2B5EF4-FFF2-40B4-BE49-F238E27FC236}">
                <a16:creationId xmlns:a16="http://schemas.microsoft.com/office/drawing/2014/main" id="{20D3E8B6-02D9-DAAA-C608-3078B9521A3C}"/>
              </a:ext>
            </a:extLst>
          </p:cNvPr>
          <p:cNvCxnSpPr>
            <a:cxnSpLocks/>
            <a:stCxn id="17" idx="2"/>
            <a:endCxn id="21" idx="0"/>
          </p:cNvCxnSpPr>
          <p:nvPr/>
        </p:nvCxnSpPr>
        <p:spPr>
          <a:xfrm>
            <a:off x="10260115" y="4229200"/>
            <a:ext cx="3596" cy="278030"/>
          </a:xfrm>
          <a:prstGeom prst="line">
            <a:avLst/>
          </a:prstGeom>
          <a:ln w="25400">
            <a:solidFill>
              <a:srgbClr val="17BE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B38D0D20-8EBF-B571-C088-27ED944D6123}"/>
              </a:ext>
            </a:extLst>
          </p:cNvPr>
          <p:cNvSpPr/>
          <p:nvPr/>
        </p:nvSpPr>
        <p:spPr>
          <a:xfrm>
            <a:off x="6323386" y="4503039"/>
            <a:ext cx="2240280" cy="2286000"/>
          </a:xfrm>
          <a:prstGeom prst="roundRect">
            <a:avLst/>
          </a:prstGeom>
          <a:solidFill>
            <a:srgbClr val="F6A2F8"/>
          </a:solidFill>
          <a:ln w="10160">
            <a:solidFill>
              <a:srgbClr val="F6A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102671C6-8BCD-7A94-517E-BB48363511A1}"/>
              </a:ext>
            </a:extLst>
          </p:cNvPr>
          <p:cNvSpPr txBox="1"/>
          <p:nvPr/>
        </p:nvSpPr>
        <p:spPr>
          <a:xfrm>
            <a:off x="6456951" y="4954828"/>
            <a:ext cx="196596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test</a:t>
            </a:r>
            <a:endParaRPr dirty="0"/>
          </a:p>
        </p:txBody>
      </p:sp>
      <p:sp>
        <p:nvSpPr>
          <p:cNvPr id="30" name="TextBox 18">
            <a:extLst>
              <a:ext uri="{FF2B5EF4-FFF2-40B4-BE49-F238E27FC236}">
                <a16:creationId xmlns:a16="http://schemas.microsoft.com/office/drawing/2014/main" id="{0A0E9574-2131-20F8-6B7C-1D58CBDC9673}"/>
              </a:ext>
            </a:extLst>
          </p:cNvPr>
          <p:cNvSpPr txBox="1"/>
          <p:nvPr/>
        </p:nvSpPr>
        <p:spPr>
          <a:xfrm>
            <a:off x="6548390" y="5594908"/>
            <a:ext cx="1783080" cy="116955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Test spécifiques</a:t>
            </a:r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Température</a:t>
            </a:r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 err="1"/>
              <a:t>Wind_direction</a:t>
            </a:r>
            <a:endParaRPr lang="fr-FR" dirty="0"/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/>
              <a:t>speed </a:t>
            </a:r>
          </a:p>
          <a:p>
            <a:pPr algn="ctr">
              <a:defRPr sz="1400" b="0">
                <a:solidFill>
                  <a:srgbClr val="FFFFFF"/>
                </a:solidFill>
                <a:latin typeface="Aptos"/>
              </a:defRPr>
            </a:pPr>
            <a:r>
              <a:rPr lang="fr-FR" dirty="0" err="1"/>
              <a:t>humidity</a:t>
            </a:r>
            <a:endParaRPr dirty="0"/>
          </a:p>
        </p:txBody>
      </p:sp>
      <p:cxnSp>
        <p:nvCxnSpPr>
          <p:cNvPr id="31" name="Connector 15">
            <a:extLst>
              <a:ext uri="{FF2B5EF4-FFF2-40B4-BE49-F238E27FC236}">
                <a16:creationId xmlns:a16="http://schemas.microsoft.com/office/drawing/2014/main" id="{5A7E3BE7-87B3-E40E-C575-EC9967702DCF}"/>
              </a:ext>
            </a:extLst>
          </p:cNvPr>
          <p:cNvCxnSpPr>
            <a:cxnSpLocks/>
          </p:cNvCxnSpPr>
          <p:nvPr/>
        </p:nvCxnSpPr>
        <p:spPr>
          <a:xfrm flipV="1">
            <a:off x="8527328" y="4114800"/>
            <a:ext cx="749808" cy="508000"/>
          </a:xfrm>
          <a:prstGeom prst="line">
            <a:avLst/>
          </a:prstGeom>
          <a:ln w="25400">
            <a:solidFill>
              <a:srgbClr val="17BE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5">
            <a:extLst>
              <a:ext uri="{FF2B5EF4-FFF2-40B4-BE49-F238E27FC236}">
                <a16:creationId xmlns:a16="http://schemas.microsoft.com/office/drawing/2014/main" id="{61C7C67E-E175-0313-FD12-0B5BE1C58F04}"/>
              </a:ext>
            </a:extLst>
          </p:cNvPr>
          <p:cNvSpPr txBox="1"/>
          <p:nvPr/>
        </p:nvSpPr>
        <p:spPr>
          <a:xfrm rot="16200000">
            <a:off x="-624256" y="2958792"/>
            <a:ext cx="1965960" cy="30777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lang="fr-FR" sz="1400" dirty="0">
                <a:solidFill>
                  <a:schemeClr val="tx2"/>
                </a:solidFill>
              </a:rPr>
              <a:t>Schéma </a:t>
            </a:r>
            <a:r>
              <a:rPr sz="1400" dirty="0">
                <a:solidFill>
                  <a:schemeClr val="tx2"/>
                </a:solidFill>
              </a:rPr>
              <a:t>raw</a:t>
            </a:r>
          </a:p>
        </p:txBody>
      </p:sp>
      <p:sp>
        <p:nvSpPr>
          <p:cNvPr id="40" name="TextBox 5">
            <a:extLst>
              <a:ext uri="{FF2B5EF4-FFF2-40B4-BE49-F238E27FC236}">
                <a16:creationId xmlns:a16="http://schemas.microsoft.com/office/drawing/2014/main" id="{B1BF2552-1547-288C-3353-FC0E5E05076F}"/>
              </a:ext>
            </a:extLst>
          </p:cNvPr>
          <p:cNvSpPr txBox="1"/>
          <p:nvPr/>
        </p:nvSpPr>
        <p:spPr>
          <a:xfrm rot="16200000">
            <a:off x="10645098" y="2977931"/>
            <a:ext cx="1965960" cy="30777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rPr lang="fr-FR" sz="1400" dirty="0">
                <a:solidFill>
                  <a:schemeClr val="tx2"/>
                </a:solidFill>
              </a:rPr>
              <a:t>Schéma </a:t>
            </a:r>
            <a:r>
              <a:rPr lang="fr-FR" sz="1400" dirty="0" err="1">
                <a:solidFill>
                  <a:schemeClr val="tx2"/>
                </a:solidFill>
              </a:rPr>
              <a:t>analytics</a:t>
            </a:r>
            <a:endParaRPr sz="1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3096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1D0E35-BCDC-830F-709A-ED57F5571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39F617-04B0-E842-D52E-D555EE905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Commande </a:t>
            </a:r>
            <a:r>
              <a:rPr lang="fr-FR" b="1" i="1" dirty="0" err="1"/>
              <a:t>dbt</a:t>
            </a:r>
            <a:r>
              <a:rPr lang="fr-FR" b="1" i="1" dirty="0"/>
              <a:t> docs serve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9DF038-2956-38BA-1941-E4BB571C4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78C1690-CD47-612A-6BFD-45422F02F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26219"/>
            <a:ext cx="12192000" cy="322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233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B20ECB-F85D-886B-507C-A8DC3841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6. Mise en place DBT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226B0D-F133-CA55-B662-239CE67D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A5266153-74DF-1004-F763-24CC95E8F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81" y="624899"/>
            <a:ext cx="2735237" cy="6164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038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437D7D-AB73-67B7-0D0B-2CECBD61D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temps accessibilité aux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DB8A50-7536-F842-72A4-46515A7DE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37C07A47-1DA1-2CC0-1400-D53A9C20F1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266065"/>
            <a:ext cx="7226140" cy="415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62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F9654A-AEF6-7C1B-5E4C-7A595150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9" y="2345312"/>
            <a:ext cx="8268854" cy="381053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C4CC017-D4E6-EF3B-F567-8E1DF81B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7. temps accessibilité aux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5A87D0-4BCC-68DF-11C9-3CB006236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591C28-444A-7AE1-DCB0-4646E1938817}"/>
              </a:ext>
            </a:extLst>
          </p:cNvPr>
          <p:cNvSpPr/>
          <p:nvPr/>
        </p:nvSpPr>
        <p:spPr>
          <a:xfrm>
            <a:off x="5293360" y="2661920"/>
            <a:ext cx="3312160" cy="304800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A6F2CB-B5DC-F08C-E7B6-36062C3C8FD0}"/>
              </a:ext>
            </a:extLst>
          </p:cNvPr>
          <p:cNvSpPr txBox="1"/>
          <p:nvPr/>
        </p:nvSpPr>
        <p:spPr>
          <a:xfrm>
            <a:off x="7797800" y="2685812"/>
            <a:ext cx="904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marts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02061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DFE391-4CF0-758A-E7F4-4B4C889FF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8. Qualité des données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71A474-61E5-3615-DC06-7E7E4D47E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5E074480-F0AE-1940-D5E5-68A0603A5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1600" y="2478299"/>
            <a:ext cx="4368800" cy="3255294"/>
          </a:xfrm>
        </p:spPr>
        <p:txBody>
          <a:bodyPr/>
          <a:lstStyle/>
          <a:p>
            <a:r>
              <a:rPr lang="fr-FR" dirty="0" err="1"/>
              <a:t>not_null</a:t>
            </a:r>
            <a:r>
              <a:rPr lang="fr-FR" dirty="0"/>
              <a:t> : identifiants, coordonnées, date, heure </a:t>
            </a:r>
            <a:r>
              <a:rPr lang="fr-FR" dirty="0" err="1"/>
              <a:t>etc</a:t>
            </a:r>
            <a:endParaRPr lang="fr-FR" dirty="0"/>
          </a:p>
          <a:p>
            <a:r>
              <a:rPr lang="fr-FR" dirty="0"/>
              <a:t>unique: </a:t>
            </a:r>
            <a:r>
              <a:rPr lang="fr-FR" dirty="0" err="1"/>
              <a:t>station_id</a:t>
            </a:r>
            <a:endParaRPr lang="fr-FR" dirty="0"/>
          </a:p>
          <a:p>
            <a:r>
              <a:rPr lang="fr-FR" dirty="0" err="1"/>
              <a:t>relationships</a:t>
            </a:r>
            <a:r>
              <a:rPr lang="fr-FR" dirty="0"/>
              <a:t> : </a:t>
            </a:r>
            <a:r>
              <a:rPr lang="fr-FR" dirty="0" err="1"/>
              <a:t>station_id</a:t>
            </a:r>
            <a:r>
              <a:rPr lang="fr-FR" dirty="0"/>
              <a:t> et table dimension</a:t>
            </a:r>
          </a:p>
          <a:p>
            <a:r>
              <a:rPr lang="fr-FR" dirty="0" err="1"/>
              <a:t>accepted_values</a:t>
            </a:r>
            <a:r>
              <a:rPr lang="fr-FR" dirty="0"/>
              <a:t>: amateur / officielle</a:t>
            </a:r>
          </a:p>
          <a:p>
            <a:r>
              <a:rPr lang="fr-FR" dirty="0"/>
              <a:t>Tests spécifiques : pluie, température, humidité, vent</a:t>
            </a:r>
          </a:p>
          <a:p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26A1C7F-44A5-26F2-476F-128B8DEC9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1" y="2303049"/>
            <a:ext cx="7582530" cy="353344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617AF984-AE83-DBFE-4D44-AFC0FBB24F45}"/>
              </a:ext>
            </a:extLst>
          </p:cNvPr>
          <p:cNvSpPr txBox="1"/>
          <p:nvPr/>
        </p:nvSpPr>
        <p:spPr>
          <a:xfrm>
            <a:off x="1228165" y="5971178"/>
            <a:ext cx="5979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PASS=26 WARN=0 ERROR=0 SKIP=0 NO-OP=0 TOTAL=26</a:t>
            </a:r>
            <a:endParaRPr lang="fr-FR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8336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240D08-8ABD-C30D-8619-3A8A24D19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Mise en place AWS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A525BD-E384-4889-C5DF-7D6D0E560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02770F-21A4-2DBE-C359-6DA9D7356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113886"/>
            <a:ext cx="7000110" cy="46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11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BFB7B3-C2E9-B591-225C-2751F4F08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Mise en place AWS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0A488512-7A1E-4EA4-4950-8BF8390A6A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209" y="2111441"/>
            <a:ext cx="12071582" cy="1084729"/>
          </a:xfrm>
          <a:prstGeom prst="rect">
            <a:avLst/>
          </a:prstGeo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B487BB-D4F5-694E-7061-06FB285BD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9150648-2A74-B357-6161-EE25115C8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1830"/>
            <a:ext cx="12192000" cy="28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533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86C5D-57B6-AF21-AFA8-ABB98646D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Mise en place AWS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53CFAD-7CEA-58FA-576E-447E6AA6F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CB1789C-DB7B-86E2-2496-D6630252D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13320"/>
            <a:ext cx="12192000" cy="133489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E91910B-AD22-B974-8056-3B56ADF05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70654"/>
            <a:ext cx="12192000" cy="243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407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204384-C579-428E-B31F-A6839AC9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Mise en place AWS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A5D890-4253-D028-03BE-D39849BDD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3B86879-0D6C-1AD0-9D4C-EE4799FB4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2180"/>
            <a:ext cx="12192000" cy="19736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C7D436D-9332-AA20-3E59-0AD3CE915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69457"/>
            <a:ext cx="12192000" cy="1300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39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F9EC2F-E413-80D3-EC77-F6F680442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9. Mise en place AWS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ADD723-D08F-A92C-01E8-2B4079CAB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58AEA79-6EA6-AEBB-2E50-825E19C15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0250"/>
            <a:ext cx="12192000" cy="135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4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Zoom sur un logo&#10;&#10;Description générée automatiquement">
            <a:extLst>
              <a:ext uri="{FF2B5EF4-FFF2-40B4-BE49-F238E27FC236}">
                <a16:creationId xmlns:a16="http://schemas.microsoft.com/office/drawing/2014/main" id="{04583C04-0D49-893D-0970-03D464B2622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8083" y="551281"/>
            <a:ext cx="5501641" cy="26769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4674" y="1896367"/>
            <a:ext cx="5501641" cy="4412233"/>
          </a:xfrm>
        </p:spPr>
        <p:txBody>
          <a:bodyPr>
            <a:normAutofit/>
          </a:bodyPr>
          <a:lstStyle/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fr-FR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Un socle météo prêt à grandir</a:t>
            </a:r>
          </a:p>
          <a:p>
            <a:r>
              <a:rPr lang="fr-FR" sz="1800" dirty="0">
                <a:solidFill>
                  <a:schemeClr val="tx1"/>
                </a:solidFill>
              </a:rPr>
              <a:t>Une base structurée, contrôlée et documentée. </a:t>
            </a:r>
          </a:p>
          <a:p>
            <a:r>
              <a:rPr lang="fr-FR" sz="1800" dirty="0">
                <a:solidFill>
                  <a:schemeClr val="tx1"/>
                </a:solidFill>
              </a:rPr>
              <a:t>La prochaine étape est l’observabilité opérationnelle et la fiabilisation du déploiement </a:t>
            </a:r>
            <a:r>
              <a:rPr lang="fr-FR" sz="1800" dirty="0" err="1">
                <a:solidFill>
                  <a:schemeClr val="tx1"/>
                </a:solidFill>
              </a:rPr>
              <a:t>Airbyte</a:t>
            </a:r>
            <a:r>
              <a:rPr lang="fr-FR" sz="1800" dirty="0">
                <a:solidFill>
                  <a:schemeClr val="tx1"/>
                </a:solidFill>
              </a:rPr>
              <a:t>.</a:t>
            </a:r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endParaRPr lang="fr-FR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fr-FR" b="1" u="sng" dirty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21/08/2026</a:t>
            </a:fld>
            <a:endParaRPr lang="en-US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2691BAD-08AB-B78A-CC60-835F24A8FF14}"/>
              </a:ext>
            </a:extLst>
          </p:cNvPr>
          <p:cNvGrpSpPr/>
          <p:nvPr/>
        </p:nvGrpSpPr>
        <p:grpSpPr>
          <a:xfrm>
            <a:off x="731520" y="4156040"/>
            <a:ext cx="10698480" cy="1417320"/>
            <a:chOff x="731520" y="2103120"/>
            <a:chExt cx="10698480" cy="1417320"/>
          </a:xfrm>
        </p:grpSpPr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4CD7F2C1-B3B3-B492-3FD4-B95DF910DD67}"/>
                </a:ext>
              </a:extLst>
            </p:cNvPr>
            <p:cNvSpPr/>
            <p:nvPr/>
          </p:nvSpPr>
          <p:spPr>
            <a:xfrm>
              <a:off x="731520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2148C4-404F-62BD-03B2-FC89CEB5D8ED}"/>
                </a:ext>
              </a:extLst>
            </p:cNvPr>
            <p:cNvSpPr/>
            <p:nvPr/>
          </p:nvSpPr>
          <p:spPr>
            <a:xfrm>
              <a:off x="731520" y="2103120"/>
              <a:ext cx="73152" cy="1417320"/>
            </a:xfrm>
            <a:prstGeom prst="rect">
              <a:avLst/>
            </a:prstGeom>
            <a:solidFill>
              <a:srgbClr val="17BEBB"/>
            </a:solidFill>
            <a:ln w="10160">
              <a:solidFill>
                <a:srgbClr val="17B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19711A0D-E243-1E55-16B8-FA9C69809BFE}"/>
                </a:ext>
              </a:extLst>
            </p:cNvPr>
            <p:cNvSpPr txBox="1"/>
            <p:nvPr/>
          </p:nvSpPr>
          <p:spPr>
            <a:xfrm>
              <a:off x="932688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Fiable</a:t>
              </a: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0535E353-C77A-7BA6-191C-72AE969C1E66}"/>
                </a:ext>
              </a:extLst>
            </p:cNvPr>
            <p:cNvSpPr txBox="1"/>
            <p:nvPr/>
          </p:nvSpPr>
          <p:spPr>
            <a:xfrm>
              <a:off x="932688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lang="fr-FR" dirty="0"/>
                <a:t>26</a:t>
              </a:r>
              <a:r>
                <a:rPr dirty="0"/>
                <a:t>/</a:t>
              </a:r>
              <a:r>
                <a:rPr lang="fr-FR" dirty="0"/>
                <a:t>26</a:t>
              </a:r>
              <a:r>
                <a:rPr dirty="0"/>
                <a:t> tests PASS</a:t>
              </a:r>
            </a:p>
          </p:txBody>
        </p:sp>
        <p:sp>
          <p:nvSpPr>
            <p:cNvPr id="14" name="Rounded Rectangle 8">
              <a:extLst>
                <a:ext uri="{FF2B5EF4-FFF2-40B4-BE49-F238E27FC236}">
                  <a16:creationId xmlns:a16="http://schemas.microsoft.com/office/drawing/2014/main" id="{254C3378-B827-B28B-79A8-81437A38D090}"/>
                </a:ext>
              </a:extLst>
            </p:cNvPr>
            <p:cNvSpPr/>
            <p:nvPr/>
          </p:nvSpPr>
          <p:spPr>
            <a:xfrm>
              <a:off x="3520439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E79B3F0-D919-4941-8494-C72C6F9F155F}"/>
                </a:ext>
              </a:extLst>
            </p:cNvPr>
            <p:cNvSpPr/>
            <p:nvPr/>
          </p:nvSpPr>
          <p:spPr>
            <a:xfrm>
              <a:off x="3520439" y="2103120"/>
              <a:ext cx="73152" cy="1417320"/>
            </a:xfrm>
            <a:prstGeom prst="rect">
              <a:avLst/>
            </a:prstGeom>
            <a:solidFill>
              <a:srgbClr val="F2C14E"/>
            </a:solidFill>
            <a:ln w="10160">
              <a:solidFill>
                <a:srgbClr val="F2C14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5CAD90E6-2204-0C8A-4092-98AC13F45991}"/>
                </a:ext>
              </a:extLst>
            </p:cNvPr>
            <p:cNvSpPr txBox="1"/>
            <p:nvPr/>
          </p:nvSpPr>
          <p:spPr>
            <a:xfrm>
              <a:off x="3721607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rPr dirty="0" err="1"/>
                <a:t>Lisible</a:t>
              </a:r>
              <a:endParaRPr dirty="0"/>
            </a:p>
          </p:txBody>
        </p:sp>
        <p:sp>
          <p:nvSpPr>
            <p:cNvPr id="17" name="TextBox 11">
              <a:extLst>
                <a:ext uri="{FF2B5EF4-FFF2-40B4-BE49-F238E27FC236}">
                  <a16:creationId xmlns:a16="http://schemas.microsoft.com/office/drawing/2014/main" id="{239CB367-7838-9D8E-0D1D-42CA6AD78265}"/>
                </a:ext>
              </a:extLst>
            </p:cNvPr>
            <p:cNvSpPr txBox="1"/>
            <p:nvPr/>
          </p:nvSpPr>
          <p:spPr>
            <a:xfrm>
              <a:off x="3721607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t>Lineage + docs DBT</a:t>
              </a:r>
            </a:p>
          </p:txBody>
        </p:sp>
        <p:sp>
          <p:nvSpPr>
            <p:cNvPr id="18" name="Rounded Rectangle 12">
              <a:extLst>
                <a:ext uri="{FF2B5EF4-FFF2-40B4-BE49-F238E27FC236}">
                  <a16:creationId xmlns:a16="http://schemas.microsoft.com/office/drawing/2014/main" id="{896123B5-B372-6F23-ED25-4D182E87871C}"/>
                </a:ext>
              </a:extLst>
            </p:cNvPr>
            <p:cNvSpPr/>
            <p:nvPr/>
          </p:nvSpPr>
          <p:spPr>
            <a:xfrm>
              <a:off x="6309359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72692B6-E82F-14FC-9A32-33A4BC6BEF01}"/>
                </a:ext>
              </a:extLst>
            </p:cNvPr>
            <p:cNvSpPr/>
            <p:nvPr/>
          </p:nvSpPr>
          <p:spPr>
            <a:xfrm>
              <a:off x="6309359" y="2103120"/>
              <a:ext cx="73152" cy="1417320"/>
            </a:xfrm>
            <a:prstGeom prst="rect">
              <a:avLst/>
            </a:prstGeom>
            <a:solidFill>
              <a:srgbClr val="D9F0F0"/>
            </a:solidFill>
            <a:ln w="10160">
              <a:solidFill>
                <a:srgbClr val="D9F0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0C269E9C-0F70-E672-861F-DB9C6BA33DC0}"/>
                </a:ext>
              </a:extLst>
            </p:cNvPr>
            <p:cNvSpPr txBox="1"/>
            <p:nvPr/>
          </p:nvSpPr>
          <p:spPr>
            <a:xfrm>
              <a:off x="6510527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Performant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F4D65C81-E123-C243-E9B1-D5FFF178439E}"/>
                </a:ext>
              </a:extLst>
            </p:cNvPr>
            <p:cNvSpPr txBox="1"/>
            <p:nvPr/>
          </p:nvSpPr>
          <p:spPr>
            <a:xfrm>
              <a:off x="6510527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lang="fr-FR" dirty="0"/>
                <a:t>1,44</a:t>
              </a:r>
              <a:r>
                <a:rPr dirty="0"/>
                <a:t> s sur les marts</a:t>
              </a:r>
            </a:p>
          </p:txBody>
        </p:sp>
        <p:sp>
          <p:nvSpPr>
            <p:cNvPr id="22" name="Rounded Rectangle 16">
              <a:extLst>
                <a:ext uri="{FF2B5EF4-FFF2-40B4-BE49-F238E27FC236}">
                  <a16:creationId xmlns:a16="http://schemas.microsoft.com/office/drawing/2014/main" id="{F4485261-4999-DA8F-A3D5-E79BC9EA4A88}"/>
                </a:ext>
              </a:extLst>
            </p:cNvPr>
            <p:cNvSpPr/>
            <p:nvPr/>
          </p:nvSpPr>
          <p:spPr>
            <a:xfrm>
              <a:off x="9098280" y="2103120"/>
              <a:ext cx="2331720" cy="1417320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DCE3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6068818-B279-7D37-9820-C9879D6CCDE3}"/>
                </a:ext>
              </a:extLst>
            </p:cNvPr>
            <p:cNvSpPr/>
            <p:nvPr/>
          </p:nvSpPr>
          <p:spPr>
            <a:xfrm>
              <a:off x="9098280" y="2103120"/>
              <a:ext cx="73152" cy="1417320"/>
            </a:xfrm>
            <a:prstGeom prst="rect">
              <a:avLst/>
            </a:prstGeom>
            <a:solidFill>
              <a:srgbClr val="3AA76D"/>
            </a:solidFill>
            <a:ln w="10160">
              <a:solidFill>
                <a:srgbClr val="3AA76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24" name="TextBox 18">
              <a:extLst>
                <a:ext uri="{FF2B5EF4-FFF2-40B4-BE49-F238E27FC236}">
                  <a16:creationId xmlns:a16="http://schemas.microsoft.com/office/drawing/2014/main" id="{D8CAC2E8-51FF-0253-B81F-754786307ABD}"/>
                </a:ext>
              </a:extLst>
            </p:cNvPr>
            <p:cNvSpPr txBox="1"/>
            <p:nvPr/>
          </p:nvSpPr>
          <p:spPr>
            <a:xfrm>
              <a:off x="9299448" y="2286000"/>
              <a:ext cx="2011679" cy="323165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500" b="1">
                  <a:solidFill>
                    <a:srgbClr val="14213D"/>
                  </a:solidFill>
                  <a:latin typeface="Aptos"/>
                </a:defRPr>
              </a:pPr>
              <a:r>
                <a:t>Évolutif</a:t>
              </a:r>
            </a:p>
          </p:txBody>
        </p: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DCAE86F1-6F8E-B6E7-B16E-1AC35A02BF93}"/>
                </a:ext>
              </a:extLst>
            </p:cNvPr>
            <p:cNvSpPr txBox="1"/>
            <p:nvPr/>
          </p:nvSpPr>
          <p:spPr>
            <a:xfrm>
              <a:off x="9299448" y="2670048"/>
              <a:ext cx="2011679" cy="276999"/>
            </a:xfrm>
            <a:prstGeom prst="rect">
              <a:avLst/>
            </a:prstGeom>
            <a:noFill/>
          </p:spPr>
          <p:txBody>
            <a:bodyPr wrap="square" lIns="45720" rIns="45720" anchor="t">
              <a:spAutoFit/>
            </a:bodyPr>
            <a:lstStyle/>
            <a:p>
              <a:pPr algn="l">
                <a:defRPr sz="1200" b="0">
                  <a:solidFill>
                    <a:srgbClr val="5B6770"/>
                  </a:solidFill>
                  <a:latin typeface="Aptos"/>
                </a:defRPr>
              </a:pPr>
              <a:r>
                <a:rPr dirty="0"/>
                <a:t>AWS · Docker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20B823-7776-D5B3-80FA-03A71C84C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470396-BE62-2B51-CC6E-B118E0316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CD73EE-8902-50CE-AF9B-4E275106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21/08/2026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938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21/08/2026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913</Words>
  <Application>Microsoft Office PowerPoint</Application>
  <PresentationFormat>Grand écran</PresentationFormat>
  <Paragraphs>282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4" baseType="lpstr">
      <vt:lpstr>Calibri</vt:lpstr>
      <vt:lpstr>Consolas</vt:lpstr>
      <vt:lpstr>Franklin Gothic Book</vt:lpstr>
      <vt:lpstr>Franklin Gothic Demi</vt:lpstr>
      <vt:lpstr>Wingdings 2</vt:lpstr>
      <vt:lpstr>DividendVTI</vt:lpstr>
      <vt:lpstr>CONSTRUIRE ET TESTER UNE INFRASTRUCTURE DE DONNEES</vt:lpstr>
      <vt:lpstr>Sommaire</vt:lpstr>
      <vt:lpstr>1 - Contexte et objectif </vt:lpstr>
      <vt:lpstr>2. Schéma DE LA base de données </vt:lpstr>
      <vt:lpstr>3. PROCESSUS collecter, transformer, stocker et tester les données </vt:lpstr>
      <vt:lpstr>4. Schéma d’architecture </vt:lpstr>
      <vt:lpstr>5. Mise en place Airbyte </vt:lpstr>
      <vt:lpstr>5. Mise en place Airbyte </vt:lpstr>
      <vt:lpstr>5. Mise en place Airbyte </vt:lpstr>
      <vt:lpstr>5. Mise en place Airbyte </vt:lpstr>
      <vt:lpstr>5. Mise en place Airbyte </vt:lpstr>
      <vt:lpstr>5. Mise en place Airbyte </vt:lpstr>
      <vt:lpstr>6. Mise en place DBT </vt:lpstr>
      <vt:lpstr>6. Mise en place DBT </vt:lpstr>
      <vt:lpstr>6. Mise en place DBT </vt:lpstr>
      <vt:lpstr>6. Mise en place DBT </vt:lpstr>
      <vt:lpstr>6. Mise en place DBT</vt:lpstr>
      <vt:lpstr>7. temps accessibilité aux données</vt:lpstr>
      <vt:lpstr>7. temps accessibilité aux données</vt:lpstr>
      <vt:lpstr>8. Qualité des données</vt:lpstr>
      <vt:lpstr>9. Mise en place AWS</vt:lpstr>
      <vt:lpstr>9. Mise en place AWS</vt:lpstr>
      <vt:lpstr>9. Mise en place AWS</vt:lpstr>
      <vt:lpstr>9. Mise en place AWS</vt:lpstr>
      <vt:lpstr>9. Mise en place AWS</vt:lpstr>
      <vt:lpstr>Conclusion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425</cp:revision>
  <dcterms:created xsi:type="dcterms:W3CDTF">2026-04-28T09:18:39Z</dcterms:created>
  <dcterms:modified xsi:type="dcterms:W3CDTF">2026-08-21T13:04:02Z</dcterms:modified>
</cp:coreProperties>
</file>